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6484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F"/>
        </a:solidFill>
        <a:effectLst/>
      </p:bgPr>
    </p:bg>
    <p:spTree>
      <p:nvGrpSpPr>
        <p:cNvPr id="1" name=""/>
        <p:cNvGrpSpPr/>
        <p:nvPr/>
      </p:nvGrpSpPr>
      <p:grpSpPr>
        <a:xfrm>
          <a:off x="0" y="0"/>
          <a:ext cx="0" cy="0"/>
          <a:chOff x="0" y="0"/>
          <a:chExt cx="0" cy="0"/>
        </a:xfrm>
      </p:grpSpPr>
      <p:sp>
        <p:nvSpPr>
          <p:cNvPr id="2" name="Text 0"/>
          <p:cNvSpPr txBox="1"/>
          <p:nvPr/>
        </p:nvSpPr>
        <p:spPr>
          <a:xfrm>
            <a:off x="640080" y="1600200"/>
            <a:ext cx="8229600" cy="457200"/>
          </a:xfrm>
          <a:prstGeom prst="rect">
            <a:avLst/>
          </a:prstGeom>
          <a:noFill/>
          <a:ln/>
        </p:spPr>
        <p:txBody>
          <a:bodyPr wrap="square" lIns="0" tIns="0" rIns="0" bIns="0" rtlCol="0" anchor="ctr"/>
          <a:lstStyle/>
          <a:p>
            <a:pPr marL="0" indent="0">
              <a:buNone/>
            </a:pPr>
            <a:r>
              <a:rPr lang="es-ES" sz="1800" b="1" kern="0" spc="300" noProof="0" dirty="0">
                <a:solidFill>
                  <a:srgbClr val="2A9D8F"/>
                </a:solidFill>
                <a:latin typeface="Calibri" pitchFamily="34" charset="0"/>
                <a:ea typeface="Calibri" pitchFamily="34" charset="-122"/>
                <a:cs typeface="Calibri" pitchFamily="34" charset="-120"/>
              </a:rPr>
              <a:t>Evaluación 1</a:t>
            </a:r>
            <a:endParaRPr lang="es-ES" sz="1800" noProof="0" dirty="0"/>
          </a:p>
        </p:txBody>
      </p:sp>
      <p:sp>
        <p:nvSpPr>
          <p:cNvPr id="3" name="Text 1"/>
          <p:cNvSpPr txBox="1"/>
          <p:nvPr/>
        </p:nvSpPr>
        <p:spPr>
          <a:xfrm>
            <a:off x="640080" y="2011680"/>
            <a:ext cx="10515600" cy="1280160"/>
          </a:xfrm>
          <a:prstGeom prst="rect">
            <a:avLst/>
          </a:prstGeom>
          <a:noFill/>
          <a:ln/>
        </p:spPr>
        <p:txBody>
          <a:bodyPr wrap="square" lIns="0" tIns="0" rIns="0" bIns="0" rtlCol="0" anchor="ctr"/>
          <a:lstStyle/>
          <a:p>
            <a:pPr marL="0" indent="0">
              <a:lnSpc>
                <a:spcPts val="4600"/>
              </a:lnSpc>
              <a:buNone/>
            </a:pPr>
            <a:r>
              <a:rPr lang="es-ES" sz="4600" b="1" noProof="0" dirty="0">
                <a:solidFill>
                  <a:srgbClr val="FFFFFF"/>
                </a:solidFill>
                <a:latin typeface="Cambria" pitchFamily="34" charset="0"/>
                <a:ea typeface="Cambria" pitchFamily="34" charset="-122"/>
                <a:cs typeface="Cambria" pitchFamily="34" charset="-120"/>
              </a:rPr>
              <a:t>Calidad y Preparación de Datos</a:t>
            </a:r>
            <a:endParaRPr lang="es-ES" sz="4600" noProof="0" dirty="0"/>
          </a:p>
        </p:txBody>
      </p:sp>
      <p:sp>
        <p:nvSpPr>
          <p:cNvPr id="4" name="Text 2"/>
          <p:cNvSpPr txBox="1"/>
          <p:nvPr/>
        </p:nvSpPr>
        <p:spPr>
          <a:xfrm>
            <a:off x="658368" y="3246120"/>
            <a:ext cx="9601200" cy="457200"/>
          </a:xfrm>
          <a:prstGeom prst="rect">
            <a:avLst/>
          </a:prstGeom>
          <a:noFill/>
          <a:ln/>
        </p:spPr>
        <p:txBody>
          <a:bodyPr wrap="square" lIns="0" tIns="0" rIns="0" bIns="0" rtlCol="0" anchor="ctr"/>
          <a:lstStyle/>
          <a:p>
            <a:pPr marL="0" indent="0">
              <a:buNone/>
            </a:pPr>
            <a:r>
              <a:rPr lang="es-ES" sz="1700" noProof="0" dirty="0">
                <a:solidFill>
                  <a:srgbClr val="CADCFC"/>
                </a:solidFill>
                <a:latin typeface="Calibri" pitchFamily="34" charset="0"/>
                <a:ea typeface="Calibri" pitchFamily="34" charset="-122"/>
                <a:cs typeface="Calibri" pitchFamily="34" charset="-120"/>
              </a:rPr>
              <a:t>Análisis exploratorio y tratamiento del </a:t>
            </a:r>
            <a:r>
              <a:rPr lang="es-ES" sz="1700" noProof="0" dirty="0" err="1">
                <a:solidFill>
                  <a:srgbClr val="CADCFC"/>
                </a:solidFill>
                <a:latin typeface="Calibri" pitchFamily="34" charset="0"/>
                <a:ea typeface="Calibri" pitchFamily="34" charset="-122"/>
                <a:cs typeface="Calibri" pitchFamily="34" charset="-120"/>
              </a:rPr>
              <a:t>dataset</a:t>
            </a:r>
            <a:r>
              <a:rPr lang="es-ES" sz="1700" noProof="0" dirty="0">
                <a:solidFill>
                  <a:srgbClr val="CADCFC"/>
                </a:solidFill>
                <a:latin typeface="Calibri" pitchFamily="34" charset="0"/>
                <a:ea typeface="Calibri" pitchFamily="34" charset="-122"/>
                <a:cs typeface="Calibri" pitchFamily="34" charset="-120"/>
              </a:rPr>
              <a:t> de rendimiento académico</a:t>
            </a:r>
            <a:endParaRPr lang="es-ES" sz="1700" noProof="0" dirty="0"/>
          </a:p>
        </p:txBody>
      </p:sp>
      <p:sp>
        <p:nvSpPr>
          <p:cNvPr id="5" name="Shape 3"/>
          <p:cNvSpPr/>
          <p:nvPr/>
        </p:nvSpPr>
        <p:spPr>
          <a:xfrm>
            <a:off x="658368" y="3977640"/>
            <a:ext cx="2743200" cy="502920"/>
          </a:xfrm>
          <a:prstGeom prst="roundRect">
            <a:avLst>
              <a:gd name="adj" fmla="val 14545"/>
            </a:avLst>
          </a:prstGeom>
          <a:solidFill>
            <a:srgbClr val="1B4568"/>
          </a:solidFill>
          <a:ln/>
        </p:spPr>
        <p:txBody>
          <a:bodyPr/>
          <a:lstStyle/>
          <a:p>
            <a:endParaRPr lang="es-ES" noProof="0" dirty="0"/>
          </a:p>
        </p:txBody>
      </p:sp>
      <p:sp>
        <p:nvSpPr>
          <p:cNvPr id="6" name="Text 4"/>
          <p:cNvSpPr txBox="1"/>
          <p:nvPr/>
        </p:nvSpPr>
        <p:spPr>
          <a:xfrm>
            <a:off x="658368" y="3977640"/>
            <a:ext cx="2743200" cy="502920"/>
          </a:xfrm>
          <a:prstGeom prst="rect">
            <a:avLst/>
          </a:prstGeom>
          <a:noFill/>
          <a:ln/>
        </p:spPr>
        <p:txBody>
          <a:bodyPr wrap="square" rtlCol="0" anchor="ctr"/>
          <a:lstStyle/>
          <a:p>
            <a:pPr marL="0" indent="0" algn="ctr">
              <a:buNone/>
            </a:pPr>
            <a:r>
              <a:rPr lang="es-ES" sz="1300" b="1" noProof="0" dirty="0">
                <a:solidFill>
                  <a:srgbClr val="FFFFFF"/>
                </a:solidFill>
                <a:latin typeface="Calibri" pitchFamily="34" charset="0"/>
                <a:ea typeface="Calibri" pitchFamily="34" charset="-122"/>
                <a:cs typeface="Calibri" pitchFamily="34" charset="-120"/>
              </a:rPr>
              <a:t>5.100 registros · 11 variables</a:t>
            </a:r>
            <a:endParaRPr lang="es-ES" sz="1300" noProof="0" dirty="0"/>
          </a:p>
        </p:txBody>
      </p:sp>
      <p:sp>
        <p:nvSpPr>
          <p:cNvPr id="7" name="Text 5"/>
          <p:cNvSpPr txBox="1"/>
          <p:nvPr/>
        </p:nvSpPr>
        <p:spPr>
          <a:xfrm>
            <a:off x="658368" y="5852160"/>
            <a:ext cx="10972800" cy="365760"/>
          </a:xfrm>
          <a:prstGeom prst="rect">
            <a:avLst/>
          </a:prstGeom>
          <a:noFill/>
          <a:ln/>
        </p:spPr>
        <p:txBody>
          <a:bodyPr wrap="square" lIns="0" tIns="0" rIns="0" bIns="0" rtlCol="0" anchor="ctr"/>
          <a:lstStyle/>
          <a:p>
            <a:pPr marL="0" indent="0">
              <a:buNone/>
            </a:pPr>
            <a:r>
              <a:rPr lang="es-ES" sz="1300" b="1" noProof="0" dirty="0">
                <a:solidFill>
                  <a:srgbClr val="2A9D8F"/>
                </a:solidFill>
                <a:latin typeface="Calibri" pitchFamily="34" charset="0"/>
                <a:ea typeface="Calibri" pitchFamily="34" charset="-122"/>
                <a:cs typeface="Calibri" pitchFamily="34" charset="-120"/>
              </a:rPr>
              <a:t>Integrantes:  </a:t>
            </a:r>
            <a:r>
              <a:rPr lang="es-ES" sz="1300" noProof="0" dirty="0">
                <a:solidFill>
                  <a:srgbClr val="CADCFC"/>
                </a:solidFill>
                <a:latin typeface="Calibri" pitchFamily="34" charset="0"/>
                <a:ea typeface="Calibri" pitchFamily="34" charset="-122"/>
                <a:cs typeface="Calibri" pitchFamily="34" charset="-120"/>
              </a:rPr>
              <a:t>Alexis Arévalo · Gabriel Ascencio · Alonso Barra · Cristóbal Bravo</a:t>
            </a:r>
            <a:endParaRPr lang="es-ES" sz="1300" noProof="0" dirty="0"/>
          </a:p>
        </p:txBody>
      </p:sp>
      <p:sp>
        <p:nvSpPr>
          <p:cNvPr id="8" name="Text 6"/>
          <p:cNvSpPr txBox="1"/>
          <p:nvPr/>
        </p:nvSpPr>
        <p:spPr>
          <a:xfrm>
            <a:off x="658368" y="6263640"/>
            <a:ext cx="7315200" cy="365760"/>
          </a:xfrm>
          <a:prstGeom prst="rect">
            <a:avLst/>
          </a:prstGeom>
          <a:noFill/>
          <a:ln/>
        </p:spPr>
        <p:txBody>
          <a:bodyPr wrap="square" lIns="0" tIns="0" rIns="0" bIns="0" rtlCol="0" anchor="ctr"/>
          <a:lstStyle/>
          <a:p>
            <a:pPr marL="0" indent="0">
              <a:buNone/>
            </a:pPr>
            <a:r>
              <a:rPr lang="es-ES" sz="1200" noProof="0" dirty="0">
                <a:solidFill>
                  <a:srgbClr val="8A97A5"/>
                </a:solidFill>
                <a:latin typeface="Calibri" pitchFamily="34" charset="0"/>
                <a:ea typeface="Calibri" pitchFamily="34" charset="-122"/>
                <a:cs typeface="Calibri" pitchFamily="34" charset="-120"/>
              </a:rPr>
              <a:t>Inteligencia Artificial · 2026-2</a:t>
            </a:r>
            <a:endParaRPr lang="es-ES" sz="12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marL="0" indent="0">
              <a:buNone/>
            </a:pPr>
            <a:r>
              <a:rPr lang="es-ES" sz="1200" b="1" kern="0" spc="200" noProof="0" dirty="0">
                <a:solidFill>
                  <a:srgbClr val="2A9D8F"/>
                </a:solidFill>
                <a:latin typeface="Calibri" pitchFamily="34" charset="0"/>
                <a:ea typeface="Calibri" pitchFamily="34" charset="-122"/>
                <a:cs typeface="Calibri" pitchFamily="34" charset="-120"/>
              </a:rPr>
              <a:t>CONTEXTO</a:t>
            </a:r>
            <a:endParaRPr lang="es-ES" sz="1200" noProof="0" dirty="0"/>
          </a:p>
        </p:txBody>
      </p:sp>
      <p:sp>
        <p:nvSpPr>
          <p:cNvPr id="3" name="Text 1"/>
          <p:cNvSpPr txBox="1"/>
          <p:nvPr/>
        </p:nvSpPr>
        <p:spPr>
          <a:xfrm>
            <a:off x="548640" y="777240"/>
            <a:ext cx="10972800" cy="640080"/>
          </a:xfrm>
          <a:prstGeom prst="rect">
            <a:avLst/>
          </a:prstGeom>
          <a:noFill/>
          <a:ln/>
        </p:spPr>
        <p:txBody>
          <a:bodyPr wrap="square" lIns="0" tIns="0" rIns="0" bIns="0" rtlCol="0" anchor="ctr"/>
          <a:lstStyle/>
          <a:p>
            <a:pPr marL="0" indent="0">
              <a:buNone/>
            </a:pPr>
            <a:r>
              <a:rPr lang="es-ES" sz="3400" b="1" noProof="0" dirty="0">
                <a:solidFill>
                  <a:srgbClr val="12324F"/>
                </a:solidFill>
                <a:latin typeface="Cambria" pitchFamily="34" charset="0"/>
                <a:ea typeface="Cambria" pitchFamily="34" charset="-122"/>
                <a:cs typeface="Cambria" pitchFamily="34" charset="-120"/>
              </a:rPr>
              <a:t>El problema</a:t>
            </a:r>
            <a:endParaRPr lang="es-ES" sz="3400" noProof="0" dirty="0"/>
          </a:p>
        </p:txBody>
      </p:sp>
      <p:sp>
        <p:nvSpPr>
          <p:cNvPr id="4" name="Text 2"/>
          <p:cNvSpPr txBox="1"/>
          <p:nvPr/>
        </p:nvSpPr>
        <p:spPr>
          <a:xfrm>
            <a:off x="548640" y="1554480"/>
            <a:ext cx="5486400" cy="1828800"/>
          </a:xfrm>
          <a:prstGeom prst="rect">
            <a:avLst/>
          </a:prstGeom>
          <a:noFill/>
          <a:ln/>
        </p:spPr>
        <p:txBody>
          <a:bodyPr wrap="square" lIns="0" tIns="0" rIns="0" bIns="0" rtlCol="0" anchor="ctr"/>
          <a:lstStyle/>
          <a:p>
            <a:pPr marL="0" indent="0">
              <a:lnSpc>
                <a:spcPts val="2400"/>
              </a:lnSpc>
              <a:buNone/>
            </a:pPr>
            <a:r>
              <a:rPr lang="es-ES" sz="1600" noProof="0" dirty="0">
                <a:solidFill>
                  <a:srgbClr val="1B2733"/>
                </a:solidFill>
                <a:latin typeface="Calibri" pitchFamily="34" charset="0"/>
                <a:ea typeface="Calibri" pitchFamily="34" charset="-122"/>
                <a:cs typeface="Calibri" pitchFamily="34" charset="-120"/>
              </a:rPr>
              <a:t>Una institución de educación superior quiere analizar el rendimiento académico de sus estudiantes. Antes de cualquier análisis, es necesario determinar si los datos presentan problemas de calidad que afecten las conclusiones.</a:t>
            </a:r>
            <a:endParaRPr lang="es-ES" sz="1600" noProof="0" dirty="0"/>
          </a:p>
        </p:txBody>
      </p:sp>
      <p:sp>
        <p:nvSpPr>
          <p:cNvPr id="5" name="Shape 3"/>
          <p:cNvSpPr/>
          <p:nvPr/>
        </p:nvSpPr>
        <p:spPr>
          <a:xfrm>
            <a:off x="6400800" y="1417320"/>
            <a:ext cx="5212080" cy="4846320"/>
          </a:xfrm>
          <a:prstGeom prst="roundRect">
            <a:avLst>
              <a:gd name="adj" fmla="val 1887"/>
            </a:avLst>
          </a:prstGeom>
          <a:solidFill>
            <a:srgbClr val="F4F6F8"/>
          </a:solidFill>
          <a:ln w="12700">
            <a:solidFill>
              <a:srgbClr val="E1E6EA"/>
            </a:solidFill>
            <a:prstDash val="solid"/>
          </a:ln>
        </p:spPr>
        <p:txBody>
          <a:bodyPr/>
          <a:lstStyle/>
          <a:p>
            <a:endParaRPr lang="es-ES" noProof="0" dirty="0"/>
          </a:p>
        </p:txBody>
      </p:sp>
      <p:sp>
        <p:nvSpPr>
          <p:cNvPr id="6" name="Text 4"/>
          <p:cNvSpPr txBox="1"/>
          <p:nvPr/>
        </p:nvSpPr>
        <p:spPr>
          <a:xfrm>
            <a:off x="6720840" y="1645920"/>
            <a:ext cx="4572000" cy="365760"/>
          </a:xfrm>
          <a:prstGeom prst="rect">
            <a:avLst/>
          </a:prstGeom>
          <a:noFill/>
          <a:ln/>
        </p:spPr>
        <p:txBody>
          <a:bodyPr wrap="square" lIns="0" tIns="0" rIns="0" bIns="0" rtlCol="0" anchor="ctr"/>
          <a:lstStyle/>
          <a:p>
            <a:pPr marL="0" indent="0">
              <a:buNone/>
            </a:pPr>
            <a:r>
              <a:rPr lang="es-ES" sz="1300" b="1" kern="0" spc="100" noProof="0" dirty="0">
                <a:solidFill>
                  <a:srgbClr val="2A9D8F"/>
                </a:solidFill>
                <a:latin typeface="Calibri" pitchFamily="34" charset="0"/>
                <a:ea typeface="Calibri" pitchFamily="34" charset="-122"/>
                <a:cs typeface="Calibri" pitchFamily="34" charset="-120"/>
              </a:rPr>
              <a:t>Nuestro objetivo</a:t>
            </a:r>
            <a:endParaRPr lang="es-ES" sz="1300" noProof="0" dirty="0"/>
          </a:p>
        </p:txBody>
      </p:sp>
      <p:sp>
        <p:nvSpPr>
          <p:cNvPr id="7" name="Shape 5"/>
          <p:cNvSpPr/>
          <p:nvPr/>
        </p:nvSpPr>
        <p:spPr>
          <a:xfrm>
            <a:off x="6720840" y="2148840"/>
            <a:ext cx="457200" cy="457200"/>
          </a:xfrm>
          <a:prstGeom prst="ellipse">
            <a:avLst/>
          </a:prstGeom>
          <a:solidFill>
            <a:srgbClr val="12324F"/>
          </a:solidFill>
          <a:ln/>
        </p:spPr>
        <p:txBody>
          <a:bodyPr/>
          <a:lstStyle/>
          <a:p>
            <a:endParaRPr lang="es-ES" noProof="0" dirty="0"/>
          </a:p>
        </p:txBody>
      </p:sp>
      <p:sp>
        <p:nvSpPr>
          <p:cNvPr id="8" name="Text 6"/>
          <p:cNvSpPr txBox="1"/>
          <p:nvPr/>
        </p:nvSpPr>
        <p:spPr>
          <a:xfrm>
            <a:off x="6720840" y="2148840"/>
            <a:ext cx="457200" cy="457200"/>
          </a:xfrm>
          <a:prstGeom prst="rect">
            <a:avLst/>
          </a:prstGeom>
          <a:noFill/>
          <a:ln/>
        </p:spPr>
        <p:txBody>
          <a:bodyPr wrap="square" rtlCol="0" anchor="ctr"/>
          <a:lstStyle/>
          <a:p>
            <a:pPr marL="0" indent="0" algn="ctr">
              <a:buNone/>
            </a:pPr>
            <a:r>
              <a:rPr lang="es-ES" sz="1500" b="1" noProof="0" dirty="0">
                <a:solidFill>
                  <a:srgbClr val="FFFFFF"/>
                </a:solidFill>
                <a:latin typeface="Calibri" pitchFamily="34" charset="0"/>
                <a:ea typeface="Calibri" pitchFamily="34" charset="-122"/>
                <a:cs typeface="Calibri" pitchFamily="34" charset="-120"/>
              </a:rPr>
              <a:t>1</a:t>
            </a:r>
            <a:endParaRPr lang="es-ES" sz="1500" noProof="0" dirty="0"/>
          </a:p>
        </p:txBody>
      </p:sp>
      <p:sp>
        <p:nvSpPr>
          <p:cNvPr id="9" name="Text 7"/>
          <p:cNvSpPr txBox="1"/>
          <p:nvPr/>
        </p:nvSpPr>
        <p:spPr>
          <a:xfrm>
            <a:off x="7360920" y="2130552"/>
            <a:ext cx="4023360" cy="502920"/>
          </a:xfrm>
          <a:prstGeom prst="rect">
            <a:avLst/>
          </a:prstGeom>
          <a:noFill/>
          <a:ln/>
        </p:spPr>
        <p:txBody>
          <a:bodyPr wrap="square" lIns="0" tIns="0" rIns="0" bIns="0" rtlCol="0" anchor="ctr"/>
          <a:lstStyle/>
          <a:p>
            <a:pPr marL="0" indent="0">
              <a:buNone/>
            </a:pPr>
            <a:r>
              <a:rPr lang="es-ES" sz="1450" noProof="0" dirty="0">
                <a:solidFill>
                  <a:srgbClr val="1B2733"/>
                </a:solidFill>
                <a:latin typeface="Calibri" pitchFamily="34" charset="0"/>
                <a:ea typeface="Calibri" pitchFamily="34" charset="-122"/>
                <a:cs typeface="Calibri" pitchFamily="34" charset="-120"/>
              </a:rPr>
              <a:t>Diagnosticar la calidad de los datos</a:t>
            </a:r>
            <a:endParaRPr lang="es-ES" sz="1450" noProof="0" dirty="0"/>
          </a:p>
        </p:txBody>
      </p:sp>
      <p:sp>
        <p:nvSpPr>
          <p:cNvPr id="10" name="Shape 8"/>
          <p:cNvSpPr/>
          <p:nvPr/>
        </p:nvSpPr>
        <p:spPr>
          <a:xfrm>
            <a:off x="6720840" y="2907792"/>
            <a:ext cx="457200" cy="457200"/>
          </a:xfrm>
          <a:prstGeom prst="ellipse">
            <a:avLst/>
          </a:prstGeom>
          <a:solidFill>
            <a:srgbClr val="12324F"/>
          </a:solidFill>
          <a:ln/>
        </p:spPr>
        <p:txBody>
          <a:bodyPr/>
          <a:lstStyle/>
          <a:p>
            <a:endParaRPr lang="es-ES" noProof="0" dirty="0"/>
          </a:p>
        </p:txBody>
      </p:sp>
      <p:sp>
        <p:nvSpPr>
          <p:cNvPr id="11" name="Text 9"/>
          <p:cNvSpPr txBox="1"/>
          <p:nvPr/>
        </p:nvSpPr>
        <p:spPr>
          <a:xfrm>
            <a:off x="6720840" y="2907792"/>
            <a:ext cx="457200" cy="457200"/>
          </a:xfrm>
          <a:prstGeom prst="rect">
            <a:avLst/>
          </a:prstGeom>
          <a:noFill/>
          <a:ln/>
        </p:spPr>
        <p:txBody>
          <a:bodyPr wrap="square" rtlCol="0" anchor="ctr"/>
          <a:lstStyle/>
          <a:p>
            <a:pPr marL="0" indent="0" algn="ctr">
              <a:buNone/>
            </a:pPr>
            <a:r>
              <a:rPr lang="es-ES" sz="1500" b="1" noProof="0" dirty="0">
                <a:solidFill>
                  <a:srgbClr val="FFFFFF"/>
                </a:solidFill>
                <a:latin typeface="Calibri" pitchFamily="34" charset="0"/>
                <a:ea typeface="Calibri" pitchFamily="34" charset="-122"/>
                <a:cs typeface="Calibri" pitchFamily="34" charset="-120"/>
              </a:rPr>
              <a:t>2</a:t>
            </a:r>
            <a:endParaRPr lang="es-ES" sz="1500" noProof="0" dirty="0"/>
          </a:p>
        </p:txBody>
      </p:sp>
      <p:sp>
        <p:nvSpPr>
          <p:cNvPr id="12" name="Text 10"/>
          <p:cNvSpPr txBox="1"/>
          <p:nvPr/>
        </p:nvSpPr>
        <p:spPr>
          <a:xfrm>
            <a:off x="7360920" y="2889504"/>
            <a:ext cx="4023360" cy="502920"/>
          </a:xfrm>
          <a:prstGeom prst="rect">
            <a:avLst/>
          </a:prstGeom>
          <a:noFill/>
          <a:ln/>
        </p:spPr>
        <p:txBody>
          <a:bodyPr wrap="square" lIns="0" tIns="0" rIns="0" bIns="0" rtlCol="0" anchor="ctr"/>
          <a:lstStyle/>
          <a:p>
            <a:pPr marL="0" indent="0">
              <a:buNone/>
            </a:pPr>
            <a:r>
              <a:rPr lang="es-ES" sz="1450" noProof="0" dirty="0">
                <a:solidFill>
                  <a:srgbClr val="1B2733"/>
                </a:solidFill>
                <a:latin typeface="Calibri" pitchFamily="34" charset="0"/>
                <a:ea typeface="Calibri" pitchFamily="34" charset="-122"/>
                <a:cs typeface="Calibri" pitchFamily="34" charset="-120"/>
              </a:rPr>
              <a:t>Realizar el análisis exploratorio (EDA)</a:t>
            </a:r>
            <a:endParaRPr lang="es-ES" sz="1450" noProof="0" dirty="0"/>
          </a:p>
        </p:txBody>
      </p:sp>
      <p:sp>
        <p:nvSpPr>
          <p:cNvPr id="13" name="Shape 11"/>
          <p:cNvSpPr/>
          <p:nvPr/>
        </p:nvSpPr>
        <p:spPr>
          <a:xfrm>
            <a:off x="6720840" y="3666744"/>
            <a:ext cx="457200" cy="457200"/>
          </a:xfrm>
          <a:prstGeom prst="ellipse">
            <a:avLst/>
          </a:prstGeom>
          <a:solidFill>
            <a:srgbClr val="12324F"/>
          </a:solidFill>
          <a:ln/>
        </p:spPr>
        <p:txBody>
          <a:bodyPr/>
          <a:lstStyle/>
          <a:p>
            <a:endParaRPr lang="es-ES" noProof="0" dirty="0"/>
          </a:p>
        </p:txBody>
      </p:sp>
      <p:sp>
        <p:nvSpPr>
          <p:cNvPr id="14" name="Text 12"/>
          <p:cNvSpPr txBox="1"/>
          <p:nvPr/>
        </p:nvSpPr>
        <p:spPr>
          <a:xfrm>
            <a:off x="6720840" y="3666744"/>
            <a:ext cx="457200" cy="457200"/>
          </a:xfrm>
          <a:prstGeom prst="rect">
            <a:avLst/>
          </a:prstGeom>
          <a:noFill/>
          <a:ln/>
        </p:spPr>
        <p:txBody>
          <a:bodyPr wrap="square" rtlCol="0" anchor="ctr"/>
          <a:lstStyle/>
          <a:p>
            <a:pPr marL="0" indent="0" algn="ctr">
              <a:buNone/>
            </a:pPr>
            <a:r>
              <a:rPr lang="es-ES" sz="1500" b="1" noProof="0" dirty="0">
                <a:solidFill>
                  <a:srgbClr val="FFFFFF"/>
                </a:solidFill>
                <a:latin typeface="Calibri" pitchFamily="34" charset="0"/>
                <a:ea typeface="Calibri" pitchFamily="34" charset="-122"/>
                <a:cs typeface="Calibri" pitchFamily="34" charset="-120"/>
              </a:rPr>
              <a:t>3</a:t>
            </a:r>
            <a:endParaRPr lang="es-ES" sz="1500" noProof="0" dirty="0"/>
          </a:p>
        </p:txBody>
      </p:sp>
      <p:sp>
        <p:nvSpPr>
          <p:cNvPr id="15" name="Text 13"/>
          <p:cNvSpPr txBox="1"/>
          <p:nvPr/>
        </p:nvSpPr>
        <p:spPr>
          <a:xfrm>
            <a:off x="7360920" y="3648456"/>
            <a:ext cx="4023360" cy="502920"/>
          </a:xfrm>
          <a:prstGeom prst="rect">
            <a:avLst/>
          </a:prstGeom>
          <a:noFill/>
          <a:ln/>
        </p:spPr>
        <p:txBody>
          <a:bodyPr wrap="square" lIns="0" tIns="0" rIns="0" bIns="0" rtlCol="0" anchor="ctr"/>
          <a:lstStyle/>
          <a:p>
            <a:pPr marL="0" indent="0">
              <a:buNone/>
            </a:pPr>
            <a:r>
              <a:rPr lang="es-ES" sz="1450" noProof="0" dirty="0">
                <a:solidFill>
                  <a:srgbClr val="1B2733"/>
                </a:solidFill>
                <a:latin typeface="Calibri" pitchFamily="34" charset="0"/>
                <a:ea typeface="Calibri" pitchFamily="34" charset="-122"/>
                <a:cs typeface="Calibri" pitchFamily="34" charset="-120"/>
              </a:rPr>
              <a:t>Definir y justificar el tratamiento</a:t>
            </a:r>
            <a:endParaRPr lang="es-ES" sz="1450" noProof="0" dirty="0"/>
          </a:p>
        </p:txBody>
      </p:sp>
      <p:sp>
        <p:nvSpPr>
          <p:cNvPr id="16" name="Shape 14"/>
          <p:cNvSpPr/>
          <p:nvPr/>
        </p:nvSpPr>
        <p:spPr>
          <a:xfrm>
            <a:off x="6720840" y="4425696"/>
            <a:ext cx="457200" cy="457200"/>
          </a:xfrm>
          <a:prstGeom prst="ellipse">
            <a:avLst/>
          </a:prstGeom>
          <a:solidFill>
            <a:srgbClr val="12324F"/>
          </a:solidFill>
          <a:ln/>
        </p:spPr>
        <p:txBody>
          <a:bodyPr/>
          <a:lstStyle/>
          <a:p>
            <a:endParaRPr lang="es-ES" noProof="0" dirty="0"/>
          </a:p>
        </p:txBody>
      </p:sp>
      <p:sp>
        <p:nvSpPr>
          <p:cNvPr id="17" name="Text 15"/>
          <p:cNvSpPr txBox="1"/>
          <p:nvPr/>
        </p:nvSpPr>
        <p:spPr>
          <a:xfrm>
            <a:off x="6720840" y="4425696"/>
            <a:ext cx="457200" cy="457200"/>
          </a:xfrm>
          <a:prstGeom prst="rect">
            <a:avLst/>
          </a:prstGeom>
          <a:noFill/>
          <a:ln/>
        </p:spPr>
        <p:txBody>
          <a:bodyPr wrap="square" rtlCol="0" anchor="ctr"/>
          <a:lstStyle/>
          <a:p>
            <a:pPr marL="0" indent="0" algn="ctr">
              <a:buNone/>
            </a:pPr>
            <a:r>
              <a:rPr lang="es-ES" sz="1500" b="1" noProof="0" dirty="0">
                <a:solidFill>
                  <a:srgbClr val="FFFFFF"/>
                </a:solidFill>
                <a:latin typeface="Calibri" pitchFamily="34" charset="0"/>
                <a:ea typeface="Calibri" pitchFamily="34" charset="-122"/>
                <a:cs typeface="Calibri" pitchFamily="34" charset="-120"/>
              </a:rPr>
              <a:t>4</a:t>
            </a:r>
            <a:endParaRPr lang="es-ES" sz="1500" noProof="0" dirty="0"/>
          </a:p>
        </p:txBody>
      </p:sp>
      <p:sp>
        <p:nvSpPr>
          <p:cNvPr id="18" name="Text 16"/>
          <p:cNvSpPr txBox="1"/>
          <p:nvPr/>
        </p:nvSpPr>
        <p:spPr>
          <a:xfrm>
            <a:off x="7360920" y="4407408"/>
            <a:ext cx="4023360" cy="502920"/>
          </a:xfrm>
          <a:prstGeom prst="rect">
            <a:avLst/>
          </a:prstGeom>
          <a:noFill/>
          <a:ln/>
        </p:spPr>
        <p:txBody>
          <a:bodyPr wrap="square" lIns="0" tIns="0" rIns="0" bIns="0" rtlCol="0" anchor="ctr"/>
          <a:lstStyle/>
          <a:p>
            <a:pPr marL="0" indent="0">
              <a:buNone/>
            </a:pPr>
            <a:r>
              <a:rPr lang="es-ES" sz="1450" noProof="0" dirty="0">
                <a:solidFill>
                  <a:srgbClr val="1B2733"/>
                </a:solidFill>
                <a:latin typeface="Calibri" pitchFamily="34" charset="0"/>
                <a:ea typeface="Calibri" pitchFamily="34" charset="-122"/>
                <a:cs typeface="Calibri" pitchFamily="34" charset="-120"/>
              </a:rPr>
              <a:t>Implementar un pipeline reproducible</a:t>
            </a:r>
            <a:endParaRPr lang="es-ES" sz="1450" noProof="0" dirty="0"/>
          </a:p>
        </p:txBody>
      </p:sp>
      <p:sp>
        <p:nvSpPr>
          <p:cNvPr id="19" name="Shape 17"/>
          <p:cNvSpPr/>
          <p:nvPr/>
        </p:nvSpPr>
        <p:spPr>
          <a:xfrm>
            <a:off x="6720840" y="5184648"/>
            <a:ext cx="457200" cy="457200"/>
          </a:xfrm>
          <a:prstGeom prst="ellipse">
            <a:avLst/>
          </a:prstGeom>
          <a:solidFill>
            <a:srgbClr val="12324F"/>
          </a:solidFill>
          <a:ln/>
        </p:spPr>
        <p:txBody>
          <a:bodyPr/>
          <a:lstStyle/>
          <a:p>
            <a:endParaRPr lang="es-ES" noProof="0" dirty="0"/>
          </a:p>
        </p:txBody>
      </p:sp>
      <p:sp>
        <p:nvSpPr>
          <p:cNvPr id="20" name="Text 18"/>
          <p:cNvSpPr txBox="1"/>
          <p:nvPr/>
        </p:nvSpPr>
        <p:spPr>
          <a:xfrm>
            <a:off x="6720840" y="5184648"/>
            <a:ext cx="457200" cy="457200"/>
          </a:xfrm>
          <a:prstGeom prst="rect">
            <a:avLst/>
          </a:prstGeom>
          <a:noFill/>
          <a:ln/>
        </p:spPr>
        <p:txBody>
          <a:bodyPr wrap="square" rtlCol="0" anchor="ctr"/>
          <a:lstStyle/>
          <a:p>
            <a:pPr marL="0" indent="0" algn="ctr">
              <a:buNone/>
            </a:pPr>
            <a:r>
              <a:rPr lang="es-ES" sz="1500" b="1" noProof="0" dirty="0">
                <a:solidFill>
                  <a:srgbClr val="FFFFFF"/>
                </a:solidFill>
                <a:latin typeface="Calibri" pitchFamily="34" charset="0"/>
                <a:ea typeface="Calibri" pitchFamily="34" charset="-122"/>
                <a:cs typeface="Calibri" pitchFamily="34" charset="-120"/>
              </a:rPr>
              <a:t>5</a:t>
            </a:r>
            <a:endParaRPr lang="es-ES" sz="1500" noProof="0" dirty="0"/>
          </a:p>
        </p:txBody>
      </p:sp>
      <p:sp>
        <p:nvSpPr>
          <p:cNvPr id="21" name="Text 19"/>
          <p:cNvSpPr txBox="1"/>
          <p:nvPr/>
        </p:nvSpPr>
        <p:spPr>
          <a:xfrm>
            <a:off x="7360920" y="5166360"/>
            <a:ext cx="4023360" cy="502920"/>
          </a:xfrm>
          <a:prstGeom prst="rect">
            <a:avLst/>
          </a:prstGeom>
          <a:noFill/>
          <a:ln/>
        </p:spPr>
        <p:txBody>
          <a:bodyPr wrap="square" lIns="0" tIns="0" rIns="0" bIns="0" rtlCol="0" anchor="ctr"/>
          <a:lstStyle/>
          <a:p>
            <a:pPr marL="0" indent="0">
              <a:buNone/>
            </a:pPr>
            <a:r>
              <a:rPr lang="es-ES" sz="1450" noProof="0" dirty="0">
                <a:solidFill>
                  <a:srgbClr val="1B2733"/>
                </a:solidFill>
                <a:latin typeface="Calibri" pitchFamily="34" charset="0"/>
                <a:ea typeface="Calibri" pitchFamily="34" charset="-122"/>
                <a:cs typeface="Calibri" pitchFamily="34" charset="-120"/>
              </a:rPr>
              <a:t>Exportar el </a:t>
            </a:r>
            <a:r>
              <a:rPr lang="es-ES" sz="1450" noProof="0" dirty="0" err="1">
                <a:solidFill>
                  <a:srgbClr val="1B2733"/>
                </a:solidFill>
                <a:latin typeface="Calibri" pitchFamily="34" charset="0"/>
                <a:ea typeface="Calibri" pitchFamily="34" charset="-122"/>
                <a:cs typeface="Calibri" pitchFamily="34" charset="-120"/>
              </a:rPr>
              <a:t>dataset</a:t>
            </a:r>
            <a:r>
              <a:rPr lang="es-ES" sz="1450" noProof="0" dirty="0">
                <a:solidFill>
                  <a:srgbClr val="1B2733"/>
                </a:solidFill>
                <a:latin typeface="Calibri" pitchFamily="34" charset="0"/>
                <a:ea typeface="Calibri" pitchFamily="34" charset="-122"/>
                <a:cs typeface="Calibri" pitchFamily="34" charset="-120"/>
              </a:rPr>
              <a:t> limpio</a:t>
            </a:r>
            <a:endParaRPr lang="es-ES" sz="145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marL="0" indent="0">
              <a:buNone/>
            </a:pPr>
            <a:r>
              <a:rPr lang="es-ES" sz="1200" b="1" kern="0" spc="200" noProof="0" dirty="0">
                <a:solidFill>
                  <a:srgbClr val="2A9D8F"/>
                </a:solidFill>
                <a:latin typeface="Calibri" pitchFamily="34" charset="0"/>
                <a:ea typeface="Calibri" pitchFamily="34" charset="-122"/>
                <a:cs typeface="Calibri" pitchFamily="34" charset="-120"/>
              </a:rPr>
              <a:t>DIAGNÓSTICO · CARACTERIZACIÓN</a:t>
            </a:r>
            <a:endParaRPr lang="es-ES" sz="1200" noProof="0" dirty="0"/>
          </a:p>
        </p:txBody>
      </p:sp>
      <p:sp>
        <p:nvSpPr>
          <p:cNvPr id="3" name="Text 1"/>
          <p:cNvSpPr txBox="1"/>
          <p:nvPr/>
        </p:nvSpPr>
        <p:spPr>
          <a:xfrm>
            <a:off x="548640" y="777240"/>
            <a:ext cx="10972800" cy="640080"/>
          </a:xfrm>
          <a:prstGeom prst="rect">
            <a:avLst/>
          </a:prstGeom>
          <a:noFill/>
          <a:ln/>
        </p:spPr>
        <p:txBody>
          <a:bodyPr wrap="square" lIns="0" tIns="0" rIns="0" bIns="0" rtlCol="0" anchor="ctr"/>
          <a:lstStyle/>
          <a:p>
            <a:pPr marL="0" indent="0">
              <a:buNone/>
            </a:pPr>
            <a:r>
              <a:rPr lang="es-ES" sz="3200" b="1" noProof="0" dirty="0">
                <a:solidFill>
                  <a:srgbClr val="12324F"/>
                </a:solidFill>
                <a:latin typeface="Cambria" pitchFamily="34" charset="0"/>
                <a:ea typeface="Cambria" pitchFamily="34" charset="-122"/>
                <a:cs typeface="Cambria" pitchFamily="34" charset="-120"/>
              </a:rPr>
              <a:t>Con qué datos trabajamos</a:t>
            </a:r>
            <a:endParaRPr lang="es-ES" sz="3200" noProof="0" dirty="0"/>
          </a:p>
        </p:txBody>
      </p:sp>
      <p:sp>
        <p:nvSpPr>
          <p:cNvPr id="4" name="Shape 2"/>
          <p:cNvSpPr/>
          <p:nvPr/>
        </p:nvSpPr>
        <p:spPr>
          <a:xfrm>
            <a:off x="548640" y="1600200"/>
            <a:ext cx="2606040" cy="1737360"/>
          </a:xfrm>
          <a:prstGeom prst="roundRect">
            <a:avLst>
              <a:gd name="adj" fmla="val 5263"/>
            </a:avLst>
          </a:prstGeom>
          <a:solidFill>
            <a:srgbClr val="FFFFFF"/>
          </a:solidFill>
          <a:ln w="12700">
            <a:solidFill>
              <a:srgbClr val="E1E6EA"/>
            </a:solidFill>
            <a:prstDash val="solid"/>
          </a:ln>
          <a:effectLst>
            <a:outerShdw blurRad="101600" dist="38100" dir="5400000" algn="bl" rotWithShape="0">
              <a:srgbClr val="9AA6B2">
                <a:alpha val="28000"/>
              </a:srgbClr>
            </a:outerShdw>
          </a:effectLst>
        </p:spPr>
        <p:txBody>
          <a:bodyPr/>
          <a:lstStyle/>
          <a:p>
            <a:endParaRPr lang="es-ES" noProof="0" dirty="0"/>
          </a:p>
        </p:txBody>
      </p:sp>
      <p:sp>
        <p:nvSpPr>
          <p:cNvPr id="5" name="Text 3"/>
          <p:cNvSpPr txBox="1"/>
          <p:nvPr/>
        </p:nvSpPr>
        <p:spPr>
          <a:xfrm>
            <a:off x="548640" y="1783080"/>
            <a:ext cx="2606040" cy="822960"/>
          </a:xfrm>
          <a:prstGeom prst="rect">
            <a:avLst/>
          </a:prstGeom>
          <a:noFill/>
          <a:ln/>
        </p:spPr>
        <p:txBody>
          <a:bodyPr wrap="square" rtlCol="0" anchor="ctr"/>
          <a:lstStyle/>
          <a:p>
            <a:pPr marL="0" indent="0" algn="ctr">
              <a:buNone/>
            </a:pPr>
            <a:r>
              <a:rPr lang="es-ES" sz="4400" b="1" noProof="0" dirty="0">
                <a:solidFill>
                  <a:srgbClr val="12324F"/>
                </a:solidFill>
                <a:latin typeface="Cambria" pitchFamily="34" charset="0"/>
                <a:ea typeface="Cambria" pitchFamily="34" charset="-122"/>
                <a:cs typeface="Cambria" pitchFamily="34" charset="-120"/>
              </a:rPr>
              <a:t>5.100</a:t>
            </a:r>
            <a:endParaRPr lang="es-ES" sz="4400" noProof="0" dirty="0"/>
          </a:p>
        </p:txBody>
      </p:sp>
      <p:sp>
        <p:nvSpPr>
          <p:cNvPr id="6" name="Text 4"/>
          <p:cNvSpPr txBox="1"/>
          <p:nvPr/>
        </p:nvSpPr>
        <p:spPr>
          <a:xfrm>
            <a:off x="548640" y="2697480"/>
            <a:ext cx="2606040" cy="457200"/>
          </a:xfrm>
          <a:prstGeom prst="rect">
            <a:avLst/>
          </a:prstGeom>
          <a:noFill/>
          <a:ln/>
        </p:spPr>
        <p:txBody>
          <a:bodyPr wrap="square" rtlCol="0" anchor="ctr"/>
          <a:lstStyle/>
          <a:p>
            <a:pPr marL="0" indent="0" algn="ctr">
              <a:buNone/>
            </a:pPr>
            <a:r>
              <a:rPr lang="es-ES" sz="1400" noProof="0" dirty="0">
                <a:solidFill>
                  <a:srgbClr val="8A97A5"/>
                </a:solidFill>
                <a:latin typeface="Calibri" pitchFamily="34" charset="0"/>
                <a:ea typeface="Calibri" pitchFamily="34" charset="-122"/>
                <a:cs typeface="Calibri" pitchFamily="34" charset="-120"/>
              </a:rPr>
              <a:t>registros</a:t>
            </a:r>
            <a:endParaRPr lang="es-ES" sz="1400" noProof="0" dirty="0"/>
          </a:p>
        </p:txBody>
      </p:sp>
      <p:sp>
        <p:nvSpPr>
          <p:cNvPr id="7" name="Shape 5"/>
          <p:cNvSpPr/>
          <p:nvPr/>
        </p:nvSpPr>
        <p:spPr>
          <a:xfrm>
            <a:off x="3319272" y="1600200"/>
            <a:ext cx="2606040" cy="1737360"/>
          </a:xfrm>
          <a:prstGeom prst="roundRect">
            <a:avLst>
              <a:gd name="adj" fmla="val 5263"/>
            </a:avLst>
          </a:prstGeom>
          <a:solidFill>
            <a:srgbClr val="FFFFFF"/>
          </a:solidFill>
          <a:ln w="12700">
            <a:solidFill>
              <a:srgbClr val="E1E6EA"/>
            </a:solidFill>
            <a:prstDash val="solid"/>
          </a:ln>
          <a:effectLst>
            <a:outerShdw blurRad="101600" dist="38100" dir="5400000" algn="bl" rotWithShape="0">
              <a:srgbClr val="9AA6B2">
                <a:alpha val="28000"/>
              </a:srgbClr>
            </a:outerShdw>
          </a:effectLst>
        </p:spPr>
        <p:txBody>
          <a:bodyPr/>
          <a:lstStyle/>
          <a:p>
            <a:endParaRPr lang="es-ES" noProof="0" dirty="0"/>
          </a:p>
        </p:txBody>
      </p:sp>
      <p:sp>
        <p:nvSpPr>
          <p:cNvPr id="8" name="Text 6"/>
          <p:cNvSpPr txBox="1"/>
          <p:nvPr/>
        </p:nvSpPr>
        <p:spPr>
          <a:xfrm>
            <a:off x="3319272" y="1783080"/>
            <a:ext cx="2606040" cy="822960"/>
          </a:xfrm>
          <a:prstGeom prst="rect">
            <a:avLst/>
          </a:prstGeom>
          <a:noFill/>
          <a:ln/>
        </p:spPr>
        <p:txBody>
          <a:bodyPr wrap="square" rtlCol="0" anchor="ctr"/>
          <a:lstStyle/>
          <a:p>
            <a:pPr marL="0" indent="0" algn="ctr">
              <a:buNone/>
            </a:pPr>
            <a:r>
              <a:rPr lang="es-ES" sz="4400" b="1" noProof="0" dirty="0">
                <a:solidFill>
                  <a:srgbClr val="2A9D8F"/>
                </a:solidFill>
                <a:latin typeface="Cambria" pitchFamily="34" charset="0"/>
                <a:ea typeface="Cambria" pitchFamily="34" charset="-122"/>
                <a:cs typeface="Cambria" pitchFamily="34" charset="-120"/>
              </a:rPr>
              <a:t>11</a:t>
            </a:r>
            <a:endParaRPr lang="es-ES" sz="4400" noProof="0" dirty="0"/>
          </a:p>
        </p:txBody>
      </p:sp>
      <p:sp>
        <p:nvSpPr>
          <p:cNvPr id="9" name="Text 7"/>
          <p:cNvSpPr txBox="1"/>
          <p:nvPr/>
        </p:nvSpPr>
        <p:spPr>
          <a:xfrm>
            <a:off x="3319272" y="2697480"/>
            <a:ext cx="2606040" cy="457200"/>
          </a:xfrm>
          <a:prstGeom prst="rect">
            <a:avLst/>
          </a:prstGeom>
          <a:noFill/>
          <a:ln/>
        </p:spPr>
        <p:txBody>
          <a:bodyPr wrap="square" rtlCol="0" anchor="ctr"/>
          <a:lstStyle/>
          <a:p>
            <a:pPr marL="0" indent="0" algn="ctr">
              <a:buNone/>
            </a:pPr>
            <a:r>
              <a:rPr lang="es-ES" sz="1400" noProof="0" dirty="0">
                <a:solidFill>
                  <a:srgbClr val="8A97A5"/>
                </a:solidFill>
                <a:latin typeface="Calibri" pitchFamily="34" charset="0"/>
                <a:ea typeface="Calibri" pitchFamily="34" charset="-122"/>
                <a:cs typeface="Calibri" pitchFamily="34" charset="-120"/>
              </a:rPr>
              <a:t>variables</a:t>
            </a:r>
            <a:endParaRPr lang="es-ES" sz="1400" noProof="0" dirty="0"/>
          </a:p>
        </p:txBody>
      </p:sp>
      <p:sp>
        <p:nvSpPr>
          <p:cNvPr id="10" name="Shape 8"/>
          <p:cNvSpPr/>
          <p:nvPr/>
        </p:nvSpPr>
        <p:spPr>
          <a:xfrm>
            <a:off x="6089904" y="1600200"/>
            <a:ext cx="2606040" cy="1737360"/>
          </a:xfrm>
          <a:prstGeom prst="roundRect">
            <a:avLst>
              <a:gd name="adj" fmla="val 5263"/>
            </a:avLst>
          </a:prstGeom>
          <a:solidFill>
            <a:srgbClr val="FFFFFF"/>
          </a:solidFill>
          <a:ln w="12700">
            <a:solidFill>
              <a:srgbClr val="E1E6EA"/>
            </a:solidFill>
            <a:prstDash val="solid"/>
          </a:ln>
          <a:effectLst>
            <a:outerShdw blurRad="101600" dist="38100" dir="5400000" algn="bl" rotWithShape="0">
              <a:srgbClr val="9AA6B2">
                <a:alpha val="28000"/>
              </a:srgbClr>
            </a:outerShdw>
          </a:effectLst>
        </p:spPr>
        <p:txBody>
          <a:bodyPr/>
          <a:lstStyle/>
          <a:p>
            <a:endParaRPr lang="es-ES" noProof="0" dirty="0"/>
          </a:p>
        </p:txBody>
      </p:sp>
      <p:sp>
        <p:nvSpPr>
          <p:cNvPr id="11" name="Text 9"/>
          <p:cNvSpPr txBox="1"/>
          <p:nvPr/>
        </p:nvSpPr>
        <p:spPr>
          <a:xfrm>
            <a:off x="6089904" y="1783080"/>
            <a:ext cx="2606040" cy="822960"/>
          </a:xfrm>
          <a:prstGeom prst="rect">
            <a:avLst/>
          </a:prstGeom>
          <a:noFill/>
          <a:ln/>
        </p:spPr>
        <p:txBody>
          <a:bodyPr wrap="square" rtlCol="0" anchor="ctr"/>
          <a:lstStyle/>
          <a:p>
            <a:pPr marL="0" indent="0" algn="ctr">
              <a:buNone/>
            </a:pPr>
            <a:r>
              <a:rPr lang="es-ES" sz="4400" b="1" noProof="0" dirty="0">
                <a:solidFill>
                  <a:srgbClr val="12324F"/>
                </a:solidFill>
                <a:latin typeface="Cambria" pitchFamily="34" charset="0"/>
                <a:ea typeface="Cambria" pitchFamily="34" charset="-122"/>
                <a:cs typeface="Cambria" pitchFamily="34" charset="-120"/>
              </a:rPr>
              <a:t>8</a:t>
            </a:r>
            <a:endParaRPr lang="es-ES" sz="4400" noProof="0" dirty="0"/>
          </a:p>
        </p:txBody>
      </p:sp>
      <p:sp>
        <p:nvSpPr>
          <p:cNvPr id="12" name="Text 10"/>
          <p:cNvSpPr txBox="1"/>
          <p:nvPr/>
        </p:nvSpPr>
        <p:spPr>
          <a:xfrm>
            <a:off x="6089904" y="2697480"/>
            <a:ext cx="2606040" cy="457200"/>
          </a:xfrm>
          <a:prstGeom prst="rect">
            <a:avLst/>
          </a:prstGeom>
          <a:noFill/>
          <a:ln/>
        </p:spPr>
        <p:txBody>
          <a:bodyPr wrap="square" rtlCol="0" anchor="ctr"/>
          <a:lstStyle/>
          <a:p>
            <a:pPr marL="0" indent="0" algn="ctr">
              <a:buNone/>
            </a:pPr>
            <a:r>
              <a:rPr lang="es-ES" sz="1400" noProof="0" dirty="0">
                <a:solidFill>
                  <a:srgbClr val="8A97A5"/>
                </a:solidFill>
                <a:latin typeface="Calibri" pitchFamily="34" charset="0"/>
                <a:ea typeface="Calibri" pitchFamily="34" charset="-122"/>
                <a:cs typeface="Calibri" pitchFamily="34" charset="-120"/>
              </a:rPr>
              <a:t>variables numéricas</a:t>
            </a:r>
            <a:endParaRPr lang="es-ES" sz="1400" noProof="0" dirty="0"/>
          </a:p>
        </p:txBody>
      </p:sp>
      <p:sp>
        <p:nvSpPr>
          <p:cNvPr id="13" name="Shape 11"/>
          <p:cNvSpPr/>
          <p:nvPr/>
        </p:nvSpPr>
        <p:spPr>
          <a:xfrm>
            <a:off x="8860536" y="1600200"/>
            <a:ext cx="2606040" cy="1737360"/>
          </a:xfrm>
          <a:prstGeom prst="roundRect">
            <a:avLst>
              <a:gd name="adj" fmla="val 5263"/>
            </a:avLst>
          </a:prstGeom>
          <a:solidFill>
            <a:srgbClr val="FFFFFF"/>
          </a:solidFill>
          <a:ln w="12700">
            <a:solidFill>
              <a:srgbClr val="E1E6EA"/>
            </a:solidFill>
            <a:prstDash val="solid"/>
          </a:ln>
          <a:effectLst>
            <a:outerShdw blurRad="101600" dist="38100" dir="5400000" algn="bl" rotWithShape="0">
              <a:srgbClr val="9AA6B2">
                <a:alpha val="28000"/>
              </a:srgbClr>
            </a:outerShdw>
          </a:effectLst>
        </p:spPr>
        <p:txBody>
          <a:bodyPr/>
          <a:lstStyle/>
          <a:p>
            <a:endParaRPr lang="es-ES" noProof="0" dirty="0"/>
          </a:p>
        </p:txBody>
      </p:sp>
      <p:sp>
        <p:nvSpPr>
          <p:cNvPr id="14" name="Text 12"/>
          <p:cNvSpPr txBox="1"/>
          <p:nvPr/>
        </p:nvSpPr>
        <p:spPr>
          <a:xfrm>
            <a:off x="8860536" y="1783080"/>
            <a:ext cx="2606040" cy="822960"/>
          </a:xfrm>
          <a:prstGeom prst="rect">
            <a:avLst/>
          </a:prstGeom>
          <a:noFill/>
          <a:ln/>
        </p:spPr>
        <p:txBody>
          <a:bodyPr wrap="square" rtlCol="0" anchor="ctr"/>
          <a:lstStyle/>
          <a:p>
            <a:pPr marL="0" indent="0" algn="ctr">
              <a:buNone/>
            </a:pPr>
            <a:r>
              <a:rPr lang="es-MX" sz="4400" b="1" dirty="0">
                <a:solidFill>
                  <a:srgbClr val="2A9D8F"/>
                </a:solidFill>
                <a:latin typeface="Cambria" pitchFamily="34" charset="0"/>
                <a:ea typeface="Cambria" pitchFamily="34" charset="-122"/>
              </a:rPr>
              <a:t>3</a:t>
            </a:r>
            <a:endParaRPr lang="es-ES" sz="4400" noProof="0" dirty="0"/>
          </a:p>
        </p:txBody>
      </p:sp>
      <p:sp>
        <p:nvSpPr>
          <p:cNvPr id="15" name="Text 13"/>
          <p:cNvSpPr txBox="1"/>
          <p:nvPr/>
        </p:nvSpPr>
        <p:spPr>
          <a:xfrm>
            <a:off x="8860536" y="2697480"/>
            <a:ext cx="2606040" cy="457200"/>
          </a:xfrm>
          <a:prstGeom prst="rect">
            <a:avLst/>
          </a:prstGeom>
          <a:noFill/>
          <a:ln/>
        </p:spPr>
        <p:txBody>
          <a:bodyPr wrap="square" rtlCol="0" anchor="ctr"/>
          <a:lstStyle/>
          <a:p>
            <a:pPr marL="0" indent="0" algn="ctr">
              <a:buNone/>
            </a:pPr>
            <a:r>
              <a:rPr lang="es-ES" sz="1400" noProof="0" dirty="0">
                <a:solidFill>
                  <a:srgbClr val="8A97A5"/>
                </a:solidFill>
                <a:latin typeface="Calibri" pitchFamily="34" charset="0"/>
                <a:ea typeface="Calibri" pitchFamily="34" charset="-122"/>
                <a:cs typeface="Calibri" pitchFamily="34" charset="-120"/>
              </a:rPr>
              <a:t>categóricas</a:t>
            </a:r>
            <a:endParaRPr lang="es-ES" sz="1400" noProof="0" dirty="0"/>
          </a:p>
        </p:txBody>
      </p:sp>
      <p:sp>
        <p:nvSpPr>
          <p:cNvPr id="16" name="Text 14"/>
          <p:cNvSpPr txBox="1"/>
          <p:nvPr/>
        </p:nvSpPr>
        <p:spPr>
          <a:xfrm>
            <a:off x="548640" y="3794760"/>
            <a:ext cx="5486400" cy="365760"/>
          </a:xfrm>
          <a:prstGeom prst="rect">
            <a:avLst/>
          </a:prstGeom>
          <a:noFill/>
          <a:ln/>
        </p:spPr>
        <p:txBody>
          <a:bodyPr wrap="square" lIns="0" tIns="0" rIns="0" bIns="0" rtlCol="0" anchor="ctr"/>
          <a:lstStyle/>
          <a:p>
            <a:pPr marL="0" indent="0">
              <a:buNone/>
            </a:pPr>
            <a:r>
              <a:rPr lang="es-ES" sz="1300" b="1" kern="0" spc="100" noProof="0" dirty="0">
                <a:solidFill>
                  <a:srgbClr val="2A9D8F"/>
                </a:solidFill>
                <a:latin typeface="Calibri" pitchFamily="34" charset="0"/>
                <a:ea typeface="Calibri" pitchFamily="34" charset="-122"/>
                <a:cs typeface="Calibri" pitchFamily="34" charset="-120"/>
              </a:rPr>
              <a:t>Roles especiales</a:t>
            </a:r>
            <a:endParaRPr lang="es-ES" sz="1300" noProof="0" dirty="0"/>
          </a:p>
        </p:txBody>
      </p:sp>
      <p:sp>
        <p:nvSpPr>
          <p:cNvPr id="17" name="Text 15"/>
          <p:cNvSpPr txBox="1"/>
          <p:nvPr/>
        </p:nvSpPr>
        <p:spPr>
          <a:xfrm>
            <a:off x="548640" y="4160520"/>
            <a:ext cx="7315200" cy="914400"/>
          </a:xfrm>
          <a:prstGeom prst="rect">
            <a:avLst/>
          </a:prstGeom>
          <a:noFill/>
          <a:ln/>
        </p:spPr>
        <p:txBody>
          <a:bodyPr wrap="square" lIns="0" tIns="0" rIns="0" bIns="0" rtlCol="0" anchor="ctr"/>
          <a:lstStyle/>
          <a:p>
            <a:pPr marL="0" indent="0">
              <a:lnSpc>
                <a:spcPts val="2800"/>
              </a:lnSpc>
              <a:buNone/>
            </a:pPr>
            <a:r>
              <a:rPr lang="es-ES" sz="1600" b="1" noProof="0" dirty="0" err="1">
                <a:solidFill>
                  <a:srgbClr val="12324F"/>
                </a:solidFill>
                <a:latin typeface="Calibri" pitchFamily="34" charset="0"/>
                <a:ea typeface="Calibri" pitchFamily="34" charset="-122"/>
                <a:cs typeface="Calibri" pitchFamily="34" charset="-120"/>
              </a:rPr>
              <a:t>StudentID</a:t>
            </a:r>
            <a:r>
              <a:rPr lang="es-ES" sz="1600" noProof="0" dirty="0">
                <a:solidFill>
                  <a:srgbClr val="1B2733"/>
                </a:solidFill>
                <a:latin typeface="Calibri" pitchFamily="34" charset="0"/>
                <a:ea typeface="Calibri" pitchFamily="34" charset="-122"/>
                <a:cs typeface="Calibri" pitchFamily="34" charset="-120"/>
              </a:rPr>
              <a:t>  →  </a:t>
            </a:r>
            <a:r>
              <a:rPr lang="es-ES" sz="1600" b="1" noProof="0" dirty="0">
                <a:solidFill>
                  <a:srgbClr val="1B2733"/>
                </a:solidFill>
                <a:latin typeface="Calibri" pitchFamily="34" charset="0"/>
                <a:ea typeface="Calibri" pitchFamily="34" charset="-122"/>
                <a:cs typeface="Calibri" pitchFamily="34" charset="-120"/>
              </a:rPr>
              <a:t>identificador</a:t>
            </a:r>
            <a:r>
              <a:rPr lang="es-ES" sz="1600" noProof="0" dirty="0">
                <a:solidFill>
                  <a:srgbClr val="1B2733"/>
                </a:solidFill>
                <a:latin typeface="Calibri" pitchFamily="34" charset="0"/>
                <a:ea typeface="Calibri" pitchFamily="34" charset="-122"/>
                <a:cs typeface="Calibri" pitchFamily="34" charset="-120"/>
              </a:rPr>
              <a:t> del estudiante
</a:t>
            </a:r>
            <a:r>
              <a:rPr lang="es-ES" sz="1600" b="1" noProof="0" dirty="0" err="1">
                <a:solidFill>
                  <a:srgbClr val="12324F"/>
                </a:solidFill>
                <a:latin typeface="Calibri" pitchFamily="34" charset="0"/>
                <a:ea typeface="Calibri" pitchFamily="34" charset="-122"/>
                <a:cs typeface="Calibri" pitchFamily="34" charset="-120"/>
              </a:rPr>
              <a:t>FinalGrade</a:t>
            </a:r>
            <a:r>
              <a:rPr lang="es-ES" sz="1600" noProof="0" dirty="0">
                <a:solidFill>
                  <a:srgbClr val="1B2733"/>
                </a:solidFill>
                <a:latin typeface="Calibri" pitchFamily="34" charset="0"/>
                <a:ea typeface="Calibri" pitchFamily="34" charset="-122"/>
                <a:cs typeface="Calibri" pitchFamily="34" charset="-120"/>
              </a:rPr>
              <a:t>  →  variable objetivo (target), escala 1–10</a:t>
            </a:r>
            <a:endParaRPr lang="es-ES" sz="1600" noProof="0" dirty="0"/>
          </a:p>
        </p:txBody>
      </p:sp>
      <p:sp>
        <p:nvSpPr>
          <p:cNvPr id="18" name="Text 16"/>
          <p:cNvSpPr txBox="1"/>
          <p:nvPr/>
        </p:nvSpPr>
        <p:spPr>
          <a:xfrm>
            <a:off x="548640" y="5212080"/>
            <a:ext cx="10972800" cy="731520"/>
          </a:xfrm>
          <a:prstGeom prst="rect">
            <a:avLst/>
          </a:prstGeom>
          <a:noFill/>
          <a:ln/>
        </p:spPr>
        <p:txBody>
          <a:bodyPr wrap="square" lIns="0" tIns="0" rIns="0" bIns="0" rtlCol="0" anchor="ctr"/>
          <a:lstStyle/>
          <a:p>
            <a:pPr marL="0" indent="0">
              <a:lnSpc>
                <a:spcPts val="2000"/>
              </a:lnSpc>
              <a:buNone/>
            </a:pPr>
            <a:r>
              <a:rPr lang="es-ES" sz="1300" i="1" noProof="0" dirty="0">
                <a:solidFill>
                  <a:srgbClr val="8A97A5"/>
                </a:solidFill>
                <a:latin typeface="Calibri" pitchFamily="34" charset="0"/>
                <a:ea typeface="Calibri" pitchFamily="34" charset="-122"/>
                <a:cs typeface="Calibri" pitchFamily="34" charset="-120"/>
              </a:rPr>
              <a:t>Numéricas (8): Age · </a:t>
            </a:r>
            <a:r>
              <a:rPr lang="es-ES" sz="1300" i="1" noProof="0" dirty="0" err="1">
                <a:solidFill>
                  <a:srgbClr val="8A97A5"/>
                </a:solidFill>
                <a:latin typeface="Calibri" pitchFamily="34" charset="0"/>
                <a:ea typeface="Calibri" pitchFamily="34" charset="-122"/>
                <a:cs typeface="Calibri" pitchFamily="34" charset="-120"/>
              </a:rPr>
              <a:t>StudyHours</a:t>
            </a:r>
            <a:r>
              <a:rPr lang="es-ES" sz="1300" i="1" noProof="0" dirty="0">
                <a:solidFill>
                  <a:srgbClr val="8A97A5"/>
                </a:solidFill>
                <a:latin typeface="Calibri" pitchFamily="34" charset="0"/>
                <a:ea typeface="Calibri" pitchFamily="34" charset="-122"/>
                <a:cs typeface="Calibri" pitchFamily="34" charset="-120"/>
              </a:rPr>
              <a:t> · </a:t>
            </a:r>
            <a:r>
              <a:rPr lang="es-ES" sz="1300" i="1" noProof="0" dirty="0" err="1">
                <a:solidFill>
                  <a:srgbClr val="8A97A5"/>
                </a:solidFill>
                <a:latin typeface="Calibri" pitchFamily="34" charset="0"/>
                <a:ea typeface="Calibri" pitchFamily="34" charset="-122"/>
                <a:cs typeface="Calibri" pitchFamily="34" charset="-120"/>
              </a:rPr>
              <a:t>Attendance</a:t>
            </a:r>
            <a:r>
              <a:rPr lang="es-ES" sz="1300" i="1" noProof="0" dirty="0">
                <a:solidFill>
                  <a:srgbClr val="8A97A5"/>
                </a:solidFill>
                <a:latin typeface="Calibri" pitchFamily="34" charset="0"/>
                <a:ea typeface="Calibri" pitchFamily="34" charset="-122"/>
                <a:cs typeface="Calibri" pitchFamily="34" charset="-120"/>
              </a:rPr>
              <a:t> · </a:t>
            </a:r>
            <a:r>
              <a:rPr lang="es-ES" sz="1300" i="1" noProof="0" dirty="0" err="1">
                <a:solidFill>
                  <a:srgbClr val="8A97A5"/>
                </a:solidFill>
                <a:latin typeface="Calibri" pitchFamily="34" charset="0"/>
                <a:ea typeface="Calibri" pitchFamily="34" charset="-122"/>
                <a:cs typeface="Calibri" pitchFamily="34" charset="-120"/>
              </a:rPr>
              <a:t>PreviousGPA</a:t>
            </a:r>
            <a:r>
              <a:rPr lang="es-ES" sz="1300" i="1" noProof="0" dirty="0">
                <a:solidFill>
                  <a:srgbClr val="8A97A5"/>
                </a:solidFill>
                <a:latin typeface="Calibri" pitchFamily="34" charset="0"/>
                <a:ea typeface="Calibri" pitchFamily="34" charset="-122"/>
                <a:cs typeface="Calibri" pitchFamily="34" charset="-120"/>
              </a:rPr>
              <a:t> · </a:t>
            </a:r>
            <a:r>
              <a:rPr lang="es-ES" sz="1300" i="1" noProof="0" dirty="0" err="1">
                <a:solidFill>
                  <a:srgbClr val="8A97A5"/>
                </a:solidFill>
                <a:latin typeface="Calibri" pitchFamily="34" charset="0"/>
                <a:ea typeface="Calibri" pitchFamily="34" charset="-122"/>
                <a:cs typeface="Calibri" pitchFamily="34" charset="-120"/>
              </a:rPr>
              <a:t>AssignmentsCompleted</a:t>
            </a:r>
            <a:r>
              <a:rPr lang="es-ES" sz="1300" i="1" noProof="0" dirty="0">
                <a:solidFill>
                  <a:srgbClr val="8A97A5"/>
                </a:solidFill>
                <a:latin typeface="Calibri" pitchFamily="34" charset="0"/>
                <a:ea typeface="Calibri" pitchFamily="34" charset="-122"/>
                <a:cs typeface="Calibri" pitchFamily="34" charset="-120"/>
              </a:rPr>
              <a:t> · </a:t>
            </a:r>
            <a:r>
              <a:rPr lang="es-ES" sz="1300" i="1" noProof="0" dirty="0" err="1">
                <a:solidFill>
                  <a:srgbClr val="8A97A5"/>
                </a:solidFill>
                <a:latin typeface="Calibri" pitchFamily="34" charset="0"/>
                <a:ea typeface="Calibri" pitchFamily="34" charset="-122"/>
                <a:cs typeface="Calibri" pitchFamily="34" charset="-120"/>
              </a:rPr>
              <a:t>SleepHours</a:t>
            </a:r>
            <a:r>
              <a:rPr lang="es-ES" sz="1300" i="1" noProof="0" dirty="0">
                <a:solidFill>
                  <a:srgbClr val="8A97A5"/>
                </a:solidFill>
                <a:latin typeface="Calibri" pitchFamily="34" charset="0"/>
                <a:ea typeface="Calibri" pitchFamily="34" charset="-122"/>
                <a:cs typeface="Calibri" pitchFamily="34" charset="-120"/>
              </a:rPr>
              <a:t> · </a:t>
            </a:r>
            <a:r>
              <a:rPr lang="es-ES" sz="1300" i="1" noProof="0" dirty="0" err="1">
                <a:solidFill>
                  <a:srgbClr val="8A97A5"/>
                </a:solidFill>
                <a:latin typeface="Calibri" pitchFamily="34" charset="0"/>
                <a:ea typeface="Calibri" pitchFamily="34" charset="-122"/>
                <a:cs typeface="Calibri" pitchFamily="34" charset="-120"/>
              </a:rPr>
              <a:t>InternetHours</a:t>
            </a:r>
            <a:r>
              <a:rPr lang="es-ES" sz="1300" i="1" noProof="0" dirty="0">
                <a:solidFill>
                  <a:srgbClr val="8A97A5"/>
                </a:solidFill>
                <a:latin typeface="Calibri" pitchFamily="34" charset="0"/>
                <a:ea typeface="Calibri" pitchFamily="34" charset="-122"/>
                <a:cs typeface="Calibri" pitchFamily="34" charset="-120"/>
              </a:rPr>
              <a:t> · </a:t>
            </a:r>
            <a:r>
              <a:rPr lang="es-ES" sz="1300" i="1" noProof="0" dirty="0" err="1">
                <a:solidFill>
                  <a:srgbClr val="8A97A5"/>
                </a:solidFill>
                <a:latin typeface="Calibri" pitchFamily="34" charset="0"/>
                <a:ea typeface="Calibri" pitchFamily="34" charset="-122"/>
                <a:cs typeface="Calibri" pitchFamily="34" charset="-120"/>
              </a:rPr>
              <a:t>FinalGrade</a:t>
            </a:r>
            <a:r>
              <a:rPr lang="es-ES" sz="1300" i="1" noProof="0" dirty="0">
                <a:solidFill>
                  <a:srgbClr val="8A97A5"/>
                </a:solidFill>
                <a:latin typeface="Calibri" pitchFamily="34" charset="0"/>
                <a:ea typeface="Calibri" pitchFamily="34" charset="-122"/>
                <a:cs typeface="Calibri" pitchFamily="34" charset="-120"/>
              </a:rPr>
              <a:t> (target)</a:t>
            </a:r>
          </a:p>
          <a:p>
            <a:pPr marL="0" indent="0">
              <a:lnSpc>
                <a:spcPts val="2000"/>
              </a:lnSpc>
              <a:buNone/>
            </a:pPr>
            <a:r>
              <a:rPr lang="es-ES" sz="1300" i="1" noProof="0" dirty="0">
                <a:solidFill>
                  <a:srgbClr val="8A97A5"/>
                </a:solidFill>
                <a:latin typeface="Calibri" pitchFamily="34" charset="0"/>
                <a:ea typeface="Calibri" pitchFamily="34" charset="-122"/>
                <a:cs typeface="Calibri" pitchFamily="34" charset="-120"/>
              </a:rPr>
              <a:t> Categóricas (3): </a:t>
            </a:r>
            <a:r>
              <a:rPr lang="es-ES" sz="1300" i="1" noProof="0" dirty="0" err="1">
                <a:solidFill>
                  <a:srgbClr val="8A97A5"/>
                </a:solidFill>
                <a:latin typeface="Calibri" pitchFamily="34" charset="0"/>
                <a:ea typeface="Calibri" pitchFamily="34" charset="-122"/>
                <a:cs typeface="Calibri" pitchFamily="34" charset="-120"/>
              </a:rPr>
              <a:t>StudentID</a:t>
            </a:r>
            <a:r>
              <a:rPr lang="es-ES" sz="1300" i="1" noProof="0" dirty="0">
                <a:solidFill>
                  <a:srgbClr val="8A97A5"/>
                </a:solidFill>
                <a:latin typeface="Calibri" pitchFamily="34" charset="0"/>
                <a:ea typeface="Calibri" pitchFamily="34" charset="-122"/>
                <a:cs typeface="Calibri" pitchFamily="34" charset="-120"/>
              </a:rPr>
              <a:t>(ID) · </a:t>
            </a:r>
            <a:r>
              <a:rPr lang="es-ES" sz="1300" i="1" noProof="0" dirty="0" err="1">
                <a:solidFill>
                  <a:srgbClr val="8A97A5"/>
                </a:solidFill>
                <a:latin typeface="Calibri" pitchFamily="34" charset="0"/>
                <a:ea typeface="Calibri" pitchFamily="34" charset="-122"/>
                <a:cs typeface="Calibri" pitchFamily="34" charset="-120"/>
              </a:rPr>
              <a:t>Scholarship</a:t>
            </a:r>
            <a:r>
              <a:rPr lang="es-ES" sz="1300" i="1" noProof="0" dirty="0">
                <a:solidFill>
                  <a:srgbClr val="8A97A5"/>
                </a:solidFill>
                <a:latin typeface="Calibri" pitchFamily="34" charset="0"/>
                <a:ea typeface="Calibri" pitchFamily="34" charset="-122"/>
                <a:cs typeface="Calibri" pitchFamily="34" charset="-120"/>
              </a:rPr>
              <a:t> · </a:t>
            </a:r>
            <a:r>
              <a:rPr lang="es-ES" sz="1300" i="1" noProof="0" dirty="0" err="1">
                <a:solidFill>
                  <a:srgbClr val="8A97A5"/>
                </a:solidFill>
                <a:latin typeface="Calibri" pitchFamily="34" charset="0"/>
                <a:ea typeface="Calibri" pitchFamily="34" charset="-122"/>
                <a:cs typeface="Calibri" pitchFamily="34" charset="-120"/>
              </a:rPr>
              <a:t>Program</a:t>
            </a:r>
            <a:endParaRPr lang="es-ES" sz="13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marL="0" indent="0">
              <a:buNone/>
            </a:pPr>
            <a:r>
              <a:rPr lang="es-ES" sz="1200" b="1" kern="0" spc="200" noProof="0" dirty="0">
                <a:solidFill>
                  <a:srgbClr val="2A9D8F"/>
                </a:solidFill>
                <a:latin typeface="Calibri" pitchFamily="34" charset="0"/>
                <a:ea typeface="Calibri" pitchFamily="34" charset="-122"/>
                <a:cs typeface="Calibri" pitchFamily="34" charset="-120"/>
              </a:rPr>
              <a:t>DIAGNÓSTICO</a:t>
            </a:r>
            <a:endParaRPr lang="es-ES" sz="1200" noProof="0" dirty="0"/>
          </a:p>
        </p:txBody>
      </p:sp>
      <p:sp>
        <p:nvSpPr>
          <p:cNvPr id="3" name="Text 1"/>
          <p:cNvSpPr txBox="1"/>
          <p:nvPr/>
        </p:nvSpPr>
        <p:spPr>
          <a:xfrm>
            <a:off x="548640" y="777240"/>
            <a:ext cx="10972800" cy="640080"/>
          </a:xfrm>
          <a:prstGeom prst="rect">
            <a:avLst/>
          </a:prstGeom>
          <a:noFill/>
          <a:ln/>
        </p:spPr>
        <p:txBody>
          <a:bodyPr wrap="square" lIns="0" tIns="0" rIns="0" bIns="0" rtlCol="0" anchor="ctr"/>
          <a:lstStyle/>
          <a:p>
            <a:pPr marL="0" indent="0">
              <a:buNone/>
            </a:pPr>
            <a:r>
              <a:rPr lang="es-ES" sz="3200" b="1" noProof="0" dirty="0">
                <a:solidFill>
                  <a:srgbClr val="12324F"/>
                </a:solidFill>
                <a:latin typeface="Cambria" pitchFamily="34" charset="0"/>
                <a:ea typeface="Cambria" pitchFamily="34" charset="-122"/>
                <a:cs typeface="Cambria" pitchFamily="34" charset="-120"/>
              </a:rPr>
              <a:t>Principales problemas de calidad</a:t>
            </a:r>
            <a:endParaRPr lang="es-ES" sz="3200" noProof="0" dirty="0"/>
          </a:p>
        </p:txBody>
      </p:sp>
      <p:sp>
        <p:nvSpPr>
          <p:cNvPr id="4" name="Shape 2"/>
          <p:cNvSpPr/>
          <p:nvPr/>
        </p:nvSpPr>
        <p:spPr>
          <a:xfrm>
            <a:off x="548640" y="1600200"/>
            <a:ext cx="5532120" cy="1051560"/>
          </a:xfrm>
          <a:prstGeom prst="roundRect">
            <a:avLst>
              <a:gd name="adj" fmla="val 6957"/>
            </a:avLst>
          </a:prstGeom>
          <a:solidFill>
            <a:srgbClr val="FFFFFF"/>
          </a:solidFill>
          <a:ln w="12700">
            <a:solidFill>
              <a:srgbClr val="E1E6EA"/>
            </a:solidFill>
            <a:prstDash val="solid"/>
          </a:ln>
        </p:spPr>
        <p:txBody>
          <a:bodyPr/>
          <a:lstStyle/>
          <a:p>
            <a:endParaRPr lang="es-ES" noProof="0" dirty="0"/>
          </a:p>
        </p:txBody>
      </p:sp>
      <p:sp>
        <p:nvSpPr>
          <p:cNvPr id="5" name="Shape 3"/>
          <p:cNvSpPr/>
          <p:nvPr/>
        </p:nvSpPr>
        <p:spPr>
          <a:xfrm>
            <a:off x="777240" y="1892808"/>
            <a:ext cx="457200" cy="457200"/>
          </a:xfrm>
          <a:prstGeom prst="ellipse">
            <a:avLst/>
          </a:prstGeom>
          <a:solidFill>
            <a:srgbClr val="E9A23B"/>
          </a:solidFill>
          <a:ln/>
        </p:spPr>
        <p:txBody>
          <a:bodyPr/>
          <a:lstStyle/>
          <a:p>
            <a:endParaRPr lang="es-ES" noProof="0" dirty="0"/>
          </a:p>
        </p:txBody>
      </p:sp>
      <p:sp>
        <p:nvSpPr>
          <p:cNvPr id="6" name="Text 4"/>
          <p:cNvSpPr txBox="1"/>
          <p:nvPr/>
        </p:nvSpPr>
        <p:spPr>
          <a:xfrm>
            <a:off x="777240" y="1892808"/>
            <a:ext cx="457200" cy="457200"/>
          </a:xfrm>
          <a:prstGeom prst="rect">
            <a:avLst/>
          </a:prstGeom>
          <a:noFill/>
          <a:ln/>
        </p:spPr>
        <p:txBody>
          <a:bodyPr wrap="square" rtlCol="0" anchor="ctr"/>
          <a:lstStyle/>
          <a:p>
            <a:pPr marL="0" indent="0" algn="ctr">
              <a:buNone/>
            </a:pPr>
            <a:r>
              <a:rPr lang="es-ES" sz="2000" b="1" noProof="0" dirty="0">
                <a:solidFill>
                  <a:srgbClr val="FFFFFF"/>
                </a:solidFill>
                <a:latin typeface="Cambria" pitchFamily="34" charset="0"/>
                <a:ea typeface="Cambria" pitchFamily="34" charset="-122"/>
                <a:cs typeface="Cambria" pitchFamily="34" charset="-120"/>
              </a:rPr>
              <a:t>!</a:t>
            </a:r>
            <a:endParaRPr lang="es-ES" sz="2000" noProof="0" dirty="0"/>
          </a:p>
        </p:txBody>
      </p:sp>
      <p:sp>
        <p:nvSpPr>
          <p:cNvPr id="7" name="Text 5"/>
          <p:cNvSpPr txBox="1"/>
          <p:nvPr/>
        </p:nvSpPr>
        <p:spPr>
          <a:xfrm>
            <a:off x="1417320" y="1709928"/>
            <a:ext cx="4480560" cy="365760"/>
          </a:xfrm>
          <a:prstGeom prst="rect">
            <a:avLst/>
          </a:prstGeom>
          <a:noFill/>
          <a:ln/>
        </p:spPr>
        <p:txBody>
          <a:bodyPr wrap="square" lIns="0" tIns="0" rIns="0" bIns="0" rtlCol="0" anchor="ctr"/>
          <a:lstStyle/>
          <a:p>
            <a:pPr marL="0" indent="0">
              <a:buNone/>
            </a:pPr>
            <a:r>
              <a:rPr lang="es-ES" sz="1500" b="1" noProof="0" dirty="0">
                <a:solidFill>
                  <a:srgbClr val="12324F"/>
                </a:solidFill>
                <a:latin typeface="Calibri" pitchFamily="34" charset="0"/>
                <a:ea typeface="Calibri" pitchFamily="34" charset="-122"/>
                <a:cs typeface="Calibri" pitchFamily="34" charset="-120"/>
              </a:rPr>
              <a:t>Valores faltantes</a:t>
            </a:r>
            <a:endParaRPr lang="es-ES" sz="1500" noProof="0" dirty="0"/>
          </a:p>
        </p:txBody>
      </p:sp>
      <p:sp>
        <p:nvSpPr>
          <p:cNvPr id="8" name="Text 6"/>
          <p:cNvSpPr txBox="1"/>
          <p:nvPr/>
        </p:nvSpPr>
        <p:spPr>
          <a:xfrm>
            <a:off x="1417320" y="2039112"/>
            <a:ext cx="4526280" cy="548640"/>
          </a:xfrm>
          <a:prstGeom prst="rect">
            <a:avLst/>
          </a:prstGeom>
          <a:noFill/>
          <a:ln/>
        </p:spPr>
        <p:txBody>
          <a:bodyPr wrap="square" lIns="0" tIns="0" rIns="0" bIns="0" rtlCol="0" anchor="ctr"/>
          <a:lstStyle/>
          <a:p>
            <a:pPr marL="0" indent="0">
              <a:lnSpc>
                <a:spcPts val="1400"/>
              </a:lnSpc>
              <a:buNone/>
            </a:pPr>
            <a:r>
              <a:rPr lang="es-ES" sz="1150" noProof="0" dirty="0">
                <a:solidFill>
                  <a:srgbClr val="1B2733"/>
                </a:solidFill>
                <a:latin typeface="Calibri" pitchFamily="34" charset="0"/>
                <a:ea typeface="Calibri" pitchFamily="34" charset="-122"/>
                <a:cs typeface="Calibri" pitchFamily="34" charset="-120"/>
              </a:rPr>
              <a:t>Todas las variables (salvo ID y target): entre 1,4% y 4,4%. Mayores: </a:t>
            </a:r>
            <a:r>
              <a:rPr lang="es-ES" sz="1150" noProof="0" dirty="0" err="1">
                <a:solidFill>
                  <a:srgbClr val="1B2733"/>
                </a:solidFill>
                <a:latin typeface="Calibri" pitchFamily="34" charset="0"/>
                <a:ea typeface="Calibri" pitchFamily="34" charset="-122"/>
                <a:cs typeface="Calibri" pitchFamily="34" charset="-120"/>
              </a:rPr>
              <a:t>Attendance</a:t>
            </a:r>
            <a:r>
              <a:rPr lang="es-ES" sz="1150" noProof="0" dirty="0">
                <a:solidFill>
                  <a:srgbClr val="1B2733"/>
                </a:solidFill>
                <a:latin typeface="Calibri" pitchFamily="34" charset="0"/>
                <a:ea typeface="Calibri" pitchFamily="34" charset="-122"/>
                <a:cs typeface="Calibri" pitchFamily="34" charset="-120"/>
              </a:rPr>
              <a:t>, </a:t>
            </a:r>
            <a:r>
              <a:rPr lang="es-ES" sz="1150" noProof="0" dirty="0" err="1">
                <a:solidFill>
                  <a:srgbClr val="1B2733"/>
                </a:solidFill>
                <a:latin typeface="Calibri" pitchFamily="34" charset="0"/>
                <a:ea typeface="Calibri" pitchFamily="34" charset="-122"/>
                <a:cs typeface="Calibri" pitchFamily="34" charset="-120"/>
              </a:rPr>
              <a:t>AssignmentsCompleted</a:t>
            </a:r>
            <a:r>
              <a:rPr lang="es-ES" sz="1150" noProof="0" dirty="0">
                <a:solidFill>
                  <a:srgbClr val="1B2733"/>
                </a:solidFill>
                <a:latin typeface="Calibri" pitchFamily="34" charset="0"/>
                <a:ea typeface="Calibri" pitchFamily="34" charset="-122"/>
                <a:cs typeface="Calibri" pitchFamily="34" charset="-120"/>
              </a:rPr>
              <a:t>, </a:t>
            </a:r>
            <a:r>
              <a:rPr lang="es-ES" sz="1150" noProof="0" dirty="0" err="1">
                <a:solidFill>
                  <a:srgbClr val="1B2733"/>
                </a:solidFill>
                <a:latin typeface="Calibri" pitchFamily="34" charset="0"/>
                <a:ea typeface="Calibri" pitchFamily="34" charset="-122"/>
                <a:cs typeface="Calibri" pitchFamily="34" charset="-120"/>
              </a:rPr>
              <a:t>StudyHours</a:t>
            </a:r>
            <a:r>
              <a:rPr lang="es-ES" sz="1150" noProof="0" dirty="0">
                <a:solidFill>
                  <a:srgbClr val="1B2733"/>
                </a:solidFill>
                <a:latin typeface="Calibri" pitchFamily="34" charset="0"/>
                <a:ea typeface="Calibri" pitchFamily="34" charset="-122"/>
                <a:cs typeface="Calibri" pitchFamily="34" charset="-120"/>
              </a:rPr>
              <a:t>.</a:t>
            </a:r>
            <a:endParaRPr lang="es-ES" sz="1150" noProof="0" dirty="0"/>
          </a:p>
        </p:txBody>
      </p:sp>
      <p:sp>
        <p:nvSpPr>
          <p:cNvPr id="9" name="Shape 7"/>
          <p:cNvSpPr/>
          <p:nvPr/>
        </p:nvSpPr>
        <p:spPr>
          <a:xfrm>
            <a:off x="548640" y="2770632"/>
            <a:ext cx="5532120" cy="1051560"/>
          </a:xfrm>
          <a:prstGeom prst="roundRect">
            <a:avLst>
              <a:gd name="adj" fmla="val 6957"/>
            </a:avLst>
          </a:prstGeom>
          <a:solidFill>
            <a:srgbClr val="F4F6F8"/>
          </a:solidFill>
          <a:ln w="12700">
            <a:solidFill>
              <a:srgbClr val="E1E6EA"/>
            </a:solidFill>
            <a:prstDash val="solid"/>
          </a:ln>
        </p:spPr>
        <p:txBody>
          <a:bodyPr/>
          <a:lstStyle/>
          <a:p>
            <a:endParaRPr lang="es-ES" noProof="0" dirty="0"/>
          </a:p>
        </p:txBody>
      </p:sp>
      <p:sp>
        <p:nvSpPr>
          <p:cNvPr id="10" name="Shape 8"/>
          <p:cNvSpPr/>
          <p:nvPr/>
        </p:nvSpPr>
        <p:spPr>
          <a:xfrm>
            <a:off x="777240" y="3063240"/>
            <a:ext cx="457200" cy="457200"/>
          </a:xfrm>
          <a:prstGeom prst="ellipse">
            <a:avLst/>
          </a:prstGeom>
          <a:solidFill>
            <a:srgbClr val="E9A23B"/>
          </a:solidFill>
          <a:ln/>
        </p:spPr>
        <p:txBody>
          <a:bodyPr/>
          <a:lstStyle/>
          <a:p>
            <a:endParaRPr lang="es-ES" noProof="0" dirty="0"/>
          </a:p>
        </p:txBody>
      </p:sp>
      <p:sp>
        <p:nvSpPr>
          <p:cNvPr id="11" name="Text 9"/>
          <p:cNvSpPr txBox="1"/>
          <p:nvPr/>
        </p:nvSpPr>
        <p:spPr>
          <a:xfrm>
            <a:off x="777240" y="3063240"/>
            <a:ext cx="457200" cy="457200"/>
          </a:xfrm>
          <a:prstGeom prst="rect">
            <a:avLst/>
          </a:prstGeom>
          <a:noFill/>
          <a:ln/>
        </p:spPr>
        <p:txBody>
          <a:bodyPr wrap="square" rtlCol="0" anchor="ctr"/>
          <a:lstStyle/>
          <a:p>
            <a:pPr marL="0" indent="0" algn="ctr">
              <a:buNone/>
            </a:pPr>
            <a:r>
              <a:rPr lang="es-ES" sz="2000" b="1" noProof="0" dirty="0">
                <a:solidFill>
                  <a:srgbClr val="FFFFFF"/>
                </a:solidFill>
                <a:latin typeface="Cambria" pitchFamily="34" charset="0"/>
                <a:ea typeface="Cambria" pitchFamily="34" charset="-122"/>
                <a:cs typeface="Cambria" pitchFamily="34" charset="-120"/>
              </a:rPr>
              <a:t>!</a:t>
            </a:r>
            <a:endParaRPr lang="es-ES" sz="2000" noProof="0" dirty="0"/>
          </a:p>
        </p:txBody>
      </p:sp>
      <p:sp>
        <p:nvSpPr>
          <p:cNvPr id="12" name="Text 10"/>
          <p:cNvSpPr txBox="1"/>
          <p:nvPr/>
        </p:nvSpPr>
        <p:spPr>
          <a:xfrm>
            <a:off x="1417320" y="2880360"/>
            <a:ext cx="4480560" cy="365760"/>
          </a:xfrm>
          <a:prstGeom prst="rect">
            <a:avLst/>
          </a:prstGeom>
          <a:noFill/>
          <a:ln/>
        </p:spPr>
        <p:txBody>
          <a:bodyPr wrap="square" lIns="0" tIns="0" rIns="0" bIns="0" rtlCol="0" anchor="ctr"/>
          <a:lstStyle/>
          <a:p>
            <a:pPr marL="0" indent="0">
              <a:buNone/>
            </a:pPr>
            <a:r>
              <a:rPr lang="es-ES" sz="1500" b="1" noProof="0" dirty="0">
                <a:solidFill>
                  <a:srgbClr val="12324F"/>
                </a:solidFill>
                <a:latin typeface="Calibri" pitchFamily="34" charset="0"/>
                <a:ea typeface="Calibri" pitchFamily="34" charset="-122"/>
                <a:cs typeface="Calibri" pitchFamily="34" charset="-120"/>
              </a:rPr>
              <a:t>Registros duplicados</a:t>
            </a:r>
            <a:endParaRPr lang="es-ES" sz="1500" noProof="0" dirty="0"/>
          </a:p>
        </p:txBody>
      </p:sp>
      <p:sp>
        <p:nvSpPr>
          <p:cNvPr id="13" name="Text 11"/>
          <p:cNvSpPr txBox="1"/>
          <p:nvPr/>
        </p:nvSpPr>
        <p:spPr>
          <a:xfrm>
            <a:off x="1417320" y="3209544"/>
            <a:ext cx="4526280" cy="548640"/>
          </a:xfrm>
          <a:prstGeom prst="rect">
            <a:avLst/>
          </a:prstGeom>
          <a:noFill/>
          <a:ln/>
        </p:spPr>
        <p:txBody>
          <a:bodyPr wrap="square" lIns="0" tIns="0" rIns="0" bIns="0" rtlCol="0" anchor="ctr"/>
          <a:lstStyle/>
          <a:p>
            <a:pPr marL="0" indent="0">
              <a:lnSpc>
                <a:spcPts val="1400"/>
              </a:lnSpc>
              <a:buNone/>
            </a:pPr>
            <a:r>
              <a:rPr lang="es-ES" sz="1150" noProof="0" dirty="0">
                <a:solidFill>
                  <a:srgbClr val="1B2733"/>
                </a:solidFill>
                <a:latin typeface="Calibri" pitchFamily="34" charset="0"/>
                <a:ea typeface="Calibri" pitchFamily="34" charset="-122"/>
                <a:cs typeface="Calibri" pitchFamily="34" charset="-120"/>
              </a:rPr>
              <a:t>100 filas idénticas y 100 </a:t>
            </a:r>
            <a:r>
              <a:rPr lang="es-ES" sz="1150" noProof="0" dirty="0" err="1">
                <a:solidFill>
                  <a:srgbClr val="1B2733"/>
                </a:solidFill>
                <a:latin typeface="Calibri" pitchFamily="34" charset="0"/>
                <a:ea typeface="Calibri" pitchFamily="34" charset="-122"/>
                <a:cs typeface="Calibri" pitchFamily="34" charset="-120"/>
              </a:rPr>
              <a:t>StudentID</a:t>
            </a:r>
            <a:r>
              <a:rPr lang="es-ES" sz="1150" noProof="0" dirty="0">
                <a:solidFill>
                  <a:srgbClr val="1B2733"/>
                </a:solidFill>
                <a:latin typeface="Calibri" pitchFamily="34" charset="0"/>
                <a:ea typeface="Calibri" pitchFamily="34" charset="-122"/>
                <a:cs typeface="Calibri" pitchFamily="34" charset="-120"/>
              </a:rPr>
              <a:t> repetidos (≈2%).</a:t>
            </a:r>
            <a:endParaRPr lang="es-ES" sz="1150" noProof="0" dirty="0"/>
          </a:p>
        </p:txBody>
      </p:sp>
      <p:sp>
        <p:nvSpPr>
          <p:cNvPr id="14" name="Shape 12"/>
          <p:cNvSpPr/>
          <p:nvPr/>
        </p:nvSpPr>
        <p:spPr>
          <a:xfrm>
            <a:off x="548640" y="3941064"/>
            <a:ext cx="5532120" cy="1051560"/>
          </a:xfrm>
          <a:prstGeom prst="roundRect">
            <a:avLst>
              <a:gd name="adj" fmla="val 6957"/>
            </a:avLst>
          </a:prstGeom>
          <a:solidFill>
            <a:srgbClr val="FFFFFF"/>
          </a:solidFill>
          <a:ln w="12700">
            <a:solidFill>
              <a:srgbClr val="E1E6EA"/>
            </a:solidFill>
            <a:prstDash val="solid"/>
          </a:ln>
        </p:spPr>
        <p:txBody>
          <a:bodyPr/>
          <a:lstStyle/>
          <a:p>
            <a:endParaRPr lang="es-ES" noProof="0" dirty="0"/>
          </a:p>
        </p:txBody>
      </p:sp>
      <p:sp>
        <p:nvSpPr>
          <p:cNvPr id="15" name="Shape 13"/>
          <p:cNvSpPr/>
          <p:nvPr/>
        </p:nvSpPr>
        <p:spPr>
          <a:xfrm>
            <a:off x="777240" y="4233672"/>
            <a:ext cx="457200" cy="457200"/>
          </a:xfrm>
          <a:prstGeom prst="ellipse">
            <a:avLst/>
          </a:prstGeom>
          <a:solidFill>
            <a:srgbClr val="E9A23B"/>
          </a:solidFill>
          <a:ln/>
        </p:spPr>
        <p:txBody>
          <a:bodyPr/>
          <a:lstStyle/>
          <a:p>
            <a:endParaRPr lang="es-ES" noProof="0" dirty="0"/>
          </a:p>
        </p:txBody>
      </p:sp>
      <p:sp>
        <p:nvSpPr>
          <p:cNvPr id="16" name="Text 14"/>
          <p:cNvSpPr txBox="1"/>
          <p:nvPr/>
        </p:nvSpPr>
        <p:spPr>
          <a:xfrm>
            <a:off x="777240" y="4233672"/>
            <a:ext cx="457200" cy="457200"/>
          </a:xfrm>
          <a:prstGeom prst="rect">
            <a:avLst/>
          </a:prstGeom>
          <a:noFill/>
          <a:ln/>
        </p:spPr>
        <p:txBody>
          <a:bodyPr wrap="square" rtlCol="0" anchor="ctr"/>
          <a:lstStyle/>
          <a:p>
            <a:pPr marL="0" indent="0" algn="ctr">
              <a:buNone/>
            </a:pPr>
            <a:r>
              <a:rPr lang="es-ES" sz="2000" b="1" noProof="0" dirty="0">
                <a:solidFill>
                  <a:srgbClr val="FFFFFF"/>
                </a:solidFill>
                <a:latin typeface="Cambria" pitchFamily="34" charset="0"/>
                <a:ea typeface="Cambria" pitchFamily="34" charset="-122"/>
                <a:cs typeface="Cambria" pitchFamily="34" charset="-120"/>
              </a:rPr>
              <a:t>!</a:t>
            </a:r>
            <a:endParaRPr lang="es-ES" sz="2000" noProof="0" dirty="0"/>
          </a:p>
        </p:txBody>
      </p:sp>
      <p:sp>
        <p:nvSpPr>
          <p:cNvPr id="17" name="Text 15"/>
          <p:cNvSpPr txBox="1"/>
          <p:nvPr/>
        </p:nvSpPr>
        <p:spPr>
          <a:xfrm>
            <a:off x="1417320" y="4050792"/>
            <a:ext cx="4480560" cy="365760"/>
          </a:xfrm>
          <a:prstGeom prst="rect">
            <a:avLst/>
          </a:prstGeom>
          <a:noFill/>
          <a:ln/>
        </p:spPr>
        <p:txBody>
          <a:bodyPr wrap="square" lIns="0" tIns="0" rIns="0" bIns="0" rtlCol="0" anchor="ctr"/>
          <a:lstStyle/>
          <a:p>
            <a:pPr marL="0" indent="0">
              <a:buNone/>
            </a:pPr>
            <a:r>
              <a:rPr lang="es-ES" sz="1500" b="1" noProof="0" dirty="0">
                <a:solidFill>
                  <a:srgbClr val="12324F"/>
                </a:solidFill>
                <a:latin typeface="Calibri" pitchFamily="34" charset="0"/>
                <a:ea typeface="Calibri" pitchFamily="34" charset="-122"/>
                <a:cs typeface="Calibri" pitchFamily="34" charset="-120"/>
              </a:rPr>
              <a:t>Inconsistencias de texto</a:t>
            </a:r>
            <a:endParaRPr lang="es-ES" sz="1500" noProof="0" dirty="0"/>
          </a:p>
        </p:txBody>
      </p:sp>
      <p:sp>
        <p:nvSpPr>
          <p:cNvPr id="18" name="Text 16"/>
          <p:cNvSpPr txBox="1"/>
          <p:nvPr/>
        </p:nvSpPr>
        <p:spPr>
          <a:xfrm>
            <a:off x="1417320" y="4379976"/>
            <a:ext cx="4526280" cy="548640"/>
          </a:xfrm>
          <a:prstGeom prst="rect">
            <a:avLst/>
          </a:prstGeom>
          <a:noFill/>
          <a:ln/>
        </p:spPr>
        <p:txBody>
          <a:bodyPr wrap="square" lIns="0" tIns="0" rIns="0" bIns="0" rtlCol="0" anchor="ctr"/>
          <a:lstStyle/>
          <a:p>
            <a:pPr marL="0" indent="0">
              <a:lnSpc>
                <a:spcPts val="1400"/>
              </a:lnSpc>
              <a:buNone/>
            </a:pPr>
            <a:r>
              <a:rPr lang="es-ES" sz="1150" noProof="0" dirty="0" err="1">
                <a:solidFill>
                  <a:srgbClr val="1B2733"/>
                </a:solidFill>
                <a:latin typeface="Calibri" pitchFamily="34" charset="0"/>
                <a:ea typeface="Calibri" pitchFamily="34" charset="-122"/>
                <a:cs typeface="Calibri" pitchFamily="34" charset="-120"/>
              </a:rPr>
              <a:t>Scholarship</a:t>
            </a:r>
            <a:r>
              <a:rPr lang="es-ES" sz="1150" noProof="0" dirty="0">
                <a:solidFill>
                  <a:srgbClr val="1B2733"/>
                </a:solidFill>
                <a:latin typeface="Calibri" pitchFamily="34" charset="0"/>
                <a:ea typeface="Calibri" pitchFamily="34" charset="-122"/>
                <a:cs typeface="Calibri" pitchFamily="34" charset="-120"/>
              </a:rPr>
              <a:t> y </a:t>
            </a:r>
            <a:r>
              <a:rPr lang="es-ES" sz="1150" noProof="0" dirty="0" err="1">
                <a:solidFill>
                  <a:srgbClr val="1B2733"/>
                </a:solidFill>
                <a:latin typeface="Calibri" pitchFamily="34" charset="0"/>
                <a:ea typeface="Calibri" pitchFamily="34" charset="-122"/>
                <a:cs typeface="Calibri" pitchFamily="34" charset="-120"/>
              </a:rPr>
              <a:t>Program</a:t>
            </a:r>
            <a:r>
              <a:rPr lang="es-ES" sz="1150" noProof="0" dirty="0">
                <a:solidFill>
                  <a:srgbClr val="1B2733"/>
                </a:solidFill>
                <a:latin typeface="Calibri" pitchFamily="34" charset="0"/>
                <a:ea typeface="Calibri" pitchFamily="34" charset="-122"/>
                <a:cs typeface="Calibri" pitchFamily="34" charset="-120"/>
              </a:rPr>
              <a:t> escritos de varias formas (SI, No , INGENIERÍA…).</a:t>
            </a:r>
            <a:endParaRPr lang="es-ES" sz="1150" noProof="0" dirty="0"/>
          </a:p>
        </p:txBody>
      </p:sp>
      <p:sp>
        <p:nvSpPr>
          <p:cNvPr id="19" name="Shape 17"/>
          <p:cNvSpPr/>
          <p:nvPr/>
        </p:nvSpPr>
        <p:spPr>
          <a:xfrm>
            <a:off x="548640" y="5111496"/>
            <a:ext cx="5532120" cy="1051560"/>
          </a:xfrm>
          <a:prstGeom prst="roundRect">
            <a:avLst>
              <a:gd name="adj" fmla="val 6957"/>
            </a:avLst>
          </a:prstGeom>
          <a:solidFill>
            <a:srgbClr val="F4F6F8"/>
          </a:solidFill>
          <a:ln w="12700">
            <a:solidFill>
              <a:srgbClr val="E1E6EA"/>
            </a:solidFill>
            <a:prstDash val="solid"/>
          </a:ln>
        </p:spPr>
        <p:txBody>
          <a:bodyPr/>
          <a:lstStyle/>
          <a:p>
            <a:endParaRPr lang="es-ES" noProof="0" dirty="0"/>
          </a:p>
        </p:txBody>
      </p:sp>
      <p:sp>
        <p:nvSpPr>
          <p:cNvPr id="20" name="Shape 18"/>
          <p:cNvSpPr/>
          <p:nvPr/>
        </p:nvSpPr>
        <p:spPr>
          <a:xfrm>
            <a:off x="777240" y="5404104"/>
            <a:ext cx="457200" cy="457200"/>
          </a:xfrm>
          <a:prstGeom prst="ellipse">
            <a:avLst/>
          </a:prstGeom>
          <a:solidFill>
            <a:srgbClr val="E9A23B"/>
          </a:solidFill>
          <a:ln/>
        </p:spPr>
        <p:txBody>
          <a:bodyPr/>
          <a:lstStyle/>
          <a:p>
            <a:endParaRPr lang="es-ES" noProof="0" dirty="0"/>
          </a:p>
        </p:txBody>
      </p:sp>
      <p:sp>
        <p:nvSpPr>
          <p:cNvPr id="21" name="Text 19"/>
          <p:cNvSpPr txBox="1"/>
          <p:nvPr/>
        </p:nvSpPr>
        <p:spPr>
          <a:xfrm>
            <a:off x="777240" y="5404104"/>
            <a:ext cx="457200" cy="457200"/>
          </a:xfrm>
          <a:prstGeom prst="rect">
            <a:avLst/>
          </a:prstGeom>
          <a:noFill/>
          <a:ln/>
        </p:spPr>
        <p:txBody>
          <a:bodyPr wrap="square" rtlCol="0" anchor="ctr"/>
          <a:lstStyle/>
          <a:p>
            <a:pPr marL="0" indent="0" algn="ctr">
              <a:buNone/>
            </a:pPr>
            <a:r>
              <a:rPr lang="es-ES" sz="2000" b="1" noProof="0" dirty="0">
                <a:solidFill>
                  <a:srgbClr val="FFFFFF"/>
                </a:solidFill>
                <a:latin typeface="Cambria" pitchFamily="34" charset="0"/>
                <a:ea typeface="Cambria" pitchFamily="34" charset="-122"/>
                <a:cs typeface="Cambria" pitchFamily="34" charset="-120"/>
              </a:rPr>
              <a:t>!</a:t>
            </a:r>
            <a:endParaRPr lang="es-ES" sz="2000" noProof="0" dirty="0"/>
          </a:p>
        </p:txBody>
      </p:sp>
      <p:sp>
        <p:nvSpPr>
          <p:cNvPr id="22" name="Text 20"/>
          <p:cNvSpPr txBox="1"/>
          <p:nvPr/>
        </p:nvSpPr>
        <p:spPr>
          <a:xfrm>
            <a:off x="1417320" y="5221224"/>
            <a:ext cx="4480560" cy="365760"/>
          </a:xfrm>
          <a:prstGeom prst="rect">
            <a:avLst/>
          </a:prstGeom>
          <a:noFill/>
          <a:ln/>
        </p:spPr>
        <p:txBody>
          <a:bodyPr wrap="square" lIns="0" tIns="0" rIns="0" bIns="0" rtlCol="0" anchor="ctr"/>
          <a:lstStyle/>
          <a:p>
            <a:pPr marL="0" indent="0">
              <a:buNone/>
            </a:pPr>
            <a:r>
              <a:rPr lang="es-ES" sz="1500" b="1" noProof="0" dirty="0">
                <a:solidFill>
                  <a:srgbClr val="12324F"/>
                </a:solidFill>
                <a:latin typeface="Calibri" pitchFamily="34" charset="0"/>
                <a:ea typeface="Calibri" pitchFamily="34" charset="-122"/>
                <a:cs typeface="Calibri" pitchFamily="34" charset="-120"/>
              </a:rPr>
              <a:t>Valores inválidos</a:t>
            </a:r>
            <a:endParaRPr lang="es-ES" sz="1500" noProof="0" dirty="0"/>
          </a:p>
        </p:txBody>
      </p:sp>
      <p:sp>
        <p:nvSpPr>
          <p:cNvPr id="23" name="Text 21"/>
          <p:cNvSpPr txBox="1"/>
          <p:nvPr/>
        </p:nvSpPr>
        <p:spPr>
          <a:xfrm>
            <a:off x="1417320" y="5550408"/>
            <a:ext cx="4526280" cy="548640"/>
          </a:xfrm>
          <a:prstGeom prst="rect">
            <a:avLst/>
          </a:prstGeom>
          <a:noFill/>
          <a:ln/>
        </p:spPr>
        <p:txBody>
          <a:bodyPr wrap="square" lIns="0" tIns="0" rIns="0" bIns="0" rtlCol="0" anchor="ctr"/>
          <a:lstStyle/>
          <a:p>
            <a:pPr marL="0" indent="0">
              <a:lnSpc>
                <a:spcPts val="1400"/>
              </a:lnSpc>
              <a:buNone/>
            </a:pPr>
            <a:r>
              <a:rPr lang="es-ES" sz="1150" noProof="0" dirty="0">
                <a:solidFill>
                  <a:srgbClr val="1B2733"/>
                </a:solidFill>
                <a:latin typeface="Calibri" pitchFamily="34" charset="0"/>
                <a:ea typeface="Calibri" pitchFamily="34" charset="-122"/>
                <a:cs typeface="Calibri" pitchFamily="34" charset="-120"/>
              </a:rPr>
              <a:t>Fuera de dominio: </a:t>
            </a:r>
            <a:r>
              <a:rPr lang="es-ES" sz="1150" noProof="0" dirty="0" err="1">
                <a:solidFill>
                  <a:srgbClr val="1B2733"/>
                </a:solidFill>
                <a:latin typeface="Calibri" pitchFamily="34" charset="0"/>
                <a:ea typeface="Calibri" pitchFamily="34" charset="-122"/>
                <a:cs typeface="Calibri" pitchFamily="34" charset="-120"/>
              </a:rPr>
              <a:t>Attendance</a:t>
            </a:r>
            <a:r>
              <a:rPr lang="es-ES" sz="1150" noProof="0" dirty="0">
                <a:solidFill>
                  <a:srgbClr val="1B2733"/>
                </a:solidFill>
                <a:latin typeface="Calibri" pitchFamily="34" charset="0"/>
                <a:ea typeface="Calibri" pitchFamily="34" charset="-122"/>
                <a:cs typeface="Calibri" pitchFamily="34" charset="-120"/>
              </a:rPr>
              <a:t> negativa/&gt;100, notas negativas, &gt;24 h de internet.</a:t>
            </a:r>
            <a:endParaRPr lang="es-ES" sz="1150" noProof="0" dirty="0"/>
          </a:p>
        </p:txBody>
      </p:sp>
      <p:sp>
        <p:nvSpPr>
          <p:cNvPr id="24" name="Shape 22"/>
          <p:cNvSpPr/>
          <p:nvPr/>
        </p:nvSpPr>
        <p:spPr>
          <a:xfrm>
            <a:off x="6355080" y="1600200"/>
            <a:ext cx="5257800" cy="4297680"/>
          </a:xfrm>
          <a:prstGeom prst="roundRect">
            <a:avLst>
              <a:gd name="adj" fmla="val 2128"/>
            </a:avLst>
          </a:prstGeom>
          <a:solidFill>
            <a:srgbClr val="FFFFFF"/>
          </a:solidFill>
          <a:ln w="12700">
            <a:solidFill>
              <a:srgbClr val="E1E6EA"/>
            </a:solidFill>
            <a:prstDash val="solid"/>
          </a:ln>
          <a:effectLst>
            <a:outerShdw blurRad="101600" dist="38100" dir="5400000" algn="bl" rotWithShape="0">
              <a:srgbClr val="9AA6B2">
                <a:alpha val="28000"/>
              </a:srgbClr>
            </a:outerShdw>
          </a:effectLst>
        </p:spPr>
        <p:txBody>
          <a:bodyPr/>
          <a:lstStyle/>
          <a:p>
            <a:endParaRPr lang="es-ES" noProof="0" dirty="0"/>
          </a:p>
        </p:txBody>
      </p:sp>
      <p:sp>
        <p:nvSpPr>
          <p:cNvPr id="25" name="Text 23"/>
          <p:cNvSpPr txBox="1"/>
          <p:nvPr/>
        </p:nvSpPr>
        <p:spPr>
          <a:xfrm>
            <a:off x="6583680" y="1737360"/>
            <a:ext cx="4846320" cy="365760"/>
          </a:xfrm>
          <a:prstGeom prst="rect">
            <a:avLst/>
          </a:prstGeom>
          <a:noFill/>
          <a:ln/>
        </p:spPr>
        <p:txBody>
          <a:bodyPr wrap="square" lIns="0" tIns="0" rIns="0" bIns="0" rtlCol="0" anchor="ctr"/>
          <a:lstStyle/>
          <a:p>
            <a:pPr marL="0" indent="0">
              <a:buNone/>
            </a:pPr>
            <a:r>
              <a:rPr lang="es-ES" sz="1300" b="1" noProof="0" dirty="0">
                <a:solidFill>
                  <a:srgbClr val="12324F"/>
                </a:solidFill>
                <a:latin typeface="Calibri" pitchFamily="34" charset="0"/>
                <a:ea typeface="Calibri" pitchFamily="34" charset="-122"/>
                <a:cs typeface="Calibri" pitchFamily="34" charset="-120"/>
              </a:rPr>
              <a:t>% de valores faltantes por variable</a:t>
            </a:r>
            <a:endParaRPr lang="es-ES" sz="1300" noProof="0" dirty="0"/>
          </a:p>
        </p:txBody>
      </p:sp>
      <p:pic>
        <p:nvPicPr>
          <p:cNvPr id="26" name="Image 0" descr="/tmp/deckimg/faltantes.png"/>
          <p:cNvPicPr>
            <a:picLocks noChangeAspect="1"/>
          </p:cNvPicPr>
          <p:nvPr/>
        </p:nvPicPr>
        <p:blipFill>
          <a:blip r:embed="rId3"/>
          <a:stretch>
            <a:fillRect/>
          </a:stretch>
        </p:blipFill>
        <p:spPr>
          <a:xfrm>
            <a:off x="6537960" y="2148840"/>
            <a:ext cx="4892040" cy="36118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324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marL="0" indent="0">
              <a:buNone/>
            </a:pPr>
            <a:r>
              <a:rPr lang="es-ES" sz="1200" b="1" kern="0" spc="200" noProof="0" dirty="0">
                <a:solidFill>
                  <a:srgbClr val="E9A23B"/>
                </a:solidFill>
                <a:latin typeface="Calibri" pitchFamily="34" charset="0"/>
                <a:ea typeface="Calibri" pitchFamily="34" charset="-122"/>
                <a:cs typeface="Calibri" pitchFamily="34" charset="-120"/>
              </a:rPr>
              <a:t>LA DISTINCIÓN CLAVE</a:t>
            </a:r>
            <a:endParaRPr lang="es-ES" sz="1200" noProof="0" dirty="0"/>
          </a:p>
        </p:txBody>
      </p:sp>
      <p:sp>
        <p:nvSpPr>
          <p:cNvPr id="3" name="Text 1"/>
          <p:cNvSpPr txBox="1"/>
          <p:nvPr/>
        </p:nvSpPr>
        <p:spPr>
          <a:xfrm>
            <a:off x="548640" y="822960"/>
            <a:ext cx="10972800" cy="731520"/>
          </a:xfrm>
          <a:prstGeom prst="rect">
            <a:avLst/>
          </a:prstGeom>
          <a:noFill/>
          <a:ln/>
        </p:spPr>
        <p:txBody>
          <a:bodyPr wrap="square" lIns="0" tIns="0" rIns="0" bIns="0" rtlCol="0" anchor="ctr"/>
          <a:lstStyle/>
          <a:p>
            <a:pPr marL="0" indent="0">
              <a:buNone/>
            </a:pPr>
            <a:r>
              <a:rPr lang="es-ES" sz="3400" b="1" noProof="0" dirty="0">
                <a:solidFill>
                  <a:srgbClr val="FFFFFF"/>
                </a:solidFill>
                <a:latin typeface="Cambria" pitchFamily="34" charset="0"/>
                <a:ea typeface="Cambria" pitchFamily="34" charset="-122"/>
                <a:cs typeface="Cambria" pitchFamily="34" charset="-120"/>
              </a:rPr>
              <a:t>Valor inválido  ≠  valor atípico</a:t>
            </a:r>
            <a:endParaRPr lang="es-ES" sz="3400" noProof="0" dirty="0"/>
          </a:p>
        </p:txBody>
      </p:sp>
      <p:sp>
        <p:nvSpPr>
          <p:cNvPr id="4" name="Text 2"/>
          <p:cNvSpPr txBox="1"/>
          <p:nvPr/>
        </p:nvSpPr>
        <p:spPr>
          <a:xfrm>
            <a:off x="548640" y="1691640"/>
            <a:ext cx="10515600" cy="548640"/>
          </a:xfrm>
          <a:prstGeom prst="rect">
            <a:avLst/>
          </a:prstGeom>
          <a:noFill/>
          <a:ln/>
        </p:spPr>
        <p:txBody>
          <a:bodyPr wrap="square" lIns="0" tIns="0" rIns="0" bIns="0" rtlCol="0" anchor="ctr"/>
          <a:lstStyle/>
          <a:p>
            <a:pPr marL="0" indent="0">
              <a:buNone/>
            </a:pPr>
            <a:r>
              <a:rPr lang="es-ES" sz="1600" noProof="0" dirty="0">
                <a:solidFill>
                  <a:srgbClr val="CADCFC"/>
                </a:solidFill>
                <a:latin typeface="Calibri" pitchFamily="34" charset="0"/>
                <a:ea typeface="Calibri" pitchFamily="34" charset="-122"/>
                <a:cs typeface="Calibri" pitchFamily="34" charset="-120"/>
              </a:rPr>
              <a:t>No todo dato extremo se elimina. La estrategia depende de si el valor es imposible o solo poco frecuente.</a:t>
            </a:r>
            <a:endParaRPr lang="es-ES" sz="1600" noProof="0" dirty="0"/>
          </a:p>
        </p:txBody>
      </p:sp>
      <p:sp>
        <p:nvSpPr>
          <p:cNvPr id="5" name="Shape 3"/>
          <p:cNvSpPr/>
          <p:nvPr/>
        </p:nvSpPr>
        <p:spPr>
          <a:xfrm>
            <a:off x="548640" y="2514600"/>
            <a:ext cx="5394960" cy="3566160"/>
          </a:xfrm>
          <a:prstGeom prst="roundRect">
            <a:avLst>
              <a:gd name="adj" fmla="val 3077"/>
            </a:avLst>
          </a:prstGeom>
          <a:solidFill>
            <a:srgbClr val="1B4568"/>
          </a:solidFill>
          <a:ln/>
        </p:spPr>
        <p:txBody>
          <a:bodyPr/>
          <a:lstStyle/>
          <a:p>
            <a:endParaRPr lang="es-ES" noProof="0" dirty="0"/>
          </a:p>
        </p:txBody>
      </p:sp>
      <p:sp>
        <p:nvSpPr>
          <p:cNvPr id="6" name="Text 4"/>
          <p:cNvSpPr txBox="1"/>
          <p:nvPr/>
        </p:nvSpPr>
        <p:spPr>
          <a:xfrm>
            <a:off x="868680" y="2788920"/>
            <a:ext cx="4572000" cy="365760"/>
          </a:xfrm>
          <a:prstGeom prst="rect">
            <a:avLst/>
          </a:prstGeom>
          <a:noFill/>
          <a:ln/>
        </p:spPr>
        <p:txBody>
          <a:bodyPr wrap="square" lIns="0" tIns="0" rIns="0" bIns="0" rtlCol="0" anchor="ctr"/>
          <a:lstStyle/>
          <a:p>
            <a:pPr marL="0" indent="0">
              <a:buNone/>
            </a:pPr>
            <a:r>
              <a:rPr lang="es-ES" sz="1400" b="1" kern="0" spc="100" noProof="0" dirty="0">
                <a:solidFill>
                  <a:srgbClr val="E9A23B"/>
                </a:solidFill>
                <a:latin typeface="Calibri" pitchFamily="34" charset="0"/>
                <a:ea typeface="Calibri" pitchFamily="34" charset="-122"/>
                <a:cs typeface="Calibri" pitchFamily="34" charset="-120"/>
              </a:rPr>
              <a:t>VALOR INVÁLIDO</a:t>
            </a:r>
            <a:endParaRPr lang="es-ES" sz="1400" noProof="0" dirty="0"/>
          </a:p>
        </p:txBody>
      </p:sp>
      <p:sp>
        <p:nvSpPr>
          <p:cNvPr id="7" name="Text 5"/>
          <p:cNvSpPr txBox="1"/>
          <p:nvPr/>
        </p:nvSpPr>
        <p:spPr>
          <a:xfrm>
            <a:off x="868680" y="3154680"/>
            <a:ext cx="4754880" cy="457200"/>
          </a:xfrm>
          <a:prstGeom prst="rect">
            <a:avLst/>
          </a:prstGeom>
          <a:noFill/>
          <a:ln/>
        </p:spPr>
        <p:txBody>
          <a:bodyPr wrap="square" lIns="0" tIns="0" rIns="0" bIns="0" rtlCol="0" anchor="ctr"/>
          <a:lstStyle/>
          <a:p>
            <a:pPr marL="0" indent="0">
              <a:buNone/>
            </a:pPr>
            <a:r>
              <a:rPr lang="es-ES" sz="1900" b="1" noProof="0" dirty="0">
                <a:solidFill>
                  <a:srgbClr val="FFFFFF"/>
                </a:solidFill>
                <a:latin typeface="Cambria" pitchFamily="34" charset="0"/>
                <a:ea typeface="Cambria" pitchFamily="34" charset="-122"/>
                <a:cs typeface="Cambria" pitchFamily="34" charset="-120"/>
              </a:rPr>
              <a:t>Imposible según el dominio</a:t>
            </a:r>
            <a:endParaRPr lang="es-ES" sz="1900" noProof="0" dirty="0"/>
          </a:p>
        </p:txBody>
      </p:sp>
      <p:sp>
        <p:nvSpPr>
          <p:cNvPr id="8" name="Text 6"/>
          <p:cNvSpPr txBox="1"/>
          <p:nvPr/>
        </p:nvSpPr>
        <p:spPr>
          <a:xfrm>
            <a:off x="868680" y="3749040"/>
            <a:ext cx="4754880" cy="365760"/>
          </a:xfrm>
          <a:prstGeom prst="rect">
            <a:avLst/>
          </a:prstGeom>
          <a:noFill/>
          <a:ln/>
        </p:spPr>
        <p:txBody>
          <a:bodyPr wrap="square" lIns="0" tIns="0" rIns="0" bIns="0" rtlCol="0" anchor="ctr"/>
          <a:lstStyle/>
          <a:p>
            <a:pPr marL="0" indent="0">
              <a:buNone/>
            </a:pPr>
            <a:r>
              <a:rPr lang="es-ES" sz="1500" b="1" noProof="0" dirty="0">
                <a:solidFill>
                  <a:srgbClr val="CADCFC"/>
                </a:solidFill>
                <a:latin typeface="Calibri" pitchFamily="34" charset="0"/>
                <a:ea typeface="Calibri" pitchFamily="34" charset="-122"/>
                <a:cs typeface="Calibri" pitchFamily="34" charset="-120"/>
              </a:rPr>
              <a:t>Ejemplo:  </a:t>
            </a:r>
            <a:r>
              <a:rPr lang="es-ES" sz="1500" noProof="0" dirty="0" err="1">
                <a:solidFill>
                  <a:srgbClr val="FFFFFF"/>
                </a:solidFill>
                <a:latin typeface="Calibri" pitchFamily="34" charset="0"/>
                <a:ea typeface="Calibri" pitchFamily="34" charset="-122"/>
                <a:cs typeface="Calibri" pitchFamily="34" charset="-120"/>
              </a:rPr>
              <a:t>Attendance</a:t>
            </a:r>
            <a:r>
              <a:rPr lang="es-ES" sz="1500" noProof="0" dirty="0">
                <a:solidFill>
                  <a:srgbClr val="FFFFFF"/>
                </a:solidFill>
                <a:latin typeface="Calibri" pitchFamily="34" charset="0"/>
                <a:ea typeface="Calibri" pitchFamily="34" charset="-122"/>
                <a:cs typeface="Calibri" pitchFamily="34" charset="-120"/>
              </a:rPr>
              <a:t> = -19,96%</a:t>
            </a:r>
            <a:endParaRPr lang="es-ES" sz="1500" noProof="0" dirty="0"/>
          </a:p>
        </p:txBody>
      </p:sp>
      <p:sp>
        <p:nvSpPr>
          <p:cNvPr id="9" name="Text 7"/>
          <p:cNvSpPr txBox="1"/>
          <p:nvPr/>
        </p:nvSpPr>
        <p:spPr>
          <a:xfrm>
            <a:off x="868680" y="4206240"/>
            <a:ext cx="4754880" cy="365760"/>
          </a:xfrm>
          <a:prstGeom prst="rect">
            <a:avLst/>
          </a:prstGeom>
          <a:noFill/>
          <a:ln/>
        </p:spPr>
        <p:txBody>
          <a:bodyPr wrap="square" lIns="0" tIns="0" rIns="0" bIns="0" rtlCol="0" anchor="ctr"/>
          <a:lstStyle/>
          <a:p>
            <a:pPr marL="0" indent="0">
              <a:buNone/>
            </a:pPr>
            <a:r>
              <a:rPr lang="es-ES" sz="1500" b="1" noProof="0" dirty="0">
                <a:solidFill>
                  <a:srgbClr val="CADCFC"/>
                </a:solidFill>
                <a:latin typeface="Calibri" pitchFamily="34" charset="0"/>
                <a:ea typeface="Calibri" pitchFamily="34" charset="-122"/>
                <a:cs typeface="Calibri" pitchFamily="34" charset="-120"/>
              </a:rPr>
              <a:t>Decisión:  </a:t>
            </a:r>
            <a:r>
              <a:rPr lang="es-ES" sz="1500" noProof="0" dirty="0">
                <a:solidFill>
                  <a:srgbClr val="FFFFFF"/>
                </a:solidFill>
                <a:latin typeface="Calibri" pitchFamily="34" charset="0"/>
                <a:ea typeface="Calibri" pitchFamily="34" charset="-122"/>
                <a:cs typeface="Calibri" pitchFamily="34" charset="-120"/>
              </a:rPr>
              <a:t>convertir a NaN e imputar</a:t>
            </a:r>
            <a:endParaRPr lang="es-ES" sz="1500" noProof="0" dirty="0"/>
          </a:p>
        </p:txBody>
      </p:sp>
      <p:sp>
        <p:nvSpPr>
          <p:cNvPr id="10" name="Text 8"/>
          <p:cNvSpPr txBox="1"/>
          <p:nvPr/>
        </p:nvSpPr>
        <p:spPr>
          <a:xfrm>
            <a:off x="868680" y="5074920"/>
            <a:ext cx="4754880" cy="731520"/>
          </a:xfrm>
          <a:prstGeom prst="rect">
            <a:avLst/>
          </a:prstGeom>
          <a:noFill/>
          <a:ln/>
        </p:spPr>
        <p:txBody>
          <a:bodyPr wrap="square" lIns="0" tIns="0" rIns="0" bIns="0" rtlCol="0" anchor="ctr"/>
          <a:lstStyle/>
          <a:p>
            <a:pPr marL="0" indent="0">
              <a:lnSpc>
                <a:spcPts val="1800"/>
              </a:lnSpc>
              <a:buNone/>
            </a:pPr>
            <a:r>
              <a:rPr lang="es-ES" sz="1300" i="1" noProof="0" dirty="0">
                <a:solidFill>
                  <a:srgbClr val="9FB6D1"/>
                </a:solidFill>
                <a:latin typeface="Calibri" pitchFamily="34" charset="0"/>
                <a:ea typeface="Calibri" pitchFamily="34" charset="-122"/>
                <a:cs typeface="Calibri" pitchFamily="34" charset="-120"/>
              </a:rPr>
              <a:t>Se corrige porque el dato no puede existir.</a:t>
            </a:r>
            <a:endParaRPr lang="es-ES" sz="1300" noProof="0" dirty="0"/>
          </a:p>
        </p:txBody>
      </p:sp>
      <p:sp>
        <p:nvSpPr>
          <p:cNvPr id="11" name="Shape 9"/>
          <p:cNvSpPr/>
          <p:nvPr/>
        </p:nvSpPr>
        <p:spPr>
          <a:xfrm>
            <a:off x="6217920" y="2514600"/>
            <a:ext cx="5394960" cy="3566160"/>
          </a:xfrm>
          <a:prstGeom prst="roundRect">
            <a:avLst>
              <a:gd name="adj" fmla="val 3077"/>
            </a:avLst>
          </a:prstGeom>
          <a:solidFill>
            <a:srgbClr val="1B4568"/>
          </a:solidFill>
          <a:ln/>
        </p:spPr>
        <p:txBody>
          <a:bodyPr/>
          <a:lstStyle/>
          <a:p>
            <a:endParaRPr lang="es-ES" noProof="0" dirty="0"/>
          </a:p>
        </p:txBody>
      </p:sp>
      <p:sp>
        <p:nvSpPr>
          <p:cNvPr id="12" name="Text 10"/>
          <p:cNvSpPr txBox="1"/>
          <p:nvPr/>
        </p:nvSpPr>
        <p:spPr>
          <a:xfrm>
            <a:off x="6537960" y="2788920"/>
            <a:ext cx="4572000" cy="365760"/>
          </a:xfrm>
          <a:prstGeom prst="rect">
            <a:avLst/>
          </a:prstGeom>
          <a:noFill/>
          <a:ln/>
        </p:spPr>
        <p:txBody>
          <a:bodyPr wrap="square" lIns="0" tIns="0" rIns="0" bIns="0" rtlCol="0" anchor="ctr"/>
          <a:lstStyle/>
          <a:p>
            <a:pPr marL="0" indent="0">
              <a:buNone/>
            </a:pPr>
            <a:r>
              <a:rPr lang="es-ES" sz="1400" b="1" kern="0" spc="100" noProof="0" dirty="0">
                <a:solidFill>
                  <a:srgbClr val="2A9D8F"/>
                </a:solidFill>
                <a:latin typeface="Calibri" pitchFamily="34" charset="0"/>
                <a:ea typeface="Calibri" pitchFamily="34" charset="-122"/>
                <a:cs typeface="Calibri" pitchFamily="34" charset="-120"/>
              </a:rPr>
              <a:t>VALOR ATÍPICO (OUTLIER)</a:t>
            </a:r>
            <a:endParaRPr lang="es-ES" sz="1400" noProof="0" dirty="0"/>
          </a:p>
        </p:txBody>
      </p:sp>
      <p:sp>
        <p:nvSpPr>
          <p:cNvPr id="13" name="Text 11"/>
          <p:cNvSpPr txBox="1"/>
          <p:nvPr/>
        </p:nvSpPr>
        <p:spPr>
          <a:xfrm>
            <a:off x="6537960" y="3154680"/>
            <a:ext cx="4754880" cy="457200"/>
          </a:xfrm>
          <a:prstGeom prst="rect">
            <a:avLst/>
          </a:prstGeom>
          <a:noFill/>
          <a:ln/>
        </p:spPr>
        <p:txBody>
          <a:bodyPr wrap="square" lIns="0" tIns="0" rIns="0" bIns="0" rtlCol="0" anchor="ctr"/>
          <a:lstStyle/>
          <a:p>
            <a:pPr marL="0" indent="0">
              <a:buNone/>
            </a:pPr>
            <a:r>
              <a:rPr lang="es-ES" sz="1900" b="1" noProof="0" dirty="0">
                <a:solidFill>
                  <a:srgbClr val="FFFFFF"/>
                </a:solidFill>
                <a:latin typeface="Cambria" pitchFamily="34" charset="0"/>
                <a:ea typeface="Cambria" pitchFamily="34" charset="-122"/>
                <a:cs typeface="Cambria" pitchFamily="34" charset="-120"/>
              </a:rPr>
              <a:t>Extremo pero posible</a:t>
            </a:r>
            <a:endParaRPr lang="es-ES" sz="1900" noProof="0" dirty="0"/>
          </a:p>
        </p:txBody>
      </p:sp>
      <p:sp>
        <p:nvSpPr>
          <p:cNvPr id="14" name="Text 12"/>
          <p:cNvSpPr txBox="1"/>
          <p:nvPr/>
        </p:nvSpPr>
        <p:spPr>
          <a:xfrm>
            <a:off x="6537960" y="3749040"/>
            <a:ext cx="4754880" cy="365760"/>
          </a:xfrm>
          <a:prstGeom prst="rect">
            <a:avLst/>
          </a:prstGeom>
          <a:noFill/>
          <a:ln/>
        </p:spPr>
        <p:txBody>
          <a:bodyPr wrap="square" lIns="0" tIns="0" rIns="0" bIns="0" rtlCol="0" anchor="ctr"/>
          <a:lstStyle/>
          <a:p>
            <a:pPr marL="0" indent="0">
              <a:buNone/>
            </a:pPr>
            <a:r>
              <a:rPr lang="es-ES" sz="1500" b="1" noProof="0" dirty="0">
                <a:solidFill>
                  <a:srgbClr val="CADCFC"/>
                </a:solidFill>
                <a:latin typeface="Calibri" pitchFamily="34" charset="0"/>
                <a:ea typeface="Calibri" pitchFamily="34" charset="-122"/>
                <a:cs typeface="Calibri" pitchFamily="34" charset="-120"/>
              </a:rPr>
              <a:t>Ejemplo:  </a:t>
            </a:r>
            <a:r>
              <a:rPr lang="es-ES" sz="1500" noProof="0" dirty="0" err="1">
                <a:solidFill>
                  <a:srgbClr val="FFFFFF"/>
                </a:solidFill>
                <a:latin typeface="Calibri" pitchFamily="34" charset="0"/>
                <a:ea typeface="Calibri" pitchFamily="34" charset="-122"/>
                <a:cs typeface="Calibri" pitchFamily="34" charset="-120"/>
              </a:rPr>
              <a:t>StudyHours</a:t>
            </a:r>
            <a:r>
              <a:rPr lang="es-ES" sz="1500" noProof="0" dirty="0">
                <a:solidFill>
                  <a:srgbClr val="FFFFFF"/>
                </a:solidFill>
                <a:latin typeface="Calibri" pitchFamily="34" charset="0"/>
                <a:ea typeface="Calibri" pitchFamily="34" charset="-122"/>
                <a:cs typeface="Calibri" pitchFamily="34" charset="-120"/>
              </a:rPr>
              <a:t> = 25 h/semana</a:t>
            </a:r>
            <a:endParaRPr lang="es-ES" sz="1500" noProof="0" dirty="0"/>
          </a:p>
        </p:txBody>
      </p:sp>
      <p:sp>
        <p:nvSpPr>
          <p:cNvPr id="15" name="Text 13"/>
          <p:cNvSpPr txBox="1"/>
          <p:nvPr/>
        </p:nvSpPr>
        <p:spPr>
          <a:xfrm>
            <a:off x="6537960" y="4206240"/>
            <a:ext cx="4754880" cy="365760"/>
          </a:xfrm>
          <a:prstGeom prst="rect">
            <a:avLst/>
          </a:prstGeom>
          <a:noFill/>
          <a:ln/>
        </p:spPr>
        <p:txBody>
          <a:bodyPr wrap="square" lIns="0" tIns="0" rIns="0" bIns="0" rtlCol="0" anchor="ctr"/>
          <a:lstStyle/>
          <a:p>
            <a:pPr marL="0" indent="0">
              <a:buNone/>
            </a:pPr>
            <a:r>
              <a:rPr lang="es-ES" sz="1500" b="1" noProof="0" dirty="0">
                <a:solidFill>
                  <a:srgbClr val="CADCFC"/>
                </a:solidFill>
                <a:latin typeface="Calibri" pitchFamily="34" charset="0"/>
                <a:ea typeface="Calibri" pitchFamily="34" charset="-122"/>
                <a:cs typeface="Calibri" pitchFamily="34" charset="-120"/>
              </a:rPr>
              <a:t>Decisión:  </a:t>
            </a:r>
            <a:r>
              <a:rPr lang="es-ES" sz="1500" noProof="0" dirty="0">
                <a:solidFill>
                  <a:srgbClr val="FFFFFF"/>
                </a:solidFill>
                <a:latin typeface="Calibri" pitchFamily="34" charset="0"/>
                <a:ea typeface="Calibri" pitchFamily="34" charset="-122"/>
                <a:cs typeface="Calibri" pitchFamily="34" charset="-120"/>
              </a:rPr>
              <a:t>acotar por IQR (</a:t>
            </a:r>
            <a:r>
              <a:rPr lang="es-ES" sz="1500" noProof="0" dirty="0" err="1">
                <a:solidFill>
                  <a:srgbClr val="FFFFFF"/>
                </a:solidFill>
                <a:latin typeface="Calibri" pitchFamily="34" charset="0"/>
                <a:ea typeface="Calibri" pitchFamily="34" charset="-122"/>
                <a:cs typeface="Calibri" pitchFamily="34" charset="-120"/>
              </a:rPr>
              <a:t>winsorizar</a:t>
            </a:r>
            <a:r>
              <a:rPr lang="es-ES" sz="1500" noProof="0" dirty="0">
                <a:solidFill>
                  <a:srgbClr val="FFFFFF"/>
                </a:solidFill>
                <a:latin typeface="Calibri" pitchFamily="34" charset="0"/>
                <a:ea typeface="Calibri" pitchFamily="34" charset="-122"/>
                <a:cs typeface="Calibri" pitchFamily="34" charset="-120"/>
              </a:rPr>
              <a:t>)</a:t>
            </a:r>
            <a:endParaRPr lang="es-ES" sz="1500" noProof="0" dirty="0"/>
          </a:p>
        </p:txBody>
      </p:sp>
      <p:sp>
        <p:nvSpPr>
          <p:cNvPr id="16" name="Text 14"/>
          <p:cNvSpPr txBox="1"/>
          <p:nvPr/>
        </p:nvSpPr>
        <p:spPr>
          <a:xfrm>
            <a:off x="6537960" y="5074920"/>
            <a:ext cx="4754880" cy="731520"/>
          </a:xfrm>
          <a:prstGeom prst="rect">
            <a:avLst/>
          </a:prstGeom>
          <a:noFill/>
          <a:ln/>
        </p:spPr>
        <p:txBody>
          <a:bodyPr wrap="square" lIns="0" tIns="0" rIns="0" bIns="0" rtlCol="0" anchor="ctr"/>
          <a:lstStyle/>
          <a:p>
            <a:pPr marL="0" indent="0">
              <a:lnSpc>
                <a:spcPts val="1800"/>
              </a:lnSpc>
              <a:buNone/>
            </a:pPr>
            <a:r>
              <a:rPr lang="es-ES" sz="1300" i="1" noProof="0" dirty="0">
                <a:solidFill>
                  <a:srgbClr val="9FB6D1"/>
                </a:solidFill>
                <a:latin typeface="Calibri" pitchFamily="34" charset="0"/>
                <a:ea typeface="Calibri" pitchFamily="34" charset="-122"/>
                <a:cs typeface="Calibri" pitchFamily="34" charset="-120"/>
              </a:rPr>
              <a:t>Se conserva el registro, limitando su efecto.</a:t>
            </a:r>
            <a:endParaRPr lang="es-ES" sz="13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marL="0" indent="0">
              <a:buNone/>
            </a:pPr>
            <a:r>
              <a:rPr lang="es-ES" sz="1200" b="1" kern="0" spc="200" noProof="0" dirty="0">
                <a:solidFill>
                  <a:srgbClr val="2A9D8F"/>
                </a:solidFill>
                <a:latin typeface="Calibri" pitchFamily="34" charset="0"/>
                <a:ea typeface="Calibri" pitchFamily="34" charset="-122"/>
                <a:cs typeface="Calibri" pitchFamily="34" charset="-120"/>
              </a:rPr>
              <a:t>TRATAMIENTO</a:t>
            </a:r>
            <a:endParaRPr lang="es-ES" sz="1200" noProof="0" dirty="0"/>
          </a:p>
        </p:txBody>
      </p:sp>
      <p:sp>
        <p:nvSpPr>
          <p:cNvPr id="3" name="Text 1"/>
          <p:cNvSpPr txBox="1"/>
          <p:nvPr/>
        </p:nvSpPr>
        <p:spPr>
          <a:xfrm>
            <a:off x="548640" y="777240"/>
            <a:ext cx="10972800" cy="640080"/>
          </a:xfrm>
          <a:prstGeom prst="rect">
            <a:avLst/>
          </a:prstGeom>
          <a:noFill/>
          <a:ln/>
        </p:spPr>
        <p:txBody>
          <a:bodyPr wrap="square" lIns="0" tIns="0" rIns="0" bIns="0" rtlCol="0" anchor="ctr"/>
          <a:lstStyle/>
          <a:p>
            <a:pPr marL="0" indent="0">
              <a:buNone/>
            </a:pPr>
            <a:r>
              <a:rPr lang="es-ES" sz="3200" b="1" noProof="0" dirty="0">
                <a:solidFill>
                  <a:srgbClr val="12324F"/>
                </a:solidFill>
                <a:latin typeface="Cambria" pitchFamily="34" charset="0"/>
                <a:ea typeface="Cambria" pitchFamily="34" charset="-122"/>
                <a:cs typeface="Cambria" pitchFamily="34" charset="-120"/>
              </a:rPr>
              <a:t>Decisiones y su justificación</a:t>
            </a:r>
            <a:endParaRPr lang="es-ES" sz="3200" noProof="0" dirty="0"/>
          </a:p>
        </p:txBody>
      </p:sp>
      <p:graphicFrame>
        <p:nvGraphicFramePr>
          <p:cNvPr id="7" name="Table 0"/>
          <p:cNvGraphicFramePr>
            <a:graphicFrameLocks noGrp="1"/>
          </p:cNvGraphicFramePr>
          <p:nvPr>
            <p:extLst>
              <p:ext uri="{D42A27DB-BD31-4B8C-83A1-F6EECF244321}">
                <p14:modId xmlns:p14="http://schemas.microsoft.com/office/powerpoint/2010/main" val="145166328"/>
              </p:ext>
            </p:extLst>
          </p:nvPr>
        </p:nvGraphicFramePr>
        <p:xfrm>
          <a:off x="548640" y="1600200"/>
          <a:ext cx="11064240" cy="4760976"/>
        </p:xfrm>
        <a:graphic>
          <a:graphicData uri="http://schemas.openxmlformats.org/drawingml/2006/table">
            <a:tbl>
              <a:tblPr/>
              <a:tblGrid>
                <a:gridCol w="23774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5577840">
                  <a:extLst>
                    <a:ext uri="{9D8B030D-6E8A-4147-A177-3AD203B41FA5}">
                      <a16:colId xmlns:a16="http://schemas.microsoft.com/office/drawing/2014/main" val="20002"/>
                    </a:ext>
                  </a:extLst>
                </a:gridCol>
              </a:tblGrid>
              <a:tr h="676656">
                <a:tc>
                  <a:txBody>
                    <a:bodyPr/>
                    <a:lstStyle/>
                    <a:p>
                      <a:pPr marL="0" indent="0" algn="l">
                        <a:buNone/>
                      </a:pPr>
                      <a:r>
                        <a:rPr lang="es-ES" sz="1300" b="1" noProof="0" dirty="0">
                          <a:solidFill>
                            <a:srgbClr val="FFFFFF"/>
                          </a:solidFill>
                          <a:latin typeface="Calibri" pitchFamily="34" charset="0"/>
                          <a:ea typeface="Calibri" pitchFamily="34" charset="-122"/>
                          <a:cs typeface="Calibri" pitchFamily="34" charset="-120"/>
                        </a:rPr>
                        <a:t>Problema</a:t>
                      </a:r>
                      <a:endParaRPr lang="es-ES" sz="13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12324F"/>
                    </a:solidFill>
                  </a:tcPr>
                </a:tc>
                <a:tc>
                  <a:txBody>
                    <a:bodyPr/>
                    <a:lstStyle/>
                    <a:p>
                      <a:pPr marL="0" indent="0" algn="l">
                        <a:buNone/>
                      </a:pPr>
                      <a:r>
                        <a:rPr lang="es-ES" sz="1300" b="1" noProof="0" dirty="0">
                          <a:solidFill>
                            <a:srgbClr val="FFFFFF"/>
                          </a:solidFill>
                          <a:latin typeface="Calibri" pitchFamily="34" charset="0"/>
                          <a:ea typeface="Calibri" pitchFamily="34" charset="-122"/>
                          <a:cs typeface="Calibri" pitchFamily="34" charset="-120"/>
                        </a:rPr>
                        <a:t>Decisión</a:t>
                      </a:r>
                      <a:endParaRPr lang="es-ES" sz="13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12324F"/>
                    </a:solidFill>
                  </a:tcPr>
                </a:tc>
                <a:tc>
                  <a:txBody>
                    <a:bodyPr/>
                    <a:lstStyle/>
                    <a:p>
                      <a:pPr marL="0" indent="0" algn="l">
                        <a:buNone/>
                      </a:pPr>
                      <a:r>
                        <a:rPr lang="es-ES" sz="1300" b="1" noProof="0" dirty="0">
                          <a:solidFill>
                            <a:srgbClr val="FFFFFF"/>
                          </a:solidFill>
                          <a:latin typeface="Calibri" pitchFamily="34" charset="0"/>
                          <a:ea typeface="Calibri" pitchFamily="34" charset="-122"/>
                          <a:cs typeface="Calibri" pitchFamily="34" charset="-120"/>
                        </a:rPr>
                        <a:t>Justificación (basada en el diagnóstico)</a:t>
                      </a:r>
                      <a:endParaRPr lang="es-ES" sz="13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12324F"/>
                    </a:solidFill>
                  </a:tcPr>
                </a:tc>
                <a:extLst>
                  <a:ext uri="{0D108BD9-81ED-4DB2-BD59-A6C34878D82A}">
                    <a16:rowId xmlns:a16="http://schemas.microsoft.com/office/drawing/2014/main" val="10000"/>
                  </a:ext>
                </a:extLst>
              </a:tr>
              <a:tr h="676656">
                <a:tc>
                  <a:txBody>
                    <a:bodyPr/>
                    <a:lstStyle/>
                    <a:p>
                      <a:pPr marL="0" indent="0">
                        <a:buNone/>
                      </a:pPr>
                      <a:r>
                        <a:rPr lang="es-ES" sz="1250" b="1" noProof="0" dirty="0">
                          <a:solidFill>
                            <a:srgbClr val="12324F"/>
                          </a:solidFill>
                          <a:latin typeface="Calibri" pitchFamily="34" charset="0"/>
                          <a:ea typeface="Calibri" pitchFamily="34" charset="-122"/>
                          <a:cs typeface="Calibri" pitchFamily="34" charset="-120"/>
                        </a:rPr>
                        <a:t>Duplicados</a:t>
                      </a:r>
                      <a:endParaRPr lang="es-ES" sz="125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FFFFFF"/>
                    </a:solidFill>
                  </a:tcPr>
                </a:tc>
                <a:tc>
                  <a:txBody>
                    <a:bodyPr/>
                    <a:lstStyle/>
                    <a:p>
                      <a:pPr marL="0" indent="0">
                        <a:buNone/>
                      </a:pPr>
                      <a:r>
                        <a:rPr lang="es-ES" sz="1250" noProof="0" dirty="0">
                          <a:solidFill>
                            <a:srgbClr val="1B2733"/>
                          </a:solidFill>
                          <a:latin typeface="Calibri" pitchFamily="34" charset="0"/>
                          <a:ea typeface="Calibri" pitchFamily="34" charset="-122"/>
                          <a:cs typeface="Calibri" pitchFamily="34" charset="-120"/>
                        </a:rPr>
                        <a:t>Eliminar filas idénticas</a:t>
                      </a:r>
                      <a:endParaRPr lang="es-ES" sz="125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FFFFFF"/>
                    </a:solidFill>
                  </a:tcPr>
                </a:tc>
                <a:tc>
                  <a:txBody>
                    <a:bodyPr/>
                    <a:lstStyle/>
                    <a:p>
                      <a:pPr marL="0" indent="0">
                        <a:buNone/>
                      </a:pPr>
                      <a:r>
                        <a:rPr lang="es-ES" sz="1200" noProof="0" dirty="0">
                          <a:solidFill>
                            <a:srgbClr val="41505E"/>
                          </a:solidFill>
                          <a:latin typeface="Calibri" pitchFamily="34" charset="0"/>
                          <a:ea typeface="Calibri" pitchFamily="34" charset="-122"/>
                          <a:cs typeface="Calibri" pitchFamily="34" charset="-120"/>
                        </a:rPr>
                        <a:t>Registros repetidos que sesgan promedios y correlaciones</a:t>
                      </a:r>
                      <a:endParaRPr lang="es-ES" sz="12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76656">
                <a:tc>
                  <a:txBody>
                    <a:bodyPr/>
                    <a:lstStyle/>
                    <a:p>
                      <a:pPr marL="0" indent="0">
                        <a:buNone/>
                      </a:pPr>
                      <a:r>
                        <a:rPr lang="es-ES" sz="1250" b="1" noProof="0" dirty="0">
                          <a:solidFill>
                            <a:srgbClr val="12324F"/>
                          </a:solidFill>
                          <a:latin typeface="Calibri" pitchFamily="34" charset="0"/>
                          <a:ea typeface="Calibri" pitchFamily="34" charset="-122"/>
                          <a:cs typeface="Calibri" pitchFamily="34" charset="-120"/>
                        </a:rPr>
                        <a:t>Inconsistencias texto</a:t>
                      </a:r>
                      <a:endParaRPr lang="es-ES" sz="125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EEF2F5"/>
                    </a:solidFill>
                  </a:tcPr>
                </a:tc>
                <a:tc>
                  <a:txBody>
                    <a:bodyPr/>
                    <a:lstStyle/>
                    <a:p>
                      <a:pPr marL="0" indent="0">
                        <a:buNone/>
                      </a:pPr>
                      <a:r>
                        <a:rPr lang="es-ES" sz="1250" noProof="0" dirty="0">
                          <a:solidFill>
                            <a:srgbClr val="1B2733"/>
                          </a:solidFill>
                          <a:latin typeface="Calibri" pitchFamily="34" charset="0"/>
                          <a:ea typeface="Calibri" pitchFamily="34" charset="-122"/>
                          <a:cs typeface="Calibri" pitchFamily="34" charset="-120"/>
                        </a:rPr>
                        <a:t>Normalizar a categorías canónicas</a:t>
                      </a:r>
                      <a:endParaRPr lang="es-ES" sz="125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EEF2F5"/>
                    </a:solidFill>
                  </a:tcPr>
                </a:tc>
                <a:tc>
                  <a:txBody>
                    <a:bodyPr/>
                    <a:lstStyle/>
                    <a:p>
                      <a:pPr marL="0" indent="0">
                        <a:buNone/>
                      </a:pPr>
                      <a:r>
                        <a:rPr lang="es-ES" sz="1200" noProof="0" dirty="0">
                          <a:solidFill>
                            <a:srgbClr val="41505E"/>
                          </a:solidFill>
                          <a:latin typeface="Calibri" pitchFamily="34" charset="0"/>
                          <a:ea typeface="Calibri" pitchFamily="34" charset="-122"/>
                          <a:cs typeface="Calibri" pitchFamily="34" charset="-120"/>
                        </a:rPr>
                        <a:t>Unifica categorías que significan lo mismo</a:t>
                      </a:r>
                      <a:endParaRPr lang="es-ES" sz="12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EEF2F5"/>
                    </a:solidFill>
                  </a:tcPr>
                </a:tc>
                <a:extLst>
                  <a:ext uri="{0D108BD9-81ED-4DB2-BD59-A6C34878D82A}">
                    <a16:rowId xmlns:a16="http://schemas.microsoft.com/office/drawing/2014/main" val="10002"/>
                  </a:ext>
                </a:extLst>
              </a:tr>
              <a:tr h="676656">
                <a:tc>
                  <a:txBody>
                    <a:bodyPr/>
                    <a:lstStyle/>
                    <a:p>
                      <a:pPr marL="0" indent="0">
                        <a:buNone/>
                      </a:pPr>
                      <a:r>
                        <a:rPr lang="es-ES" sz="1250" b="1" noProof="0" dirty="0">
                          <a:solidFill>
                            <a:srgbClr val="12324F"/>
                          </a:solidFill>
                          <a:latin typeface="Calibri" pitchFamily="34" charset="0"/>
                          <a:ea typeface="Calibri" pitchFamily="34" charset="-122"/>
                          <a:cs typeface="Calibri" pitchFamily="34" charset="-120"/>
                        </a:rPr>
                        <a:t>Valores inválidos</a:t>
                      </a:r>
                      <a:endParaRPr lang="es-ES" sz="125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FFFFFF"/>
                    </a:solidFill>
                  </a:tcPr>
                </a:tc>
                <a:tc>
                  <a:txBody>
                    <a:bodyPr/>
                    <a:lstStyle/>
                    <a:p>
                      <a:pPr marL="0" indent="0">
                        <a:buNone/>
                      </a:pPr>
                      <a:r>
                        <a:rPr lang="es-ES" sz="1250" noProof="0" dirty="0">
                          <a:solidFill>
                            <a:srgbClr val="1B2733"/>
                          </a:solidFill>
                          <a:latin typeface="Calibri" pitchFamily="34" charset="0"/>
                          <a:ea typeface="Calibri" pitchFamily="34" charset="-122"/>
                          <a:cs typeface="Calibri" pitchFamily="34" charset="-120"/>
                        </a:rPr>
                        <a:t>Convertir a NaN → imputar</a:t>
                      </a:r>
                      <a:endParaRPr lang="es-ES" sz="125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FFFFFF"/>
                    </a:solidFill>
                  </a:tcPr>
                </a:tc>
                <a:tc>
                  <a:txBody>
                    <a:bodyPr/>
                    <a:lstStyle/>
                    <a:p>
                      <a:pPr marL="0" indent="0">
                        <a:buNone/>
                      </a:pPr>
                      <a:r>
                        <a:rPr lang="es-ES" sz="1200" noProof="0" dirty="0">
                          <a:solidFill>
                            <a:srgbClr val="41505E"/>
                          </a:solidFill>
                          <a:latin typeface="Calibri" pitchFamily="34" charset="0"/>
                          <a:ea typeface="Calibri" pitchFamily="34" charset="-122"/>
                          <a:cs typeface="Calibri" pitchFamily="34" charset="-120"/>
                        </a:rPr>
                        <a:t>Son imposibles: se tratan como faltantes</a:t>
                      </a:r>
                      <a:endParaRPr lang="es-ES" sz="12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76656">
                <a:tc>
                  <a:txBody>
                    <a:bodyPr/>
                    <a:lstStyle/>
                    <a:p>
                      <a:pPr marL="0" indent="0">
                        <a:buNone/>
                      </a:pPr>
                      <a:r>
                        <a:rPr lang="es-ES" sz="1250" b="1" noProof="0" dirty="0">
                          <a:solidFill>
                            <a:srgbClr val="12324F"/>
                          </a:solidFill>
                          <a:latin typeface="Calibri" pitchFamily="34" charset="0"/>
                          <a:ea typeface="Calibri" pitchFamily="34" charset="-122"/>
                          <a:cs typeface="Calibri" pitchFamily="34" charset="-120"/>
                        </a:rPr>
                        <a:t>Faltantes</a:t>
                      </a:r>
                      <a:endParaRPr lang="es-ES" sz="125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EEF2F5"/>
                    </a:solidFill>
                  </a:tcPr>
                </a:tc>
                <a:tc>
                  <a:txBody>
                    <a:bodyPr/>
                    <a:lstStyle/>
                    <a:p>
                      <a:pPr marL="0" indent="0">
                        <a:buNone/>
                      </a:pPr>
                      <a:r>
                        <a:rPr lang="es-ES" sz="1250" noProof="0" dirty="0">
                          <a:solidFill>
                            <a:srgbClr val="1B2733"/>
                          </a:solidFill>
                          <a:latin typeface="Calibri" pitchFamily="34" charset="0"/>
                          <a:ea typeface="Calibri" pitchFamily="34" charset="-122"/>
                          <a:cs typeface="Calibri" pitchFamily="34" charset="-120"/>
                        </a:rPr>
                        <a:t>Imputar (mediana / moda)</a:t>
                      </a:r>
                      <a:endParaRPr lang="es-ES" sz="125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EEF2F5"/>
                    </a:solidFill>
                  </a:tcPr>
                </a:tc>
                <a:tc>
                  <a:txBody>
                    <a:bodyPr/>
                    <a:lstStyle/>
                    <a:p>
                      <a:pPr marL="0" indent="0">
                        <a:buNone/>
                      </a:pPr>
                      <a:r>
                        <a:rPr lang="es-ES" sz="1200" noProof="0" dirty="0">
                          <a:solidFill>
                            <a:srgbClr val="41505E"/>
                          </a:solidFill>
                          <a:latin typeface="Calibri" pitchFamily="34" charset="0"/>
                          <a:ea typeface="Calibri" pitchFamily="34" charset="-122"/>
                          <a:cs typeface="Calibri" pitchFamily="34" charset="-120"/>
                        </a:rPr>
                        <a:t>% bajo; eliminar filas perdería datos</a:t>
                      </a:r>
                    </a:p>
                    <a:p>
                      <a:pPr marL="0" indent="0">
                        <a:buNone/>
                      </a:pPr>
                      <a:r>
                        <a:rPr lang="es-ES" sz="1200" noProof="0" dirty="0">
                          <a:solidFill>
                            <a:srgbClr val="41505E"/>
                          </a:solidFill>
                          <a:latin typeface="Calibri" pitchFamily="34" charset="0"/>
                          <a:ea typeface="Calibri" pitchFamily="34" charset="-122"/>
                          <a:cs typeface="Calibri" pitchFamily="34" charset="-120"/>
                        </a:rPr>
                        <a:t>Numéricas: mediana robusta frente a valores extremos</a:t>
                      </a:r>
                    </a:p>
                    <a:p>
                      <a:pPr marL="0" indent="0">
                        <a:buNone/>
                      </a:pPr>
                      <a:r>
                        <a:rPr lang="es-ES" sz="1200" noProof="0" dirty="0">
                          <a:solidFill>
                            <a:srgbClr val="41505E"/>
                          </a:solidFill>
                          <a:latin typeface="Calibri" pitchFamily="34" charset="0"/>
                          <a:ea typeface="Calibri" pitchFamily="34" charset="-122"/>
                          <a:cs typeface="Calibri" pitchFamily="34" charset="-120"/>
                        </a:rPr>
                        <a:t>Categóricas : moda</a:t>
                      </a:r>
                      <a:endParaRPr lang="es-ES" sz="12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EEF2F5"/>
                    </a:solidFill>
                  </a:tcPr>
                </a:tc>
                <a:extLst>
                  <a:ext uri="{0D108BD9-81ED-4DB2-BD59-A6C34878D82A}">
                    <a16:rowId xmlns:a16="http://schemas.microsoft.com/office/drawing/2014/main" val="10004"/>
                  </a:ext>
                </a:extLst>
              </a:tr>
              <a:tr h="676656">
                <a:tc>
                  <a:txBody>
                    <a:bodyPr/>
                    <a:lstStyle/>
                    <a:p>
                      <a:pPr marL="0" indent="0">
                        <a:buNone/>
                      </a:pPr>
                      <a:r>
                        <a:rPr lang="es-ES" sz="1250" b="1" noProof="0" dirty="0" err="1">
                          <a:solidFill>
                            <a:srgbClr val="12324F"/>
                          </a:solidFill>
                          <a:latin typeface="Calibri" pitchFamily="34" charset="0"/>
                          <a:ea typeface="Calibri" pitchFamily="34" charset="-122"/>
                          <a:cs typeface="Calibri" pitchFamily="34" charset="-120"/>
                        </a:rPr>
                        <a:t>Outliers</a:t>
                      </a:r>
                      <a:r>
                        <a:rPr lang="es-ES" sz="1250" b="1" noProof="0" dirty="0">
                          <a:solidFill>
                            <a:srgbClr val="12324F"/>
                          </a:solidFill>
                          <a:latin typeface="Calibri" pitchFamily="34" charset="0"/>
                          <a:ea typeface="Calibri" pitchFamily="34" charset="-122"/>
                          <a:cs typeface="Calibri" pitchFamily="34" charset="-120"/>
                        </a:rPr>
                        <a:t> extremos</a:t>
                      </a:r>
                      <a:endParaRPr lang="es-ES" sz="125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FFFFFF"/>
                    </a:solidFill>
                  </a:tcPr>
                </a:tc>
                <a:tc>
                  <a:txBody>
                    <a:bodyPr/>
                    <a:lstStyle/>
                    <a:p>
                      <a:pPr marL="0" indent="0">
                        <a:buNone/>
                      </a:pPr>
                      <a:r>
                        <a:rPr lang="es-ES" sz="1250" noProof="0" dirty="0">
                          <a:solidFill>
                            <a:srgbClr val="1B2733"/>
                          </a:solidFill>
                          <a:latin typeface="Calibri" pitchFamily="34" charset="0"/>
                          <a:ea typeface="Calibri" pitchFamily="34" charset="-122"/>
                          <a:cs typeface="Calibri" pitchFamily="34" charset="-120"/>
                        </a:rPr>
                        <a:t>Acotar por IQR</a:t>
                      </a:r>
                      <a:endParaRPr lang="es-ES" sz="125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FFFFFF"/>
                    </a:solidFill>
                  </a:tcPr>
                </a:tc>
                <a:tc>
                  <a:txBody>
                    <a:bodyPr/>
                    <a:lstStyle/>
                    <a:p>
                      <a:pPr marL="0" indent="0">
                        <a:buNone/>
                      </a:pPr>
                      <a:r>
                        <a:rPr lang="es-ES" sz="1200" noProof="0" dirty="0">
                          <a:solidFill>
                            <a:srgbClr val="41505E"/>
                          </a:solidFill>
                          <a:latin typeface="Calibri" pitchFamily="34" charset="0"/>
                          <a:ea typeface="Calibri" pitchFamily="34" charset="-122"/>
                          <a:cs typeface="Calibri" pitchFamily="34" charset="-120"/>
                        </a:rPr>
                        <a:t>Conserva el registro y limita el extremo</a:t>
                      </a:r>
                      <a:endParaRPr lang="es-ES" sz="12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76656">
                <a:tc>
                  <a:txBody>
                    <a:bodyPr/>
                    <a:lstStyle/>
                    <a:p>
                      <a:pPr marL="0" indent="0">
                        <a:buNone/>
                      </a:pPr>
                      <a:r>
                        <a:rPr lang="es-ES" sz="1250" b="1" noProof="0" dirty="0">
                          <a:solidFill>
                            <a:srgbClr val="12324F"/>
                          </a:solidFill>
                          <a:latin typeface="Calibri" pitchFamily="34" charset="0"/>
                          <a:ea typeface="Calibri" pitchFamily="34" charset="-122"/>
                          <a:cs typeface="Calibri" pitchFamily="34" charset="-120"/>
                        </a:rPr>
                        <a:t>Target </a:t>
                      </a:r>
                      <a:r>
                        <a:rPr lang="es-ES" sz="1250" b="1" noProof="0" dirty="0" err="1">
                          <a:solidFill>
                            <a:srgbClr val="12324F"/>
                          </a:solidFill>
                          <a:latin typeface="Calibri" pitchFamily="34" charset="0"/>
                          <a:ea typeface="Calibri" pitchFamily="34" charset="-122"/>
                          <a:cs typeface="Calibri" pitchFamily="34" charset="-120"/>
                        </a:rPr>
                        <a:t>FinalGrade</a:t>
                      </a:r>
                      <a:endParaRPr lang="es-ES" sz="125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EEF2F5"/>
                    </a:solidFill>
                  </a:tcPr>
                </a:tc>
                <a:tc>
                  <a:txBody>
                    <a:bodyPr/>
                    <a:lstStyle/>
                    <a:p>
                      <a:pPr marL="0" indent="0">
                        <a:buNone/>
                      </a:pPr>
                      <a:r>
                        <a:rPr lang="es-ES" sz="1250" noProof="0" dirty="0">
                          <a:solidFill>
                            <a:srgbClr val="1B2733"/>
                          </a:solidFill>
                          <a:latin typeface="Calibri" pitchFamily="34" charset="0"/>
                          <a:ea typeface="Calibri" pitchFamily="34" charset="-122"/>
                          <a:cs typeface="Calibri" pitchFamily="34" charset="-120"/>
                        </a:rPr>
                        <a:t>Separar + eliminar filas inválidas</a:t>
                      </a:r>
                      <a:endParaRPr lang="es-ES" sz="125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EEF2F5"/>
                    </a:solidFill>
                  </a:tcPr>
                </a:tc>
                <a:tc>
                  <a:txBody>
                    <a:bodyPr/>
                    <a:lstStyle/>
                    <a:p>
                      <a:pPr marL="0" indent="0">
                        <a:buNone/>
                      </a:pPr>
                      <a:r>
                        <a:rPr lang="es-ES" sz="1200" noProof="0" dirty="0">
                          <a:solidFill>
                            <a:srgbClr val="41505E"/>
                          </a:solidFill>
                          <a:latin typeface="Calibri" pitchFamily="34" charset="0"/>
                          <a:ea typeface="Calibri" pitchFamily="34" charset="-122"/>
                          <a:cs typeface="Calibri" pitchFamily="34" charset="-120"/>
                        </a:rPr>
                        <a:t>El target no se imputa</a:t>
                      </a:r>
                      <a:endParaRPr lang="es-ES" sz="12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EEF2F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marL="0" indent="0">
              <a:buNone/>
            </a:pPr>
            <a:r>
              <a:rPr lang="es-ES" sz="1200" b="1" kern="0" spc="200" noProof="0" dirty="0">
                <a:solidFill>
                  <a:srgbClr val="2A9D8F"/>
                </a:solidFill>
                <a:latin typeface="Calibri" pitchFamily="34" charset="0"/>
                <a:ea typeface="Calibri" pitchFamily="34" charset="-122"/>
                <a:cs typeface="Calibri" pitchFamily="34" charset="-120"/>
              </a:rPr>
              <a:t>IMPLEMENTACIÓN · SCIKIT-LEARN</a:t>
            </a:r>
            <a:endParaRPr lang="es-ES" sz="1200" noProof="0" dirty="0"/>
          </a:p>
        </p:txBody>
      </p:sp>
      <p:sp>
        <p:nvSpPr>
          <p:cNvPr id="3" name="Text 1"/>
          <p:cNvSpPr txBox="1"/>
          <p:nvPr/>
        </p:nvSpPr>
        <p:spPr>
          <a:xfrm>
            <a:off x="548640" y="777240"/>
            <a:ext cx="10972800" cy="640080"/>
          </a:xfrm>
          <a:prstGeom prst="rect">
            <a:avLst/>
          </a:prstGeom>
          <a:noFill/>
          <a:ln/>
        </p:spPr>
        <p:txBody>
          <a:bodyPr wrap="square" lIns="0" tIns="0" rIns="0" bIns="0" rtlCol="0" anchor="ctr"/>
          <a:lstStyle/>
          <a:p>
            <a:pPr marL="0" indent="0">
              <a:buNone/>
            </a:pPr>
            <a:r>
              <a:rPr lang="es-ES" sz="3200" b="1" noProof="0" dirty="0">
                <a:solidFill>
                  <a:srgbClr val="12324F"/>
                </a:solidFill>
                <a:latin typeface="Cambria" pitchFamily="34" charset="0"/>
                <a:ea typeface="Cambria" pitchFamily="34" charset="-122"/>
                <a:cs typeface="Cambria" pitchFamily="34" charset="-120"/>
              </a:rPr>
              <a:t>Pipeline reproducible</a:t>
            </a:r>
            <a:endParaRPr lang="es-ES" sz="3200" noProof="0" dirty="0"/>
          </a:p>
        </p:txBody>
      </p:sp>
      <p:sp>
        <p:nvSpPr>
          <p:cNvPr id="4" name="Text 2"/>
          <p:cNvSpPr txBox="1"/>
          <p:nvPr/>
        </p:nvSpPr>
        <p:spPr>
          <a:xfrm>
            <a:off x="548640" y="1463040"/>
            <a:ext cx="10789920" cy="548640"/>
          </a:xfrm>
          <a:prstGeom prst="rect">
            <a:avLst/>
          </a:prstGeom>
          <a:noFill/>
          <a:ln/>
        </p:spPr>
        <p:txBody>
          <a:bodyPr wrap="square" lIns="0" tIns="0" rIns="0" bIns="0" rtlCol="0" anchor="ctr"/>
          <a:lstStyle/>
          <a:p>
            <a:pPr marL="0" indent="0">
              <a:buNone/>
            </a:pPr>
            <a:r>
              <a:rPr lang="es-ES" sz="1500" noProof="0" dirty="0" err="1">
                <a:solidFill>
                  <a:srgbClr val="1B2733"/>
                </a:solidFill>
                <a:latin typeface="Calibri" pitchFamily="34" charset="0"/>
                <a:ea typeface="Calibri" pitchFamily="34" charset="-122"/>
                <a:cs typeface="Calibri" pitchFamily="34" charset="-120"/>
              </a:rPr>
              <a:t>ColumnTransformer</a:t>
            </a:r>
            <a:r>
              <a:rPr lang="es-ES" sz="1500" noProof="0" dirty="0">
                <a:solidFill>
                  <a:srgbClr val="1B2733"/>
                </a:solidFill>
                <a:latin typeface="Calibri" pitchFamily="34" charset="0"/>
                <a:ea typeface="Calibri" pitchFamily="34" charset="-122"/>
                <a:cs typeface="Calibri" pitchFamily="34" charset="-120"/>
              </a:rPr>
              <a:t> aplica el tratamiento correcto a cada tipo de variable. Ejecutable de nuevo sobre el </a:t>
            </a:r>
            <a:r>
              <a:rPr lang="es-ES" sz="1500" noProof="0" dirty="0" err="1">
                <a:solidFill>
                  <a:srgbClr val="1B2733"/>
                </a:solidFill>
                <a:latin typeface="Calibri" pitchFamily="34" charset="0"/>
                <a:ea typeface="Calibri" pitchFamily="34" charset="-122"/>
                <a:cs typeface="Calibri" pitchFamily="34" charset="-120"/>
              </a:rPr>
              <a:t>dataset</a:t>
            </a:r>
            <a:r>
              <a:rPr lang="es-ES" sz="1500" noProof="0" dirty="0">
                <a:solidFill>
                  <a:srgbClr val="1B2733"/>
                </a:solidFill>
                <a:latin typeface="Calibri" pitchFamily="34" charset="0"/>
                <a:ea typeface="Calibri" pitchFamily="34" charset="-122"/>
                <a:cs typeface="Calibri" pitchFamily="34" charset="-120"/>
              </a:rPr>
              <a:t> original.</a:t>
            </a:r>
            <a:endParaRPr lang="es-ES" sz="1500" noProof="0" dirty="0"/>
          </a:p>
        </p:txBody>
      </p:sp>
      <p:sp>
        <p:nvSpPr>
          <p:cNvPr id="5" name="Shape 3"/>
          <p:cNvSpPr/>
          <p:nvPr/>
        </p:nvSpPr>
        <p:spPr>
          <a:xfrm>
            <a:off x="548640" y="2286000"/>
            <a:ext cx="6766560" cy="1417320"/>
          </a:xfrm>
          <a:prstGeom prst="roundRect">
            <a:avLst>
              <a:gd name="adj" fmla="val 6452"/>
            </a:avLst>
          </a:prstGeom>
          <a:solidFill>
            <a:srgbClr val="F4F6F8"/>
          </a:solidFill>
          <a:ln w="12700">
            <a:solidFill>
              <a:srgbClr val="D8DEE3"/>
            </a:solidFill>
            <a:prstDash val="solid"/>
          </a:ln>
        </p:spPr>
        <p:txBody>
          <a:bodyPr/>
          <a:lstStyle/>
          <a:p>
            <a:endParaRPr lang="es-ES" noProof="0" dirty="0"/>
          </a:p>
        </p:txBody>
      </p:sp>
      <p:sp>
        <p:nvSpPr>
          <p:cNvPr id="6" name="Text 4"/>
          <p:cNvSpPr txBox="1"/>
          <p:nvPr/>
        </p:nvSpPr>
        <p:spPr>
          <a:xfrm>
            <a:off x="777240" y="2423160"/>
            <a:ext cx="3657600" cy="320040"/>
          </a:xfrm>
          <a:prstGeom prst="rect">
            <a:avLst/>
          </a:prstGeom>
          <a:noFill/>
          <a:ln/>
        </p:spPr>
        <p:txBody>
          <a:bodyPr wrap="square" lIns="0" tIns="0" rIns="0" bIns="0" rtlCol="0" anchor="ctr"/>
          <a:lstStyle/>
          <a:p>
            <a:pPr marL="0" indent="0">
              <a:buNone/>
            </a:pPr>
            <a:r>
              <a:rPr lang="es-ES" sz="1300" b="1" noProof="0" dirty="0">
                <a:solidFill>
                  <a:srgbClr val="2A9D8F"/>
                </a:solidFill>
                <a:latin typeface="Calibri" pitchFamily="34" charset="0"/>
                <a:ea typeface="Calibri" pitchFamily="34" charset="-122"/>
                <a:cs typeface="Calibri" pitchFamily="34" charset="-120"/>
              </a:rPr>
              <a:t>Variables NUMÉRICAS</a:t>
            </a:r>
            <a:endParaRPr lang="es-ES" sz="1300" noProof="0" dirty="0"/>
          </a:p>
        </p:txBody>
      </p:sp>
      <p:sp>
        <p:nvSpPr>
          <p:cNvPr id="7" name="Shape 5"/>
          <p:cNvSpPr/>
          <p:nvPr/>
        </p:nvSpPr>
        <p:spPr>
          <a:xfrm>
            <a:off x="777240" y="2834640"/>
            <a:ext cx="1874520" cy="731520"/>
          </a:xfrm>
          <a:prstGeom prst="roundRect">
            <a:avLst>
              <a:gd name="adj" fmla="val 7500"/>
            </a:avLst>
          </a:prstGeom>
          <a:solidFill>
            <a:srgbClr val="12324F"/>
          </a:solidFill>
          <a:ln/>
        </p:spPr>
        <p:txBody>
          <a:bodyPr/>
          <a:lstStyle/>
          <a:p>
            <a:endParaRPr lang="es-ES" noProof="0" dirty="0"/>
          </a:p>
        </p:txBody>
      </p:sp>
      <p:sp>
        <p:nvSpPr>
          <p:cNvPr id="8" name="Text 6"/>
          <p:cNvSpPr txBox="1"/>
          <p:nvPr/>
        </p:nvSpPr>
        <p:spPr>
          <a:xfrm>
            <a:off x="777240" y="2834640"/>
            <a:ext cx="1874520" cy="731520"/>
          </a:xfrm>
          <a:prstGeom prst="rect">
            <a:avLst/>
          </a:prstGeom>
          <a:noFill/>
          <a:ln/>
        </p:spPr>
        <p:txBody>
          <a:bodyPr wrap="square" rtlCol="0" anchor="ctr"/>
          <a:lstStyle/>
          <a:p>
            <a:pPr marL="0" indent="0" algn="ctr">
              <a:lnSpc>
                <a:spcPts val="1300"/>
              </a:lnSpc>
              <a:buNone/>
            </a:pPr>
            <a:r>
              <a:rPr lang="es-ES" sz="1150" noProof="0" dirty="0">
                <a:solidFill>
                  <a:srgbClr val="FFFFFF"/>
                </a:solidFill>
                <a:latin typeface="Calibri" pitchFamily="34" charset="0"/>
                <a:ea typeface="Calibri" pitchFamily="34" charset="-122"/>
                <a:cs typeface="Calibri" pitchFamily="34" charset="-120"/>
              </a:rPr>
              <a:t>Imputar</a:t>
            </a:r>
            <a:endParaRPr lang="es-ES" sz="1150" noProof="0" dirty="0"/>
          </a:p>
          <a:p>
            <a:pPr marL="0" indent="0" algn="ctr">
              <a:lnSpc>
                <a:spcPts val="1300"/>
              </a:lnSpc>
              <a:buNone/>
            </a:pPr>
            <a:r>
              <a:rPr lang="es-ES" sz="1150" noProof="0" dirty="0">
                <a:solidFill>
                  <a:srgbClr val="FFFFFF"/>
                </a:solidFill>
                <a:latin typeface="Calibri" pitchFamily="34" charset="0"/>
                <a:ea typeface="Calibri" pitchFamily="34" charset="-122"/>
                <a:cs typeface="Calibri" pitchFamily="34" charset="-120"/>
              </a:rPr>
              <a:t>(mediana)</a:t>
            </a:r>
            <a:endParaRPr lang="es-ES" sz="1150" noProof="0" dirty="0"/>
          </a:p>
        </p:txBody>
      </p:sp>
      <p:sp>
        <p:nvSpPr>
          <p:cNvPr id="9" name="Text 7"/>
          <p:cNvSpPr txBox="1"/>
          <p:nvPr/>
        </p:nvSpPr>
        <p:spPr>
          <a:xfrm>
            <a:off x="2606040" y="2834640"/>
            <a:ext cx="320040" cy="731520"/>
          </a:xfrm>
          <a:prstGeom prst="rect">
            <a:avLst/>
          </a:prstGeom>
          <a:noFill/>
          <a:ln/>
        </p:spPr>
        <p:txBody>
          <a:bodyPr wrap="square" rtlCol="0" anchor="ctr"/>
          <a:lstStyle/>
          <a:p>
            <a:pPr marL="0" indent="0" algn="ctr">
              <a:buNone/>
            </a:pPr>
            <a:r>
              <a:rPr lang="es-ES" sz="2000" b="1" noProof="0" dirty="0">
                <a:solidFill>
                  <a:srgbClr val="8A97A5"/>
                </a:solidFill>
                <a:latin typeface="Calibri" pitchFamily="34" charset="0"/>
                <a:ea typeface="Calibri" pitchFamily="34" charset="-122"/>
                <a:cs typeface="Calibri" pitchFamily="34" charset="-120"/>
              </a:rPr>
              <a:t>→</a:t>
            </a:r>
            <a:endParaRPr lang="es-ES" sz="2000" noProof="0" dirty="0"/>
          </a:p>
        </p:txBody>
      </p:sp>
      <p:sp>
        <p:nvSpPr>
          <p:cNvPr id="10" name="Shape 8"/>
          <p:cNvSpPr/>
          <p:nvPr/>
        </p:nvSpPr>
        <p:spPr>
          <a:xfrm>
            <a:off x="2926080" y="2834640"/>
            <a:ext cx="1874520" cy="731520"/>
          </a:xfrm>
          <a:prstGeom prst="roundRect">
            <a:avLst>
              <a:gd name="adj" fmla="val 7500"/>
            </a:avLst>
          </a:prstGeom>
          <a:solidFill>
            <a:srgbClr val="12324F"/>
          </a:solidFill>
          <a:ln/>
        </p:spPr>
        <p:txBody>
          <a:bodyPr/>
          <a:lstStyle/>
          <a:p>
            <a:endParaRPr lang="es-ES" noProof="0" dirty="0"/>
          </a:p>
        </p:txBody>
      </p:sp>
      <p:sp>
        <p:nvSpPr>
          <p:cNvPr id="11" name="Text 9"/>
          <p:cNvSpPr txBox="1"/>
          <p:nvPr/>
        </p:nvSpPr>
        <p:spPr>
          <a:xfrm>
            <a:off x="2926080" y="2834640"/>
            <a:ext cx="1874520" cy="731520"/>
          </a:xfrm>
          <a:prstGeom prst="rect">
            <a:avLst/>
          </a:prstGeom>
          <a:noFill/>
          <a:ln/>
        </p:spPr>
        <p:txBody>
          <a:bodyPr wrap="square" rtlCol="0" anchor="ctr"/>
          <a:lstStyle/>
          <a:p>
            <a:pPr marL="0" indent="0" algn="ctr">
              <a:lnSpc>
                <a:spcPts val="1300"/>
              </a:lnSpc>
              <a:buNone/>
            </a:pPr>
            <a:r>
              <a:rPr lang="es-ES" sz="1150" noProof="0" dirty="0">
                <a:solidFill>
                  <a:srgbClr val="FFFFFF"/>
                </a:solidFill>
                <a:latin typeface="Calibri" pitchFamily="34" charset="0"/>
                <a:ea typeface="Calibri" pitchFamily="34" charset="-122"/>
                <a:cs typeface="Calibri" pitchFamily="34" charset="-120"/>
              </a:rPr>
              <a:t>Acotar </a:t>
            </a:r>
            <a:r>
              <a:rPr lang="es-ES" sz="1150" noProof="0" dirty="0" err="1">
                <a:solidFill>
                  <a:srgbClr val="FFFFFF"/>
                </a:solidFill>
                <a:latin typeface="Calibri" pitchFamily="34" charset="0"/>
                <a:ea typeface="Calibri" pitchFamily="34" charset="-122"/>
                <a:cs typeface="Calibri" pitchFamily="34" charset="-120"/>
              </a:rPr>
              <a:t>outliers</a:t>
            </a:r>
            <a:endParaRPr lang="es-ES" sz="1150" noProof="0" dirty="0"/>
          </a:p>
          <a:p>
            <a:pPr marL="0" indent="0" algn="ctr">
              <a:lnSpc>
                <a:spcPts val="1300"/>
              </a:lnSpc>
              <a:buNone/>
            </a:pPr>
            <a:r>
              <a:rPr lang="es-ES" sz="1150" noProof="0" dirty="0">
                <a:solidFill>
                  <a:srgbClr val="FFFFFF"/>
                </a:solidFill>
                <a:latin typeface="Calibri" pitchFamily="34" charset="0"/>
                <a:ea typeface="Calibri" pitchFamily="34" charset="-122"/>
                <a:cs typeface="Calibri" pitchFamily="34" charset="-120"/>
              </a:rPr>
              <a:t>(IQR)</a:t>
            </a:r>
            <a:endParaRPr lang="es-ES" sz="1150" noProof="0" dirty="0"/>
          </a:p>
        </p:txBody>
      </p:sp>
      <p:sp>
        <p:nvSpPr>
          <p:cNvPr id="12" name="Text 10"/>
          <p:cNvSpPr txBox="1"/>
          <p:nvPr/>
        </p:nvSpPr>
        <p:spPr>
          <a:xfrm>
            <a:off x="4754880" y="2834640"/>
            <a:ext cx="320040" cy="731520"/>
          </a:xfrm>
          <a:prstGeom prst="rect">
            <a:avLst/>
          </a:prstGeom>
          <a:noFill/>
          <a:ln/>
        </p:spPr>
        <p:txBody>
          <a:bodyPr wrap="square" rtlCol="0" anchor="ctr"/>
          <a:lstStyle/>
          <a:p>
            <a:pPr marL="0" indent="0" algn="ctr">
              <a:buNone/>
            </a:pPr>
            <a:r>
              <a:rPr lang="es-ES" sz="2000" b="1" noProof="0" dirty="0">
                <a:solidFill>
                  <a:srgbClr val="8A97A5"/>
                </a:solidFill>
                <a:latin typeface="Calibri" pitchFamily="34" charset="0"/>
                <a:ea typeface="Calibri" pitchFamily="34" charset="-122"/>
                <a:cs typeface="Calibri" pitchFamily="34" charset="-120"/>
              </a:rPr>
              <a:t>→</a:t>
            </a:r>
            <a:endParaRPr lang="es-ES" sz="2000" noProof="0" dirty="0"/>
          </a:p>
        </p:txBody>
      </p:sp>
      <p:sp>
        <p:nvSpPr>
          <p:cNvPr id="13" name="Shape 11"/>
          <p:cNvSpPr/>
          <p:nvPr/>
        </p:nvSpPr>
        <p:spPr>
          <a:xfrm>
            <a:off x="5074920" y="2834640"/>
            <a:ext cx="1874520" cy="731520"/>
          </a:xfrm>
          <a:prstGeom prst="roundRect">
            <a:avLst>
              <a:gd name="adj" fmla="val 7500"/>
            </a:avLst>
          </a:prstGeom>
          <a:solidFill>
            <a:srgbClr val="12324F"/>
          </a:solidFill>
          <a:ln/>
        </p:spPr>
        <p:txBody>
          <a:bodyPr/>
          <a:lstStyle/>
          <a:p>
            <a:endParaRPr lang="es-ES" noProof="0" dirty="0"/>
          </a:p>
        </p:txBody>
      </p:sp>
      <p:sp>
        <p:nvSpPr>
          <p:cNvPr id="14" name="Text 12"/>
          <p:cNvSpPr txBox="1"/>
          <p:nvPr/>
        </p:nvSpPr>
        <p:spPr>
          <a:xfrm>
            <a:off x="5074920" y="2834640"/>
            <a:ext cx="1874520" cy="731520"/>
          </a:xfrm>
          <a:prstGeom prst="rect">
            <a:avLst/>
          </a:prstGeom>
          <a:noFill/>
          <a:ln/>
        </p:spPr>
        <p:txBody>
          <a:bodyPr wrap="square" rtlCol="0" anchor="ctr"/>
          <a:lstStyle/>
          <a:p>
            <a:pPr marL="0" indent="0" algn="ctr">
              <a:lnSpc>
                <a:spcPts val="1300"/>
              </a:lnSpc>
              <a:buNone/>
            </a:pPr>
            <a:r>
              <a:rPr lang="es-ES" sz="1150" noProof="0" dirty="0">
                <a:solidFill>
                  <a:srgbClr val="FFFFFF"/>
                </a:solidFill>
                <a:latin typeface="Calibri" pitchFamily="34" charset="0"/>
                <a:ea typeface="Calibri" pitchFamily="34" charset="-122"/>
                <a:cs typeface="Calibri" pitchFamily="34" charset="-120"/>
              </a:rPr>
              <a:t>Estandarizar</a:t>
            </a:r>
            <a:endParaRPr lang="es-ES" sz="1150" noProof="0" dirty="0"/>
          </a:p>
          <a:p>
            <a:pPr marL="0" indent="0" algn="ctr">
              <a:lnSpc>
                <a:spcPts val="1300"/>
              </a:lnSpc>
              <a:buNone/>
            </a:pPr>
            <a:r>
              <a:rPr lang="es-ES" sz="1150" noProof="0" dirty="0">
                <a:solidFill>
                  <a:srgbClr val="FFFFFF"/>
                </a:solidFill>
                <a:latin typeface="Calibri" pitchFamily="34" charset="0"/>
                <a:ea typeface="Calibri" pitchFamily="34" charset="-122"/>
                <a:cs typeface="Calibri" pitchFamily="34" charset="-120"/>
              </a:rPr>
              <a:t>(</a:t>
            </a:r>
            <a:r>
              <a:rPr lang="es-ES" sz="1150" noProof="0" dirty="0" err="1">
                <a:solidFill>
                  <a:srgbClr val="FFFFFF"/>
                </a:solidFill>
                <a:latin typeface="Calibri" pitchFamily="34" charset="0"/>
                <a:ea typeface="Calibri" pitchFamily="34" charset="-122"/>
                <a:cs typeface="Calibri" pitchFamily="34" charset="-120"/>
              </a:rPr>
              <a:t>StandardScaler</a:t>
            </a:r>
            <a:r>
              <a:rPr lang="es-ES" sz="1150" noProof="0" dirty="0">
                <a:solidFill>
                  <a:srgbClr val="FFFFFF"/>
                </a:solidFill>
                <a:latin typeface="Calibri" pitchFamily="34" charset="0"/>
                <a:ea typeface="Calibri" pitchFamily="34" charset="-122"/>
                <a:cs typeface="Calibri" pitchFamily="34" charset="-120"/>
              </a:rPr>
              <a:t>)</a:t>
            </a:r>
            <a:endParaRPr lang="es-ES" sz="1150" noProof="0" dirty="0"/>
          </a:p>
        </p:txBody>
      </p:sp>
      <p:sp>
        <p:nvSpPr>
          <p:cNvPr id="15" name="Shape 13"/>
          <p:cNvSpPr/>
          <p:nvPr/>
        </p:nvSpPr>
        <p:spPr>
          <a:xfrm>
            <a:off x="548640" y="3931920"/>
            <a:ext cx="6766560" cy="1417320"/>
          </a:xfrm>
          <a:prstGeom prst="roundRect">
            <a:avLst>
              <a:gd name="adj" fmla="val 6452"/>
            </a:avLst>
          </a:prstGeom>
          <a:solidFill>
            <a:srgbClr val="F4F6F8"/>
          </a:solidFill>
          <a:ln w="12700">
            <a:solidFill>
              <a:srgbClr val="D8DEE3"/>
            </a:solidFill>
            <a:prstDash val="solid"/>
          </a:ln>
        </p:spPr>
        <p:txBody>
          <a:bodyPr/>
          <a:lstStyle/>
          <a:p>
            <a:endParaRPr lang="es-ES" noProof="0" dirty="0"/>
          </a:p>
        </p:txBody>
      </p:sp>
      <p:sp>
        <p:nvSpPr>
          <p:cNvPr id="16" name="Text 14"/>
          <p:cNvSpPr txBox="1"/>
          <p:nvPr/>
        </p:nvSpPr>
        <p:spPr>
          <a:xfrm>
            <a:off x="777240" y="4069080"/>
            <a:ext cx="3657600" cy="320040"/>
          </a:xfrm>
          <a:prstGeom prst="rect">
            <a:avLst/>
          </a:prstGeom>
          <a:noFill/>
          <a:ln/>
        </p:spPr>
        <p:txBody>
          <a:bodyPr wrap="square" lIns="0" tIns="0" rIns="0" bIns="0" rtlCol="0" anchor="ctr"/>
          <a:lstStyle/>
          <a:p>
            <a:pPr marL="0" indent="0">
              <a:buNone/>
            </a:pPr>
            <a:r>
              <a:rPr lang="es-ES" sz="1300" b="1" noProof="0" dirty="0">
                <a:solidFill>
                  <a:srgbClr val="E9A23B"/>
                </a:solidFill>
                <a:latin typeface="Calibri" pitchFamily="34" charset="0"/>
                <a:ea typeface="Calibri" pitchFamily="34" charset="-122"/>
                <a:cs typeface="Calibri" pitchFamily="34" charset="-120"/>
              </a:rPr>
              <a:t>Variables CATEGÓRICAS</a:t>
            </a:r>
            <a:endParaRPr lang="es-ES" sz="1300" noProof="0" dirty="0"/>
          </a:p>
        </p:txBody>
      </p:sp>
      <p:sp>
        <p:nvSpPr>
          <p:cNvPr id="17" name="Shape 15"/>
          <p:cNvSpPr/>
          <p:nvPr/>
        </p:nvSpPr>
        <p:spPr>
          <a:xfrm>
            <a:off x="777240" y="4480560"/>
            <a:ext cx="1874520" cy="731520"/>
          </a:xfrm>
          <a:prstGeom prst="roundRect">
            <a:avLst>
              <a:gd name="adj" fmla="val 7500"/>
            </a:avLst>
          </a:prstGeom>
          <a:solidFill>
            <a:srgbClr val="1B4568"/>
          </a:solidFill>
          <a:ln/>
        </p:spPr>
        <p:txBody>
          <a:bodyPr/>
          <a:lstStyle/>
          <a:p>
            <a:endParaRPr lang="es-ES" noProof="0" dirty="0"/>
          </a:p>
        </p:txBody>
      </p:sp>
      <p:sp>
        <p:nvSpPr>
          <p:cNvPr id="18" name="Text 16"/>
          <p:cNvSpPr txBox="1"/>
          <p:nvPr/>
        </p:nvSpPr>
        <p:spPr>
          <a:xfrm>
            <a:off x="777240" y="4480560"/>
            <a:ext cx="1874520" cy="731520"/>
          </a:xfrm>
          <a:prstGeom prst="rect">
            <a:avLst/>
          </a:prstGeom>
          <a:noFill/>
          <a:ln/>
        </p:spPr>
        <p:txBody>
          <a:bodyPr wrap="square" rtlCol="0" anchor="ctr"/>
          <a:lstStyle/>
          <a:p>
            <a:pPr marL="0" indent="0" algn="ctr">
              <a:lnSpc>
                <a:spcPts val="1300"/>
              </a:lnSpc>
              <a:buNone/>
            </a:pPr>
            <a:r>
              <a:rPr lang="es-ES" sz="1150" noProof="0" dirty="0">
                <a:solidFill>
                  <a:srgbClr val="FFFFFF"/>
                </a:solidFill>
                <a:latin typeface="Calibri" pitchFamily="34" charset="0"/>
                <a:ea typeface="Calibri" pitchFamily="34" charset="-122"/>
                <a:cs typeface="Calibri" pitchFamily="34" charset="-120"/>
              </a:rPr>
              <a:t>Imputar</a:t>
            </a:r>
            <a:endParaRPr lang="es-ES" sz="1150" noProof="0" dirty="0"/>
          </a:p>
          <a:p>
            <a:pPr marL="0" indent="0" algn="ctr">
              <a:lnSpc>
                <a:spcPts val="1300"/>
              </a:lnSpc>
              <a:buNone/>
            </a:pPr>
            <a:r>
              <a:rPr lang="es-ES" sz="1150" noProof="0" dirty="0">
                <a:solidFill>
                  <a:srgbClr val="FFFFFF"/>
                </a:solidFill>
                <a:latin typeface="Calibri" pitchFamily="34" charset="0"/>
                <a:ea typeface="Calibri" pitchFamily="34" charset="-122"/>
                <a:cs typeface="Calibri" pitchFamily="34" charset="-120"/>
              </a:rPr>
              <a:t>(moda)</a:t>
            </a:r>
            <a:endParaRPr lang="es-ES" sz="1150" noProof="0" dirty="0"/>
          </a:p>
        </p:txBody>
      </p:sp>
      <p:sp>
        <p:nvSpPr>
          <p:cNvPr id="19" name="Text 17"/>
          <p:cNvSpPr txBox="1"/>
          <p:nvPr/>
        </p:nvSpPr>
        <p:spPr>
          <a:xfrm>
            <a:off x="2606040" y="4480560"/>
            <a:ext cx="320040" cy="731520"/>
          </a:xfrm>
          <a:prstGeom prst="rect">
            <a:avLst/>
          </a:prstGeom>
          <a:noFill/>
          <a:ln/>
        </p:spPr>
        <p:txBody>
          <a:bodyPr wrap="square" rtlCol="0" anchor="ctr"/>
          <a:lstStyle/>
          <a:p>
            <a:pPr marL="0" indent="0" algn="ctr">
              <a:buNone/>
            </a:pPr>
            <a:r>
              <a:rPr lang="es-ES" sz="2000" b="1" noProof="0" dirty="0">
                <a:solidFill>
                  <a:srgbClr val="8A97A5"/>
                </a:solidFill>
                <a:latin typeface="Calibri" pitchFamily="34" charset="0"/>
                <a:ea typeface="Calibri" pitchFamily="34" charset="-122"/>
                <a:cs typeface="Calibri" pitchFamily="34" charset="-120"/>
              </a:rPr>
              <a:t>→</a:t>
            </a:r>
            <a:endParaRPr lang="es-ES" sz="2000" noProof="0" dirty="0"/>
          </a:p>
        </p:txBody>
      </p:sp>
      <p:sp>
        <p:nvSpPr>
          <p:cNvPr id="20" name="Shape 18"/>
          <p:cNvSpPr/>
          <p:nvPr/>
        </p:nvSpPr>
        <p:spPr>
          <a:xfrm>
            <a:off x="2926080" y="4480560"/>
            <a:ext cx="1874520" cy="731520"/>
          </a:xfrm>
          <a:prstGeom prst="roundRect">
            <a:avLst>
              <a:gd name="adj" fmla="val 7500"/>
            </a:avLst>
          </a:prstGeom>
          <a:solidFill>
            <a:srgbClr val="1B4568"/>
          </a:solidFill>
          <a:ln/>
        </p:spPr>
        <p:txBody>
          <a:bodyPr/>
          <a:lstStyle/>
          <a:p>
            <a:endParaRPr lang="es-ES" noProof="0" dirty="0"/>
          </a:p>
        </p:txBody>
      </p:sp>
      <p:sp>
        <p:nvSpPr>
          <p:cNvPr id="21" name="Text 19"/>
          <p:cNvSpPr txBox="1"/>
          <p:nvPr/>
        </p:nvSpPr>
        <p:spPr>
          <a:xfrm>
            <a:off x="2926080" y="4480560"/>
            <a:ext cx="1874520" cy="731520"/>
          </a:xfrm>
          <a:prstGeom prst="rect">
            <a:avLst/>
          </a:prstGeom>
          <a:noFill/>
          <a:ln/>
        </p:spPr>
        <p:txBody>
          <a:bodyPr wrap="square" rtlCol="0" anchor="ctr"/>
          <a:lstStyle/>
          <a:p>
            <a:pPr marL="0" indent="0" algn="ctr">
              <a:lnSpc>
                <a:spcPts val="1300"/>
              </a:lnSpc>
              <a:buNone/>
            </a:pPr>
            <a:r>
              <a:rPr lang="es-ES" sz="1150" noProof="0" dirty="0">
                <a:solidFill>
                  <a:srgbClr val="FFFFFF"/>
                </a:solidFill>
                <a:latin typeface="Calibri" pitchFamily="34" charset="0"/>
                <a:ea typeface="Calibri" pitchFamily="34" charset="-122"/>
                <a:cs typeface="Calibri" pitchFamily="34" charset="-120"/>
              </a:rPr>
              <a:t>Codificar</a:t>
            </a:r>
            <a:endParaRPr lang="es-ES" sz="1150" noProof="0" dirty="0"/>
          </a:p>
          <a:p>
            <a:pPr marL="0" indent="0" algn="ctr">
              <a:lnSpc>
                <a:spcPts val="1300"/>
              </a:lnSpc>
              <a:buNone/>
            </a:pPr>
            <a:r>
              <a:rPr lang="es-ES" sz="1150" noProof="0" dirty="0">
                <a:solidFill>
                  <a:srgbClr val="FFFFFF"/>
                </a:solidFill>
                <a:latin typeface="Calibri" pitchFamily="34" charset="0"/>
                <a:ea typeface="Calibri" pitchFamily="34" charset="-122"/>
                <a:cs typeface="Calibri" pitchFamily="34" charset="-120"/>
              </a:rPr>
              <a:t>(One-Hot)</a:t>
            </a:r>
            <a:endParaRPr lang="es-ES" sz="1150" noProof="0" dirty="0"/>
          </a:p>
        </p:txBody>
      </p:sp>
      <p:sp>
        <p:nvSpPr>
          <p:cNvPr id="22" name="Shape 20"/>
          <p:cNvSpPr/>
          <p:nvPr/>
        </p:nvSpPr>
        <p:spPr>
          <a:xfrm>
            <a:off x="7635240" y="2286000"/>
            <a:ext cx="3977640" cy="3063240"/>
          </a:xfrm>
          <a:prstGeom prst="roundRect">
            <a:avLst>
              <a:gd name="adj" fmla="val 2985"/>
            </a:avLst>
          </a:prstGeom>
          <a:solidFill>
            <a:srgbClr val="12324F"/>
          </a:solidFill>
          <a:ln/>
        </p:spPr>
        <p:txBody>
          <a:bodyPr/>
          <a:lstStyle/>
          <a:p>
            <a:endParaRPr lang="es-ES" noProof="0" dirty="0"/>
          </a:p>
        </p:txBody>
      </p:sp>
      <p:sp>
        <p:nvSpPr>
          <p:cNvPr id="23" name="Text 21"/>
          <p:cNvSpPr txBox="1"/>
          <p:nvPr/>
        </p:nvSpPr>
        <p:spPr>
          <a:xfrm>
            <a:off x="7863840" y="2560320"/>
            <a:ext cx="3474720" cy="457200"/>
          </a:xfrm>
          <a:prstGeom prst="rect">
            <a:avLst/>
          </a:prstGeom>
          <a:noFill/>
          <a:ln/>
        </p:spPr>
        <p:txBody>
          <a:bodyPr wrap="square" lIns="0" tIns="0" rIns="0" bIns="0" rtlCol="0" anchor="ctr"/>
          <a:lstStyle/>
          <a:p>
            <a:pPr marL="0" indent="0">
              <a:buNone/>
            </a:pPr>
            <a:r>
              <a:rPr lang="es-ES" sz="2200" b="1" noProof="0" dirty="0" err="1">
                <a:solidFill>
                  <a:srgbClr val="FFFFFF"/>
                </a:solidFill>
                <a:latin typeface="Cambria" pitchFamily="34" charset="0"/>
                <a:ea typeface="Cambria" pitchFamily="34" charset="-122"/>
                <a:cs typeface="Cambria" pitchFamily="34" charset="-120"/>
              </a:rPr>
              <a:t>FinalGrade</a:t>
            </a:r>
            <a:endParaRPr lang="es-ES" sz="2200" noProof="0" dirty="0"/>
          </a:p>
        </p:txBody>
      </p:sp>
      <p:sp>
        <p:nvSpPr>
          <p:cNvPr id="24" name="Text 22"/>
          <p:cNvSpPr txBox="1"/>
          <p:nvPr/>
        </p:nvSpPr>
        <p:spPr>
          <a:xfrm>
            <a:off x="7863840" y="3017520"/>
            <a:ext cx="3474720" cy="365760"/>
          </a:xfrm>
          <a:prstGeom prst="rect">
            <a:avLst/>
          </a:prstGeom>
          <a:noFill/>
          <a:ln/>
        </p:spPr>
        <p:txBody>
          <a:bodyPr wrap="square" lIns="0" tIns="0" rIns="0" bIns="0" rtlCol="0" anchor="ctr"/>
          <a:lstStyle/>
          <a:p>
            <a:pPr marL="0" indent="0">
              <a:buNone/>
            </a:pPr>
            <a:r>
              <a:rPr lang="es-ES" sz="1400" b="1" noProof="0" dirty="0">
                <a:solidFill>
                  <a:srgbClr val="2A9D8F"/>
                </a:solidFill>
                <a:latin typeface="Calibri" pitchFamily="34" charset="0"/>
                <a:ea typeface="Calibri" pitchFamily="34" charset="-122"/>
                <a:cs typeface="Calibri" pitchFamily="34" charset="-120"/>
              </a:rPr>
              <a:t>se mantiene SEPARADA</a:t>
            </a:r>
            <a:endParaRPr lang="es-ES" sz="1400" noProof="0" dirty="0"/>
          </a:p>
        </p:txBody>
      </p:sp>
      <p:sp>
        <p:nvSpPr>
          <p:cNvPr id="25" name="Text 23"/>
          <p:cNvSpPr txBox="1"/>
          <p:nvPr/>
        </p:nvSpPr>
        <p:spPr>
          <a:xfrm>
            <a:off x="7863840" y="3474720"/>
            <a:ext cx="3520440" cy="1463040"/>
          </a:xfrm>
          <a:prstGeom prst="rect">
            <a:avLst/>
          </a:prstGeom>
          <a:noFill/>
          <a:ln/>
        </p:spPr>
        <p:txBody>
          <a:bodyPr wrap="square" lIns="0" tIns="0" rIns="0" bIns="0" rtlCol="0" anchor="ctr"/>
          <a:lstStyle/>
          <a:p>
            <a:pPr marL="0" indent="0">
              <a:lnSpc>
                <a:spcPts val="1900"/>
              </a:lnSpc>
              <a:buNone/>
            </a:pPr>
            <a:r>
              <a:rPr lang="es-ES" sz="1350" noProof="0" dirty="0">
                <a:solidFill>
                  <a:srgbClr val="CADCFC"/>
                </a:solidFill>
                <a:latin typeface="Calibri" pitchFamily="34" charset="0"/>
                <a:ea typeface="Calibri" pitchFamily="34" charset="-122"/>
                <a:cs typeface="Calibri" pitchFamily="34" charset="-120"/>
              </a:rPr>
              <a:t>Es la variable objetivo de los futuros modelos predictivos, por eso no se transforma con las demás variables.</a:t>
            </a:r>
            <a:endParaRPr lang="es-ES" sz="1350" noProof="0" dirty="0"/>
          </a:p>
        </p:txBody>
      </p:sp>
      <p:sp>
        <p:nvSpPr>
          <p:cNvPr id="26" name="Text 24"/>
          <p:cNvSpPr txBox="1"/>
          <p:nvPr/>
        </p:nvSpPr>
        <p:spPr>
          <a:xfrm>
            <a:off x="548640" y="5480050"/>
            <a:ext cx="6766560" cy="640080"/>
          </a:xfrm>
          <a:prstGeom prst="rect">
            <a:avLst/>
          </a:prstGeom>
          <a:noFill/>
          <a:ln/>
        </p:spPr>
        <p:txBody>
          <a:bodyPr wrap="square" lIns="0" tIns="0" rIns="0" bIns="0" rtlCol="0" anchor="t"/>
          <a:lstStyle/>
          <a:p>
            <a:pPr marL="0" indent="0">
              <a:lnSpc>
                <a:spcPts val="1500"/>
              </a:lnSpc>
              <a:buNone/>
            </a:pPr>
            <a:r>
              <a:rPr lang="es-ES" sz="1150" i="1" noProof="0" dirty="0">
                <a:solidFill>
                  <a:srgbClr val="6B7684"/>
                </a:solidFill>
                <a:latin typeface="Calibri" pitchFamily="34" charset="0"/>
                <a:ea typeface="Calibri" pitchFamily="34" charset="-122"/>
                <a:cs typeface="Calibri" pitchFamily="34" charset="-120"/>
              </a:rPr>
              <a:t>En palabras simples: el pipeline es una receta automática. Cada variable sigue siempre los mismos pasos, en el mismo orden, así el resultado es el mismo sin importar quién lo ejecute.</a:t>
            </a:r>
            <a:endParaRPr lang="es-ES" sz="1150" i="1"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marL="0" indent="0">
              <a:buNone/>
            </a:pPr>
            <a:r>
              <a:rPr lang="es-ES" sz="1200" b="1" kern="0" spc="200" noProof="0" dirty="0">
                <a:solidFill>
                  <a:srgbClr val="2A9D8F"/>
                </a:solidFill>
                <a:latin typeface="Calibri" pitchFamily="34" charset="0"/>
                <a:ea typeface="Calibri" pitchFamily="34" charset="-122"/>
                <a:cs typeface="Calibri" pitchFamily="34" charset="-120"/>
              </a:rPr>
              <a:t>RESULTADOS DEL EDA</a:t>
            </a:r>
            <a:endParaRPr lang="es-ES" sz="1200" noProof="0" dirty="0"/>
          </a:p>
        </p:txBody>
      </p:sp>
      <p:sp>
        <p:nvSpPr>
          <p:cNvPr id="3" name="Text 1"/>
          <p:cNvSpPr txBox="1"/>
          <p:nvPr/>
        </p:nvSpPr>
        <p:spPr>
          <a:xfrm>
            <a:off x="548640" y="777240"/>
            <a:ext cx="10972800" cy="640080"/>
          </a:xfrm>
          <a:prstGeom prst="rect">
            <a:avLst/>
          </a:prstGeom>
          <a:noFill/>
          <a:ln/>
        </p:spPr>
        <p:txBody>
          <a:bodyPr wrap="square" lIns="0" tIns="0" rIns="0" bIns="0" rtlCol="0" anchor="ctr"/>
          <a:lstStyle/>
          <a:p>
            <a:pPr marL="0" indent="0">
              <a:buNone/>
            </a:pPr>
            <a:r>
              <a:rPr lang="es-ES" sz="3200" b="1" noProof="0" dirty="0">
                <a:solidFill>
                  <a:srgbClr val="12324F"/>
                </a:solidFill>
                <a:latin typeface="Cambria" pitchFamily="34" charset="0"/>
                <a:ea typeface="Cambria" pitchFamily="34" charset="-122"/>
                <a:cs typeface="Cambria" pitchFamily="34" charset="-120"/>
              </a:rPr>
              <a:t>Qué dicen los datos</a:t>
            </a:r>
            <a:endParaRPr lang="es-ES" sz="3200" noProof="0" dirty="0"/>
          </a:p>
        </p:txBody>
      </p:sp>
      <p:sp>
        <p:nvSpPr>
          <p:cNvPr id="4" name="Shape 2"/>
          <p:cNvSpPr/>
          <p:nvPr/>
        </p:nvSpPr>
        <p:spPr>
          <a:xfrm>
            <a:off x="548640" y="1600200"/>
            <a:ext cx="3703320" cy="2788920"/>
          </a:xfrm>
          <a:prstGeom prst="roundRect">
            <a:avLst>
              <a:gd name="adj" fmla="val 2623"/>
            </a:avLst>
          </a:prstGeom>
          <a:solidFill>
            <a:srgbClr val="FFFFFF"/>
          </a:solidFill>
          <a:ln w="12700">
            <a:solidFill>
              <a:srgbClr val="E1E6EA"/>
            </a:solidFill>
            <a:prstDash val="solid"/>
          </a:ln>
          <a:effectLst>
            <a:outerShdw blurRad="101600" dist="38100" dir="5400000" algn="bl" rotWithShape="0">
              <a:srgbClr val="9AA6B2">
                <a:alpha val="28000"/>
              </a:srgbClr>
            </a:outerShdw>
          </a:effectLst>
        </p:spPr>
        <p:txBody>
          <a:bodyPr/>
          <a:lstStyle/>
          <a:p>
            <a:endParaRPr lang="es-ES" noProof="0" dirty="0"/>
          </a:p>
        </p:txBody>
      </p:sp>
      <p:sp>
        <p:nvSpPr>
          <p:cNvPr id="5" name="Text 3"/>
          <p:cNvSpPr txBox="1"/>
          <p:nvPr/>
        </p:nvSpPr>
        <p:spPr>
          <a:xfrm>
            <a:off x="731520" y="1709928"/>
            <a:ext cx="3337560" cy="320040"/>
          </a:xfrm>
          <a:prstGeom prst="rect">
            <a:avLst/>
          </a:prstGeom>
          <a:noFill/>
          <a:ln/>
        </p:spPr>
        <p:txBody>
          <a:bodyPr wrap="square" lIns="0" tIns="0" rIns="0" bIns="0" rtlCol="0" anchor="ctr"/>
          <a:lstStyle/>
          <a:p>
            <a:pPr marL="0" indent="0">
              <a:buNone/>
            </a:pPr>
            <a:r>
              <a:rPr lang="es-ES" sz="1250" b="1" noProof="0" dirty="0">
                <a:solidFill>
                  <a:srgbClr val="12324F"/>
                </a:solidFill>
                <a:latin typeface="Calibri" pitchFamily="34" charset="0"/>
                <a:ea typeface="Calibri" pitchFamily="34" charset="-122"/>
                <a:cs typeface="Calibri" pitchFamily="34" charset="-120"/>
              </a:rPr>
              <a:t>Asistencia vs nota</a:t>
            </a:r>
            <a:endParaRPr lang="es-ES" sz="1250" noProof="0" dirty="0"/>
          </a:p>
        </p:txBody>
      </p:sp>
      <p:pic>
        <p:nvPicPr>
          <p:cNvPr id="6" name="Image 0" descr="/tmp/deckimg/attendance.png"/>
          <p:cNvPicPr>
            <a:picLocks noChangeAspect="1"/>
          </p:cNvPicPr>
          <p:nvPr/>
        </p:nvPicPr>
        <p:blipFill>
          <a:blip r:embed="rId3"/>
          <a:stretch>
            <a:fillRect/>
          </a:stretch>
        </p:blipFill>
        <p:spPr>
          <a:xfrm>
            <a:off x="685800" y="2057400"/>
            <a:ext cx="3429000" cy="2400300"/>
          </a:xfrm>
          <a:prstGeom prst="rect">
            <a:avLst/>
          </a:prstGeom>
        </p:spPr>
      </p:pic>
      <p:sp>
        <p:nvSpPr>
          <p:cNvPr id="7" name="Shape 4"/>
          <p:cNvSpPr/>
          <p:nvPr/>
        </p:nvSpPr>
        <p:spPr>
          <a:xfrm>
            <a:off x="4343400" y="1600200"/>
            <a:ext cx="3703320" cy="2788920"/>
          </a:xfrm>
          <a:prstGeom prst="roundRect">
            <a:avLst>
              <a:gd name="adj" fmla="val 2623"/>
            </a:avLst>
          </a:prstGeom>
          <a:solidFill>
            <a:srgbClr val="FFFFFF"/>
          </a:solidFill>
          <a:ln w="12700">
            <a:solidFill>
              <a:srgbClr val="E1E6EA"/>
            </a:solidFill>
            <a:prstDash val="solid"/>
          </a:ln>
          <a:effectLst>
            <a:outerShdw blurRad="101600" dist="38100" dir="5400000" algn="bl" rotWithShape="0">
              <a:srgbClr val="9AA6B2">
                <a:alpha val="28000"/>
              </a:srgbClr>
            </a:outerShdw>
          </a:effectLst>
        </p:spPr>
        <p:txBody>
          <a:bodyPr/>
          <a:lstStyle/>
          <a:p>
            <a:endParaRPr lang="es-ES" noProof="0" dirty="0"/>
          </a:p>
        </p:txBody>
      </p:sp>
      <p:sp>
        <p:nvSpPr>
          <p:cNvPr id="8" name="Text 5"/>
          <p:cNvSpPr txBox="1"/>
          <p:nvPr/>
        </p:nvSpPr>
        <p:spPr>
          <a:xfrm>
            <a:off x="4526280" y="1709928"/>
            <a:ext cx="3337560" cy="320040"/>
          </a:xfrm>
          <a:prstGeom prst="rect">
            <a:avLst/>
          </a:prstGeom>
          <a:noFill/>
          <a:ln/>
        </p:spPr>
        <p:txBody>
          <a:bodyPr wrap="square" lIns="0" tIns="0" rIns="0" bIns="0" rtlCol="0" anchor="ctr"/>
          <a:lstStyle/>
          <a:p>
            <a:pPr marL="0" indent="0">
              <a:buNone/>
            </a:pPr>
            <a:r>
              <a:rPr lang="es-ES" sz="1250" b="1" noProof="0" dirty="0">
                <a:solidFill>
                  <a:srgbClr val="12324F"/>
                </a:solidFill>
                <a:latin typeface="Calibri" pitchFamily="34" charset="0"/>
                <a:ea typeface="Calibri" pitchFamily="34" charset="-122"/>
                <a:cs typeface="Calibri" pitchFamily="34" charset="-120"/>
              </a:rPr>
              <a:t>Horas de estudio vs nota</a:t>
            </a:r>
            <a:endParaRPr lang="es-ES" sz="1250" noProof="0" dirty="0"/>
          </a:p>
        </p:txBody>
      </p:sp>
      <p:pic>
        <p:nvPicPr>
          <p:cNvPr id="9" name="Image 1" descr="/tmp/deckimg/studyhours.png"/>
          <p:cNvPicPr>
            <a:picLocks noChangeAspect="1"/>
          </p:cNvPicPr>
          <p:nvPr/>
        </p:nvPicPr>
        <p:blipFill>
          <a:blip r:embed="rId4"/>
          <a:stretch>
            <a:fillRect/>
          </a:stretch>
        </p:blipFill>
        <p:spPr>
          <a:xfrm>
            <a:off x="4480560" y="2057400"/>
            <a:ext cx="3429000" cy="2400300"/>
          </a:xfrm>
          <a:prstGeom prst="rect">
            <a:avLst/>
          </a:prstGeom>
        </p:spPr>
      </p:pic>
      <p:sp>
        <p:nvSpPr>
          <p:cNvPr id="10" name="Shape 6"/>
          <p:cNvSpPr/>
          <p:nvPr/>
        </p:nvSpPr>
        <p:spPr>
          <a:xfrm>
            <a:off x="8138160" y="1600200"/>
            <a:ext cx="3474720" cy="2788920"/>
          </a:xfrm>
          <a:prstGeom prst="roundRect">
            <a:avLst>
              <a:gd name="adj" fmla="val 2623"/>
            </a:avLst>
          </a:prstGeom>
          <a:solidFill>
            <a:srgbClr val="FFFFFF"/>
          </a:solidFill>
          <a:ln w="12700">
            <a:solidFill>
              <a:srgbClr val="E1E6EA"/>
            </a:solidFill>
            <a:prstDash val="solid"/>
          </a:ln>
          <a:effectLst>
            <a:outerShdw blurRad="101600" dist="38100" dir="5400000" algn="bl" rotWithShape="0">
              <a:srgbClr val="9AA6B2">
                <a:alpha val="28000"/>
              </a:srgbClr>
            </a:outerShdw>
          </a:effectLst>
        </p:spPr>
        <p:txBody>
          <a:bodyPr/>
          <a:lstStyle/>
          <a:p>
            <a:endParaRPr lang="es-ES" noProof="0" dirty="0"/>
          </a:p>
        </p:txBody>
      </p:sp>
      <p:sp>
        <p:nvSpPr>
          <p:cNvPr id="11" name="Text 7"/>
          <p:cNvSpPr txBox="1"/>
          <p:nvPr/>
        </p:nvSpPr>
        <p:spPr>
          <a:xfrm>
            <a:off x="8321040" y="1709928"/>
            <a:ext cx="3108960" cy="320040"/>
          </a:xfrm>
          <a:prstGeom prst="rect">
            <a:avLst/>
          </a:prstGeom>
          <a:noFill/>
          <a:ln/>
        </p:spPr>
        <p:txBody>
          <a:bodyPr wrap="square" lIns="0" tIns="0" rIns="0" bIns="0" rtlCol="0" anchor="ctr"/>
          <a:lstStyle/>
          <a:p>
            <a:pPr marL="0" indent="0">
              <a:buNone/>
            </a:pPr>
            <a:r>
              <a:rPr lang="es-ES" sz="1250" b="1" noProof="0" dirty="0">
                <a:solidFill>
                  <a:srgbClr val="12324F"/>
                </a:solidFill>
                <a:latin typeface="Calibri" pitchFamily="34" charset="0"/>
                <a:ea typeface="Calibri" pitchFamily="34" charset="-122"/>
                <a:cs typeface="Calibri" pitchFamily="34" charset="-120"/>
              </a:rPr>
              <a:t>Nota promedio por programa</a:t>
            </a:r>
            <a:endParaRPr lang="es-ES" sz="1250" noProof="0" dirty="0"/>
          </a:p>
        </p:txBody>
      </p:sp>
      <p:pic>
        <p:nvPicPr>
          <p:cNvPr id="12" name="Image 2" descr="/tmp/deckimg/programa.png"/>
          <p:cNvPicPr>
            <a:picLocks noChangeAspect="1"/>
          </p:cNvPicPr>
          <p:nvPr/>
        </p:nvPicPr>
        <p:blipFill>
          <a:blip r:embed="rId5"/>
          <a:stretch>
            <a:fillRect/>
          </a:stretch>
        </p:blipFill>
        <p:spPr>
          <a:xfrm>
            <a:off x="8275320" y="2057400"/>
            <a:ext cx="3200400" cy="2240280"/>
          </a:xfrm>
          <a:prstGeom prst="rect">
            <a:avLst/>
          </a:prstGeom>
        </p:spPr>
      </p:pic>
      <p:sp>
        <p:nvSpPr>
          <p:cNvPr id="13" name="Text 8"/>
          <p:cNvSpPr txBox="1"/>
          <p:nvPr/>
        </p:nvSpPr>
        <p:spPr>
          <a:xfrm>
            <a:off x="548640" y="4617720"/>
            <a:ext cx="11064240" cy="731520"/>
          </a:xfrm>
          <a:prstGeom prst="rect">
            <a:avLst/>
          </a:prstGeom>
          <a:noFill/>
          <a:ln/>
        </p:spPr>
        <p:txBody>
          <a:bodyPr wrap="square" lIns="0" tIns="0" rIns="0" bIns="0" rtlCol="0" anchor="ctr"/>
          <a:lstStyle/>
          <a:p>
            <a:pPr algn="just"/>
            <a:r>
              <a:rPr lang="es-ES" sz="1600" b="1" noProof="0" dirty="0">
                <a:latin typeface="Abadi" panose="020B0604020104020204" pitchFamily="34" charset="0"/>
              </a:rPr>
              <a:t>Las variables académicas muestran las asociaciones más fuertes.</a:t>
            </a:r>
            <a:r>
              <a:rPr lang="es-ES" sz="1600" noProof="0" dirty="0">
                <a:latin typeface="Abadi" panose="020B0604020104020204" pitchFamily="34" charset="0"/>
              </a:rPr>
              <a:t> Las más ligadas a la nota son tareas completadas (0,69), GPA previo (0,66), asistencia (0,64) y horas de estudio (0,58). Las variables de edad, sueño e internet presentan correlaciones muy débiles con </a:t>
            </a:r>
            <a:r>
              <a:rPr lang="es-ES" sz="1600" noProof="0" dirty="0" err="1">
                <a:latin typeface="Abadi" panose="020B0604020104020204" pitchFamily="34" charset="0"/>
              </a:rPr>
              <a:t>FinalGrade</a:t>
            </a:r>
            <a:r>
              <a:rPr lang="es-ES" sz="1600" noProof="0" dirty="0">
                <a:latin typeface="Abadi" panose="020B0604020104020204" pitchFamily="34" charset="0"/>
              </a:rPr>
              <a:t>.</a:t>
            </a:r>
            <a:endParaRPr lang="es-ES" sz="1500" noProof="0" dirty="0">
              <a:latin typeface="Abadi" panose="020B0604020104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marL="0" indent="0">
              <a:buNone/>
            </a:pPr>
            <a:r>
              <a:rPr lang="es-ES" sz="1200" b="1" kern="0" spc="200" noProof="0" dirty="0">
                <a:solidFill>
                  <a:srgbClr val="2A9D8F"/>
                </a:solidFill>
                <a:latin typeface="Calibri" pitchFamily="34" charset="0"/>
                <a:ea typeface="Calibri" pitchFamily="34" charset="-122"/>
                <a:cs typeface="Calibri" pitchFamily="34" charset="-120"/>
              </a:rPr>
              <a:t>PREGUNTAS DE INVESTIGACIÓN</a:t>
            </a:r>
            <a:endParaRPr lang="es-ES" sz="1200" noProof="0" dirty="0"/>
          </a:p>
        </p:txBody>
      </p:sp>
      <p:sp>
        <p:nvSpPr>
          <p:cNvPr id="3" name="Text 1"/>
          <p:cNvSpPr txBox="1"/>
          <p:nvPr/>
        </p:nvSpPr>
        <p:spPr>
          <a:xfrm>
            <a:off x="548640" y="777240"/>
            <a:ext cx="10972800" cy="640080"/>
          </a:xfrm>
          <a:prstGeom prst="rect">
            <a:avLst/>
          </a:prstGeom>
          <a:noFill/>
          <a:ln/>
        </p:spPr>
        <p:txBody>
          <a:bodyPr wrap="square" lIns="0" tIns="0" rIns="0" bIns="0" rtlCol="0" anchor="ctr"/>
          <a:lstStyle/>
          <a:p>
            <a:pPr marL="0" indent="0">
              <a:buNone/>
            </a:pPr>
            <a:r>
              <a:rPr lang="es-ES" sz="3200" b="1" noProof="0" dirty="0">
                <a:solidFill>
                  <a:srgbClr val="12324F"/>
                </a:solidFill>
                <a:latin typeface="Cambria" pitchFamily="34" charset="0"/>
                <a:ea typeface="Cambria" pitchFamily="34" charset="-122"/>
                <a:cs typeface="Cambria" pitchFamily="34" charset="-120"/>
              </a:rPr>
              <a:t>Respuestas del análisis</a:t>
            </a:r>
            <a:endParaRPr lang="es-ES" sz="3200" noProof="0" dirty="0"/>
          </a:p>
        </p:txBody>
      </p:sp>
      <p:sp>
        <p:nvSpPr>
          <p:cNvPr id="4" name="Shape 2"/>
          <p:cNvSpPr/>
          <p:nvPr/>
        </p:nvSpPr>
        <p:spPr>
          <a:xfrm>
            <a:off x="548640" y="1645920"/>
            <a:ext cx="5440680" cy="1920240"/>
          </a:xfrm>
          <a:prstGeom prst="roundRect">
            <a:avLst>
              <a:gd name="adj" fmla="val 4762"/>
            </a:avLst>
          </a:prstGeom>
          <a:solidFill>
            <a:srgbClr val="F4F6F8"/>
          </a:solidFill>
          <a:ln w="12700">
            <a:solidFill>
              <a:srgbClr val="E1E6EA"/>
            </a:solidFill>
            <a:prstDash val="solid"/>
          </a:ln>
        </p:spPr>
        <p:txBody>
          <a:bodyPr/>
          <a:lstStyle/>
          <a:p>
            <a:endParaRPr lang="es-ES" noProof="0" dirty="0"/>
          </a:p>
        </p:txBody>
      </p:sp>
      <p:sp>
        <p:nvSpPr>
          <p:cNvPr id="5" name="Text 3"/>
          <p:cNvSpPr txBox="1"/>
          <p:nvPr/>
        </p:nvSpPr>
        <p:spPr>
          <a:xfrm>
            <a:off x="777240" y="1847088"/>
            <a:ext cx="822960" cy="457200"/>
          </a:xfrm>
          <a:prstGeom prst="rect">
            <a:avLst/>
          </a:prstGeom>
          <a:noFill/>
          <a:ln/>
        </p:spPr>
        <p:txBody>
          <a:bodyPr wrap="square" rtlCol="0" anchor="ctr"/>
          <a:lstStyle/>
          <a:p>
            <a:pPr marL="0" indent="0">
              <a:buNone/>
            </a:pPr>
            <a:r>
              <a:rPr lang="es-ES" sz="2400" b="1" noProof="0" dirty="0">
                <a:solidFill>
                  <a:srgbClr val="2A9D8F"/>
                </a:solidFill>
                <a:latin typeface="Cambria" pitchFamily="34" charset="0"/>
                <a:ea typeface="Cambria" pitchFamily="34" charset="-122"/>
                <a:cs typeface="Cambria" pitchFamily="34" charset="-120"/>
              </a:rPr>
              <a:t>P1</a:t>
            </a:r>
            <a:endParaRPr lang="es-ES" sz="2400" noProof="0" dirty="0"/>
          </a:p>
        </p:txBody>
      </p:sp>
      <p:sp>
        <p:nvSpPr>
          <p:cNvPr id="6" name="Text 4"/>
          <p:cNvSpPr txBox="1"/>
          <p:nvPr/>
        </p:nvSpPr>
        <p:spPr>
          <a:xfrm>
            <a:off x="1600200" y="1874520"/>
            <a:ext cx="4206240" cy="365760"/>
          </a:xfrm>
          <a:prstGeom prst="rect">
            <a:avLst/>
          </a:prstGeom>
          <a:noFill/>
          <a:ln/>
        </p:spPr>
        <p:txBody>
          <a:bodyPr wrap="square" lIns="0" tIns="0" rIns="0" bIns="0" rtlCol="0" anchor="ctr"/>
          <a:lstStyle/>
          <a:p>
            <a:pPr marL="0" indent="0">
              <a:buNone/>
            </a:pPr>
            <a:r>
              <a:rPr lang="es-ES" sz="1600" b="1" noProof="0" dirty="0">
                <a:solidFill>
                  <a:srgbClr val="12324F"/>
                </a:solidFill>
                <a:latin typeface="Calibri" pitchFamily="34" charset="0"/>
                <a:ea typeface="Calibri" pitchFamily="34" charset="-122"/>
                <a:cs typeface="Calibri" pitchFamily="34" charset="-120"/>
              </a:rPr>
              <a:t>Beca</a:t>
            </a:r>
            <a:endParaRPr lang="es-ES" sz="1600" noProof="0" dirty="0"/>
          </a:p>
        </p:txBody>
      </p:sp>
      <p:sp>
        <p:nvSpPr>
          <p:cNvPr id="7" name="Text 5"/>
          <p:cNvSpPr txBox="1"/>
          <p:nvPr/>
        </p:nvSpPr>
        <p:spPr>
          <a:xfrm>
            <a:off x="804672" y="2423160"/>
            <a:ext cx="4937760" cy="640080"/>
          </a:xfrm>
          <a:prstGeom prst="rect">
            <a:avLst/>
          </a:prstGeom>
          <a:noFill/>
          <a:ln/>
        </p:spPr>
        <p:txBody>
          <a:bodyPr wrap="square" lIns="0" tIns="0" rIns="0" bIns="0" rtlCol="0" anchor="ctr"/>
          <a:lstStyle/>
          <a:p>
            <a:pPr marL="0" indent="0">
              <a:lnSpc>
                <a:spcPts val="1700"/>
              </a:lnSpc>
              <a:buNone/>
            </a:pPr>
            <a:r>
              <a:rPr lang="es-ES" sz="1350" noProof="0" dirty="0">
                <a:solidFill>
                  <a:srgbClr val="1B2733"/>
                </a:solidFill>
                <a:latin typeface="Calibri" pitchFamily="34" charset="0"/>
                <a:ea typeface="Calibri" pitchFamily="34" charset="-122"/>
                <a:cs typeface="Calibri" pitchFamily="34" charset="-120"/>
              </a:rPr>
              <a:t>Los estudiantes con beca promedian 4,37 vs 4,07 sin beca</a:t>
            </a:r>
            <a:endParaRPr lang="es-ES" sz="1350" noProof="0" dirty="0"/>
          </a:p>
        </p:txBody>
      </p:sp>
      <p:sp>
        <p:nvSpPr>
          <p:cNvPr id="8" name="Text 6"/>
          <p:cNvSpPr txBox="1"/>
          <p:nvPr/>
        </p:nvSpPr>
        <p:spPr>
          <a:xfrm>
            <a:off x="804672" y="3063240"/>
            <a:ext cx="4937760" cy="365760"/>
          </a:xfrm>
          <a:prstGeom prst="rect">
            <a:avLst/>
          </a:prstGeom>
          <a:noFill/>
          <a:ln/>
        </p:spPr>
        <p:txBody>
          <a:bodyPr wrap="square" lIns="0" tIns="0" rIns="0" bIns="0" rtlCol="0" anchor="ctr"/>
          <a:lstStyle/>
          <a:p>
            <a:pPr marL="0" indent="0">
              <a:buNone/>
            </a:pPr>
            <a:r>
              <a:rPr lang="es-ES" sz="1350" b="1" i="1" noProof="0" dirty="0">
                <a:solidFill>
                  <a:srgbClr val="E9A23B"/>
                </a:solidFill>
                <a:latin typeface="Calibri" pitchFamily="34" charset="0"/>
                <a:ea typeface="Calibri" pitchFamily="34" charset="-122"/>
                <a:cs typeface="Calibri" pitchFamily="34" charset="-120"/>
              </a:rPr>
              <a:t>+0,30 a favor de con beca</a:t>
            </a:r>
            <a:endParaRPr lang="es-ES" sz="1350" noProof="0" dirty="0"/>
          </a:p>
        </p:txBody>
      </p:sp>
      <p:sp>
        <p:nvSpPr>
          <p:cNvPr id="9" name="Shape 7"/>
          <p:cNvSpPr/>
          <p:nvPr/>
        </p:nvSpPr>
        <p:spPr>
          <a:xfrm>
            <a:off x="6172200" y="1645920"/>
            <a:ext cx="5440680" cy="1920240"/>
          </a:xfrm>
          <a:prstGeom prst="roundRect">
            <a:avLst>
              <a:gd name="adj" fmla="val 4762"/>
            </a:avLst>
          </a:prstGeom>
          <a:solidFill>
            <a:srgbClr val="F4F6F8"/>
          </a:solidFill>
          <a:ln w="12700">
            <a:solidFill>
              <a:srgbClr val="E1E6EA"/>
            </a:solidFill>
            <a:prstDash val="solid"/>
          </a:ln>
        </p:spPr>
        <p:txBody>
          <a:bodyPr/>
          <a:lstStyle/>
          <a:p>
            <a:endParaRPr lang="es-ES" noProof="0" dirty="0"/>
          </a:p>
        </p:txBody>
      </p:sp>
      <p:sp>
        <p:nvSpPr>
          <p:cNvPr id="10" name="Text 8"/>
          <p:cNvSpPr txBox="1"/>
          <p:nvPr/>
        </p:nvSpPr>
        <p:spPr>
          <a:xfrm>
            <a:off x="6400800" y="1847088"/>
            <a:ext cx="822960" cy="457200"/>
          </a:xfrm>
          <a:prstGeom prst="rect">
            <a:avLst/>
          </a:prstGeom>
          <a:noFill/>
          <a:ln/>
        </p:spPr>
        <p:txBody>
          <a:bodyPr wrap="square" rtlCol="0" anchor="ctr"/>
          <a:lstStyle/>
          <a:p>
            <a:pPr marL="0" indent="0">
              <a:buNone/>
            </a:pPr>
            <a:r>
              <a:rPr lang="es-ES" sz="2400" b="1" noProof="0" dirty="0">
                <a:solidFill>
                  <a:srgbClr val="2A9D8F"/>
                </a:solidFill>
                <a:latin typeface="Cambria" pitchFamily="34" charset="0"/>
                <a:ea typeface="Cambria" pitchFamily="34" charset="-122"/>
                <a:cs typeface="Cambria" pitchFamily="34" charset="-120"/>
              </a:rPr>
              <a:t>P2</a:t>
            </a:r>
            <a:endParaRPr lang="es-ES" sz="2400" noProof="0" dirty="0"/>
          </a:p>
        </p:txBody>
      </p:sp>
      <p:sp>
        <p:nvSpPr>
          <p:cNvPr id="11" name="Text 9"/>
          <p:cNvSpPr txBox="1"/>
          <p:nvPr/>
        </p:nvSpPr>
        <p:spPr>
          <a:xfrm>
            <a:off x="7223760" y="1874520"/>
            <a:ext cx="4206240" cy="365760"/>
          </a:xfrm>
          <a:prstGeom prst="rect">
            <a:avLst/>
          </a:prstGeom>
          <a:noFill/>
          <a:ln/>
        </p:spPr>
        <p:txBody>
          <a:bodyPr wrap="square" lIns="0" tIns="0" rIns="0" bIns="0" rtlCol="0" anchor="ctr"/>
          <a:lstStyle/>
          <a:p>
            <a:pPr marL="0" indent="0">
              <a:buNone/>
            </a:pPr>
            <a:r>
              <a:rPr lang="es-ES" sz="1600" b="1" noProof="0" dirty="0">
                <a:solidFill>
                  <a:srgbClr val="12324F"/>
                </a:solidFill>
                <a:latin typeface="Calibri" pitchFamily="34" charset="0"/>
                <a:ea typeface="Calibri" pitchFamily="34" charset="-122"/>
                <a:cs typeface="Calibri" pitchFamily="34" charset="-120"/>
              </a:rPr>
              <a:t>Programa</a:t>
            </a:r>
            <a:endParaRPr lang="es-ES" sz="1600" noProof="0" dirty="0"/>
          </a:p>
        </p:txBody>
      </p:sp>
      <p:sp>
        <p:nvSpPr>
          <p:cNvPr id="12" name="Text 10"/>
          <p:cNvSpPr txBox="1"/>
          <p:nvPr/>
        </p:nvSpPr>
        <p:spPr>
          <a:xfrm>
            <a:off x="6428232" y="2423160"/>
            <a:ext cx="4937760" cy="640080"/>
          </a:xfrm>
          <a:prstGeom prst="rect">
            <a:avLst/>
          </a:prstGeom>
          <a:noFill/>
          <a:ln/>
        </p:spPr>
        <p:txBody>
          <a:bodyPr wrap="square" lIns="0" tIns="0" rIns="0" bIns="0" rtlCol="0" anchor="ctr"/>
          <a:lstStyle/>
          <a:p>
            <a:pPr marL="0" indent="0">
              <a:lnSpc>
                <a:spcPts val="1700"/>
              </a:lnSpc>
              <a:buNone/>
            </a:pPr>
            <a:r>
              <a:rPr lang="es-ES" sz="1350" noProof="0" dirty="0">
                <a:solidFill>
                  <a:srgbClr val="1B2733"/>
                </a:solidFill>
                <a:latin typeface="Calibri" pitchFamily="34" charset="0"/>
                <a:ea typeface="Calibri" pitchFamily="34" charset="-122"/>
                <a:cs typeface="Calibri" pitchFamily="34" charset="-120"/>
              </a:rPr>
              <a:t>Mayor: Ing. Informática (4,23) · Menor: Contador Auditor (4,05)</a:t>
            </a:r>
            <a:endParaRPr lang="es-ES" sz="1350" noProof="0" dirty="0"/>
          </a:p>
        </p:txBody>
      </p:sp>
      <p:sp>
        <p:nvSpPr>
          <p:cNvPr id="13" name="Text 11"/>
          <p:cNvSpPr txBox="1"/>
          <p:nvPr/>
        </p:nvSpPr>
        <p:spPr>
          <a:xfrm>
            <a:off x="6428232" y="3063240"/>
            <a:ext cx="4937760" cy="365760"/>
          </a:xfrm>
          <a:prstGeom prst="rect">
            <a:avLst/>
          </a:prstGeom>
          <a:noFill/>
          <a:ln/>
        </p:spPr>
        <p:txBody>
          <a:bodyPr wrap="square" lIns="0" tIns="0" rIns="0" bIns="0" rtlCol="0" anchor="ctr"/>
          <a:lstStyle/>
          <a:p>
            <a:pPr marL="0" indent="0">
              <a:buNone/>
            </a:pPr>
            <a:r>
              <a:rPr lang="es-ES" sz="1350" b="1" i="1" noProof="0" dirty="0">
                <a:solidFill>
                  <a:srgbClr val="E9A23B"/>
                </a:solidFill>
                <a:latin typeface="Calibri" pitchFamily="34" charset="0"/>
                <a:ea typeface="Calibri" pitchFamily="34" charset="-122"/>
                <a:cs typeface="Calibri" pitchFamily="34" charset="-120"/>
              </a:rPr>
              <a:t>diferencia de solo 0,18</a:t>
            </a:r>
            <a:endParaRPr lang="es-ES" sz="1350" noProof="0" dirty="0"/>
          </a:p>
        </p:txBody>
      </p:sp>
      <p:sp>
        <p:nvSpPr>
          <p:cNvPr id="14" name="Shape 12"/>
          <p:cNvSpPr/>
          <p:nvPr/>
        </p:nvSpPr>
        <p:spPr>
          <a:xfrm>
            <a:off x="548640" y="3794760"/>
            <a:ext cx="5440680" cy="1920240"/>
          </a:xfrm>
          <a:prstGeom prst="roundRect">
            <a:avLst>
              <a:gd name="adj" fmla="val 4762"/>
            </a:avLst>
          </a:prstGeom>
          <a:solidFill>
            <a:srgbClr val="F4F6F8"/>
          </a:solidFill>
          <a:ln w="12700">
            <a:solidFill>
              <a:srgbClr val="E1E6EA"/>
            </a:solidFill>
            <a:prstDash val="solid"/>
          </a:ln>
        </p:spPr>
        <p:txBody>
          <a:bodyPr/>
          <a:lstStyle/>
          <a:p>
            <a:endParaRPr lang="es-ES" noProof="0" dirty="0"/>
          </a:p>
        </p:txBody>
      </p:sp>
      <p:sp>
        <p:nvSpPr>
          <p:cNvPr id="15" name="Text 13"/>
          <p:cNvSpPr txBox="1"/>
          <p:nvPr/>
        </p:nvSpPr>
        <p:spPr>
          <a:xfrm>
            <a:off x="777240" y="3995928"/>
            <a:ext cx="822960" cy="457200"/>
          </a:xfrm>
          <a:prstGeom prst="rect">
            <a:avLst/>
          </a:prstGeom>
          <a:noFill/>
          <a:ln/>
        </p:spPr>
        <p:txBody>
          <a:bodyPr wrap="square" rtlCol="0" anchor="ctr"/>
          <a:lstStyle/>
          <a:p>
            <a:pPr marL="0" indent="0">
              <a:buNone/>
            </a:pPr>
            <a:r>
              <a:rPr lang="es-ES" sz="2400" b="1" noProof="0" dirty="0">
                <a:solidFill>
                  <a:srgbClr val="2A9D8F"/>
                </a:solidFill>
                <a:latin typeface="Cambria" pitchFamily="34" charset="0"/>
                <a:ea typeface="Cambria" pitchFamily="34" charset="-122"/>
                <a:cs typeface="Cambria" pitchFamily="34" charset="-120"/>
              </a:rPr>
              <a:t>P3</a:t>
            </a:r>
            <a:endParaRPr lang="es-ES" sz="2400" noProof="0" dirty="0"/>
          </a:p>
        </p:txBody>
      </p:sp>
      <p:sp>
        <p:nvSpPr>
          <p:cNvPr id="16" name="Text 14"/>
          <p:cNvSpPr txBox="1"/>
          <p:nvPr/>
        </p:nvSpPr>
        <p:spPr>
          <a:xfrm>
            <a:off x="1600200" y="4023360"/>
            <a:ext cx="4206240" cy="365760"/>
          </a:xfrm>
          <a:prstGeom prst="rect">
            <a:avLst/>
          </a:prstGeom>
          <a:noFill/>
          <a:ln/>
        </p:spPr>
        <p:txBody>
          <a:bodyPr wrap="square" lIns="0" tIns="0" rIns="0" bIns="0" rtlCol="0" anchor="ctr"/>
          <a:lstStyle/>
          <a:p>
            <a:pPr marL="0" indent="0">
              <a:buNone/>
            </a:pPr>
            <a:r>
              <a:rPr lang="es-ES" sz="1600" b="1" noProof="0" dirty="0">
                <a:solidFill>
                  <a:srgbClr val="12324F"/>
                </a:solidFill>
                <a:latin typeface="Calibri" pitchFamily="34" charset="0"/>
                <a:ea typeface="Calibri" pitchFamily="34" charset="-122"/>
                <a:cs typeface="Calibri" pitchFamily="34" charset="-120"/>
              </a:rPr>
              <a:t>Horas de estudio</a:t>
            </a:r>
            <a:endParaRPr lang="es-ES" sz="1600" noProof="0" dirty="0"/>
          </a:p>
        </p:txBody>
      </p:sp>
      <p:sp>
        <p:nvSpPr>
          <p:cNvPr id="17" name="Text 15"/>
          <p:cNvSpPr txBox="1"/>
          <p:nvPr/>
        </p:nvSpPr>
        <p:spPr>
          <a:xfrm>
            <a:off x="804672" y="4572000"/>
            <a:ext cx="4937760" cy="640080"/>
          </a:xfrm>
          <a:prstGeom prst="rect">
            <a:avLst/>
          </a:prstGeom>
          <a:noFill/>
          <a:ln/>
        </p:spPr>
        <p:txBody>
          <a:bodyPr wrap="square" lIns="0" tIns="0" rIns="0" bIns="0" rtlCol="0" anchor="ctr"/>
          <a:lstStyle/>
          <a:p>
            <a:pPr marL="0" indent="0">
              <a:lnSpc>
                <a:spcPts val="1700"/>
              </a:lnSpc>
              <a:buNone/>
            </a:pPr>
            <a:r>
              <a:rPr lang="es-ES" sz="1350" noProof="0" dirty="0">
                <a:solidFill>
                  <a:srgbClr val="1B2733"/>
                </a:solidFill>
                <a:latin typeface="Calibri" pitchFamily="34" charset="0"/>
                <a:ea typeface="Calibri" pitchFamily="34" charset="-122"/>
                <a:cs typeface="Calibri" pitchFamily="34" charset="-120"/>
              </a:rPr>
              <a:t>Relación positiva con la nota</a:t>
            </a:r>
            <a:endParaRPr lang="es-ES" sz="1350" noProof="0" dirty="0"/>
          </a:p>
        </p:txBody>
      </p:sp>
      <p:sp>
        <p:nvSpPr>
          <p:cNvPr id="18" name="Text 16"/>
          <p:cNvSpPr txBox="1"/>
          <p:nvPr/>
        </p:nvSpPr>
        <p:spPr>
          <a:xfrm>
            <a:off x="804672" y="5212080"/>
            <a:ext cx="4937760" cy="365760"/>
          </a:xfrm>
          <a:prstGeom prst="rect">
            <a:avLst/>
          </a:prstGeom>
          <a:noFill/>
          <a:ln/>
        </p:spPr>
        <p:txBody>
          <a:bodyPr wrap="square" lIns="0" tIns="0" rIns="0" bIns="0" rtlCol="0" anchor="ctr"/>
          <a:lstStyle/>
          <a:p>
            <a:pPr marL="0" indent="0">
              <a:buNone/>
            </a:pPr>
            <a:r>
              <a:rPr lang="es-ES" sz="1350" b="1" i="1" noProof="0" dirty="0">
                <a:solidFill>
                  <a:srgbClr val="E9A23B"/>
                </a:solidFill>
                <a:latin typeface="Calibri" pitchFamily="34" charset="0"/>
                <a:ea typeface="Calibri" pitchFamily="34" charset="-122"/>
                <a:cs typeface="Calibri" pitchFamily="34" charset="-120"/>
              </a:rPr>
              <a:t>r = 0,58 (Spearman 0,72)</a:t>
            </a:r>
            <a:endParaRPr lang="es-ES" sz="1350" noProof="0" dirty="0"/>
          </a:p>
        </p:txBody>
      </p:sp>
      <p:sp>
        <p:nvSpPr>
          <p:cNvPr id="19" name="Shape 17"/>
          <p:cNvSpPr/>
          <p:nvPr/>
        </p:nvSpPr>
        <p:spPr>
          <a:xfrm>
            <a:off x="6172200" y="3794760"/>
            <a:ext cx="5440680" cy="1920240"/>
          </a:xfrm>
          <a:prstGeom prst="roundRect">
            <a:avLst>
              <a:gd name="adj" fmla="val 4762"/>
            </a:avLst>
          </a:prstGeom>
          <a:solidFill>
            <a:srgbClr val="F4F6F8"/>
          </a:solidFill>
          <a:ln w="12700">
            <a:solidFill>
              <a:srgbClr val="E1E6EA"/>
            </a:solidFill>
            <a:prstDash val="solid"/>
          </a:ln>
        </p:spPr>
        <p:txBody>
          <a:bodyPr/>
          <a:lstStyle/>
          <a:p>
            <a:endParaRPr lang="es-ES" noProof="0" dirty="0"/>
          </a:p>
        </p:txBody>
      </p:sp>
      <p:sp>
        <p:nvSpPr>
          <p:cNvPr id="20" name="Text 18"/>
          <p:cNvSpPr txBox="1"/>
          <p:nvPr/>
        </p:nvSpPr>
        <p:spPr>
          <a:xfrm>
            <a:off x="6400800" y="3995928"/>
            <a:ext cx="822960" cy="457200"/>
          </a:xfrm>
          <a:prstGeom prst="rect">
            <a:avLst/>
          </a:prstGeom>
          <a:noFill/>
          <a:ln/>
        </p:spPr>
        <p:txBody>
          <a:bodyPr wrap="square" rtlCol="0" anchor="ctr"/>
          <a:lstStyle/>
          <a:p>
            <a:pPr marL="0" indent="0">
              <a:buNone/>
            </a:pPr>
            <a:r>
              <a:rPr lang="es-ES" sz="2400" b="1" noProof="0" dirty="0">
                <a:solidFill>
                  <a:srgbClr val="2A9D8F"/>
                </a:solidFill>
                <a:latin typeface="Cambria" pitchFamily="34" charset="0"/>
                <a:ea typeface="Cambria" pitchFamily="34" charset="-122"/>
                <a:cs typeface="Cambria" pitchFamily="34" charset="-120"/>
              </a:rPr>
              <a:t>P4</a:t>
            </a:r>
            <a:endParaRPr lang="es-ES" sz="2400" noProof="0" dirty="0"/>
          </a:p>
        </p:txBody>
      </p:sp>
      <p:sp>
        <p:nvSpPr>
          <p:cNvPr id="21" name="Text 19"/>
          <p:cNvSpPr txBox="1"/>
          <p:nvPr/>
        </p:nvSpPr>
        <p:spPr>
          <a:xfrm>
            <a:off x="7223760" y="4023360"/>
            <a:ext cx="4206240" cy="365760"/>
          </a:xfrm>
          <a:prstGeom prst="rect">
            <a:avLst/>
          </a:prstGeom>
          <a:noFill/>
          <a:ln/>
        </p:spPr>
        <p:txBody>
          <a:bodyPr wrap="square" lIns="0" tIns="0" rIns="0" bIns="0" rtlCol="0" anchor="ctr"/>
          <a:lstStyle/>
          <a:p>
            <a:pPr marL="0" indent="0">
              <a:buNone/>
            </a:pPr>
            <a:r>
              <a:rPr lang="es-ES" sz="1600" b="1" noProof="0" dirty="0">
                <a:solidFill>
                  <a:srgbClr val="12324F"/>
                </a:solidFill>
                <a:latin typeface="Calibri" pitchFamily="34" charset="0"/>
                <a:ea typeface="Calibri" pitchFamily="34" charset="-122"/>
                <a:cs typeface="Calibri" pitchFamily="34" charset="-120"/>
              </a:rPr>
              <a:t>Asistencia</a:t>
            </a:r>
            <a:endParaRPr lang="es-ES" sz="1600" noProof="0" dirty="0"/>
          </a:p>
        </p:txBody>
      </p:sp>
      <p:sp>
        <p:nvSpPr>
          <p:cNvPr id="22" name="Text 20"/>
          <p:cNvSpPr txBox="1"/>
          <p:nvPr/>
        </p:nvSpPr>
        <p:spPr>
          <a:xfrm>
            <a:off x="6428232" y="4572000"/>
            <a:ext cx="4937760" cy="640080"/>
          </a:xfrm>
          <a:prstGeom prst="rect">
            <a:avLst/>
          </a:prstGeom>
          <a:noFill/>
          <a:ln/>
        </p:spPr>
        <p:txBody>
          <a:bodyPr wrap="square" lIns="0" tIns="0" rIns="0" bIns="0" rtlCol="0" anchor="ctr"/>
          <a:lstStyle/>
          <a:p>
            <a:pPr marL="0" indent="0">
              <a:lnSpc>
                <a:spcPts val="1700"/>
              </a:lnSpc>
              <a:buNone/>
            </a:pPr>
            <a:r>
              <a:rPr lang="es-ES" sz="1350" noProof="0" dirty="0">
                <a:solidFill>
                  <a:srgbClr val="1B2733"/>
                </a:solidFill>
                <a:latin typeface="Calibri" pitchFamily="34" charset="0"/>
                <a:ea typeface="Calibri" pitchFamily="34" charset="-122"/>
                <a:cs typeface="Calibri" pitchFamily="34" charset="-120"/>
              </a:rPr>
              <a:t>A mayor asistencia, mejor rendimiento</a:t>
            </a:r>
            <a:endParaRPr lang="es-ES" sz="1350" noProof="0" dirty="0"/>
          </a:p>
        </p:txBody>
      </p:sp>
      <p:sp>
        <p:nvSpPr>
          <p:cNvPr id="23" name="Text 21"/>
          <p:cNvSpPr txBox="1"/>
          <p:nvPr/>
        </p:nvSpPr>
        <p:spPr>
          <a:xfrm>
            <a:off x="6428232" y="5212080"/>
            <a:ext cx="4937760" cy="365760"/>
          </a:xfrm>
          <a:prstGeom prst="rect">
            <a:avLst/>
          </a:prstGeom>
          <a:noFill/>
          <a:ln/>
        </p:spPr>
        <p:txBody>
          <a:bodyPr wrap="square" lIns="0" tIns="0" rIns="0" bIns="0" rtlCol="0" anchor="ctr"/>
          <a:lstStyle/>
          <a:p>
            <a:pPr marL="0" indent="0">
              <a:buNone/>
            </a:pPr>
            <a:r>
              <a:rPr lang="es-ES" sz="1350" b="1" i="1" noProof="0" dirty="0">
                <a:solidFill>
                  <a:srgbClr val="E9A23B"/>
                </a:solidFill>
                <a:latin typeface="Calibri" pitchFamily="34" charset="0"/>
                <a:ea typeface="Calibri" pitchFamily="34" charset="-122"/>
                <a:cs typeface="Calibri" pitchFamily="34" charset="-120"/>
              </a:rPr>
              <a:t>r = 0,64 (moderada-fuerte)</a:t>
            </a:r>
            <a:endParaRPr lang="es-ES" sz="1350" noProof="0" dirty="0"/>
          </a:p>
        </p:txBody>
      </p:sp>
      <p:sp>
        <p:nvSpPr>
          <p:cNvPr id="24" name="Text 22"/>
          <p:cNvSpPr txBox="1"/>
          <p:nvPr/>
        </p:nvSpPr>
        <p:spPr>
          <a:xfrm>
            <a:off x="548640" y="5989320"/>
            <a:ext cx="11064240" cy="457200"/>
          </a:xfrm>
          <a:prstGeom prst="rect">
            <a:avLst/>
          </a:prstGeom>
          <a:noFill/>
          <a:ln/>
        </p:spPr>
        <p:txBody>
          <a:bodyPr wrap="square" lIns="0" tIns="0" rIns="0" bIns="0" rtlCol="0" anchor="ctr"/>
          <a:lstStyle/>
          <a:p>
            <a:r>
              <a:rPr lang="es-ES" sz="1200" noProof="0" dirty="0">
                <a:latin typeface="Abadi" panose="020F0502020204030204" pitchFamily="34" charset="0"/>
              </a:rPr>
              <a:t>En conjunto: los hábitos y antecedentes académicos muestran una mayor </a:t>
            </a:r>
            <a:r>
              <a:rPr lang="es-ES" sz="1200" b="1" noProof="0" dirty="0">
                <a:latin typeface="Abadi" panose="020F0502020204030204" pitchFamily="34" charset="0"/>
              </a:rPr>
              <a:t>asociación</a:t>
            </a:r>
            <a:r>
              <a:rPr lang="es-ES" sz="1200" noProof="0" dirty="0">
                <a:latin typeface="Abadi" panose="020F0502020204030204" pitchFamily="34" charset="0"/>
              </a:rPr>
              <a:t> con </a:t>
            </a:r>
            <a:r>
              <a:rPr lang="es-ES" sz="1200" noProof="0" dirty="0" err="1">
                <a:latin typeface="Abadi" panose="020F0502020204030204" pitchFamily="34" charset="0"/>
              </a:rPr>
              <a:t>FinalGrade</a:t>
            </a:r>
            <a:r>
              <a:rPr lang="es-ES" sz="1200" noProof="0" dirty="0">
                <a:latin typeface="Abadi" panose="020F0502020204030204" pitchFamily="34" charset="0"/>
              </a:rPr>
              <a:t> que el programa académico.</a:t>
            </a:r>
            <a:endParaRPr lang="es-ES" sz="1200" i="1" noProof="0" dirty="0">
              <a:latin typeface="Abad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marL="0" indent="0">
              <a:buNone/>
            </a:pPr>
            <a:r>
              <a:rPr lang="es-ES" sz="1200" b="1" kern="0" spc="200" noProof="0" dirty="0">
                <a:solidFill>
                  <a:srgbClr val="2A9D8F"/>
                </a:solidFill>
                <a:latin typeface="Calibri" pitchFamily="34" charset="0"/>
                <a:ea typeface="Calibri" pitchFamily="34" charset="-122"/>
                <a:cs typeface="Calibri" pitchFamily="34" charset="-120"/>
              </a:rPr>
              <a:t>ESTADO FINAL DE LA CALIDAD</a:t>
            </a:r>
            <a:endParaRPr lang="es-ES" sz="1200" noProof="0" dirty="0"/>
          </a:p>
        </p:txBody>
      </p:sp>
      <p:sp>
        <p:nvSpPr>
          <p:cNvPr id="3" name="Text 1"/>
          <p:cNvSpPr txBox="1"/>
          <p:nvPr/>
        </p:nvSpPr>
        <p:spPr>
          <a:xfrm>
            <a:off x="548640" y="777240"/>
            <a:ext cx="10972800" cy="640080"/>
          </a:xfrm>
          <a:prstGeom prst="rect">
            <a:avLst/>
          </a:prstGeom>
          <a:noFill/>
          <a:ln/>
        </p:spPr>
        <p:txBody>
          <a:bodyPr wrap="square" lIns="0" tIns="0" rIns="0" bIns="0" rtlCol="0" anchor="ctr"/>
          <a:lstStyle/>
          <a:p>
            <a:pPr marL="0" indent="0">
              <a:buNone/>
            </a:pPr>
            <a:r>
              <a:rPr lang="es-ES" sz="3200" b="1" noProof="0" dirty="0">
                <a:solidFill>
                  <a:srgbClr val="12324F"/>
                </a:solidFill>
                <a:latin typeface="Cambria" pitchFamily="34" charset="0"/>
                <a:ea typeface="Cambria" pitchFamily="34" charset="-122"/>
                <a:cs typeface="Cambria" pitchFamily="34" charset="-120"/>
              </a:rPr>
              <a:t>Antes vs. después</a:t>
            </a:r>
            <a:endParaRPr lang="es-ES" sz="3200" noProof="0" dirty="0"/>
          </a:p>
        </p:txBody>
      </p:sp>
      <p:graphicFrame>
        <p:nvGraphicFramePr>
          <p:cNvPr id="11" name="Table 0"/>
          <p:cNvGraphicFramePr>
            <a:graphicFrameLocks noGrp="1"/>
          </p:cNvGraphicFramePr>
          <p:nvPr>
            <p:extLst>
              <p:ext uri="{D42A27DB-BD31-4B8C-83A1-F6EECF244321}">
                <p14:modId xmlns:p14="http://schemas.microsoft.com/office/powerpoint/2010/main" val="3949023394"/>
              </p:ext>
            </p:extLst>
          </p:nvPr>
        </p:nvGraphicFramePr>
        <p:xfrm>
          <a:off x="548640" y="1645920"/>
          <a:ext cx="7040880" cy="3950208"/>
        </p:xfrm>
        <a:graphic>
          <a:graphicData uri="http://schemas.openxmlformats.org/drawingml/2006/table">
            <a:tbl>
              <a:tblPr/>
              <a:tblGrid>
                <a:gridCol w="37490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658368">
                <a:tc>
                  <a:txBody>
                    <a:bodyPr/>
                    <a:lstStyle/>
                    <a:p>
                      <a:pPr marL="0" indent="0">
                        <a:buNone/>
                      </a:pPr>
                      <a:r>
                        <a:rPr lang="es-ES" sz="1400" b="1" noProof="0" dirty="0">
                          <a:solidFill>
                            <a:srgbClr val="FFFFFF"/>
                          </a:solidFill>
                          <a:latin typeface="Calibri" pitchFamily="34" charset="0"/>
                          <a:ea typeface="Calibri" pitchFamily="34" charset="-122"/>
                          <a:cs typeface="Calibri" pitchFamily="34" charset="-120"/>
                        </a:rPr>
                        <a:t>Indicador</a:t>
                      </a:r>
                      <a:endParaRPr lang="es-ES" sz="14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12324F"/>
                    </a:solidFill>
                  </a:tcPr>
                </a:tc>
                <a:tc>
                  <a:txBody>
                    <a:bodyPr/>
                    <a:lstStyle/>
                    <a:p>
                      <a:pPr marL="0" indent="0" algn="ctr">
                        <a:buNone/>
                      </a:pPr>
                      <a:r>
                        <a:rPr lang="es-ES" sz="1400" b="1" noProof="0" dirty="0">
                          <a:solidFill>
                            <a:srgbClr val="FFFFFF"/>
                          </a:solidFill>
                          <a:latin typeface="Calibri" pitchFamily="34" charset="0"/>
                          <a:ea typeface="Calibri" pitchFamily="34" charset="-122"/>
                          <a:cs typeface="Calibri" pitchFamily="34" charset="-120"/>
                        </a:rPr>
                        <a:t>Original</a:t>
                      </a:r>
                      <a:endParaRPr lang="es-ES" sz="14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12324F"/>
                    </a:solidFill>
                  </a:tcPr>
                </a:tc>
                <a:tc>
                  <a:txBody>
                    <a:bodyPr/>
                    <a:lstStyle/>
                    <a:p>
                      <a:pPr marL="0" indent="0" algn="ctr">
                        <a:buNone/>
                      </a:pPr>
                      <a:r>
                        <a:rPr lang="es-ES" sz="1400" b="1" noProof="0" dirty="0">
                          <a:solidFill>
                            <a:srgbClr val="FFFFFF"/>
                          </a:solidFill>
                          <a:latin typeface="Calibri" pitchFamily="34" charset="0"/>
                          <a:ea typeface="Calibri" pitchFamily="34" charset="-122"/>
                          <a:cs typeface="Calibri" pitchFamily="34" charset="-120"/>
                        </a:rPr>
                        <a:t>Tratado</a:t>
                      </a:r>
                      <a:endParaRPr lang="es-ES" sz="14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2A9D8F"/>
                    </a:solidFill>
                  </a:tcPr>
                </a:tc>
                <a:extLst>
                  <a:ext uri="{0D108BD9-81ED-4DB2-BD59-A6C34878D82A}">
                    <a16:rowId xmlns:a16="http://schemas.microsoft.com/office/drawing/2014/main" val="10000"/>
                  </a:ext>
                </a:extLst>
              </a:tr>
              <a:tr h="658368">
                <a:tc>
                  <a:txBody>
                    <a:bodyPr/>
                    <a:lstStyle/>
                    <a:p>
                      <a:pPr marL="0" indent="0">
                        <a:buNone/>
                      </a:pPr>
                      <a:r>
                        <a:rPr lang="es-ES" sz="1400" b="1" noProof="0" dirty="0">
                          <a:solidFill>
                            <a:srgbClr val="12324F"/>
                          </a:solidFill>
                          <a:latin typeface="Calibri" pitchFamily="34" charset="0"/>
                          <a:ea typeface="Calibri" pitchFamily="34" charset="-122"/>
                          <a:cs typeface="Calibri" pitchFamily="34" charset="-120"/>
                        </a:rPr>
                        <a:t>Registros</a:t>
                      </a:r>
                      <a:endParaRPr lang="es-ES" sz="14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FFFFFF"/>
                    </a:solidFill>
                  </a:tcPr>
                </a:tc>
                <a:tc>
                  <a:txBody>
                    <a:bodyPr/>
                    <a:lstStyle/>
                    <a:p>
                      <a:pPr marL="0" indent="0" algn="ctr">
                        <a:buNone/>
                      </a:pPr>
                      <a:r>
                        <a:rPr lang="es-ES" sz="1500" noProof="0" dirty="0">
                          <a:solidFill>
                            <a:srgbClr val="8A97A5"/>
                          </a:solidFill>
                          <a:latin typeface="Calibri" pitchFamily="34" charset="0"/>
                          <a:ea typeface="Calibri" pitchFamily="34" charset="-122"/>
                          <a:cs typeface="Calibri" pitchFamily="34" charset="-120"/>
                        </a:rPr>
                        <a:t>5.100</a:t>
                      </a:r>
                      <a:endParaRPr lang="es-ES" sz="15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FFFFFF"/>
                    </a:solidFill>
                  </a:tcPr>
                </a:tc>
                <a:tc>
                  <a:txBody>
                    <a:bodyPr/>
                    <a:lstStyle/>
                    <a:p>
                      <a:pPr marL="0" indent="0" algn="ctr">
                        <a:buNone/>
                      </a:pPr>
                      <a:r>
                        <a:rPr lang="es-ES" sz="1500" b="1" noProof="0" dirty="0">
                          <a:solidFill>
                            <a:srgbClr val="2A9D8F"/>
                          </a:solidFill>
                          <a:latin typeface="Calibri" pitchFamily="34" charset="0"/>
                          <a:ea typeface="Calibri" pitchFamily="34" charset="-122"/>
                          <a:cs typeface="Calibri" pitchFamily="34" charset="-120"/>
                        </a:rPr>
                        <a:t>4.996</a:t>
                      </a:r>
                      <a:endParaRPr lang="es-ES" sz="15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E9F5F2"/>
                    </a:solidFill>
                  </a:tcPr>
                </a:tc>
                <a:extLst>
                  <a:ext uri="{0D108BD9-81ED-4DB2-BD59-A6C34878D82A}">
                    <a16:rowId xmlns:a16="http://schemas.microsoft.com/office/drawing/2014/main" val="10001"/>
                  </a:ext>
                </a:extLst>
              </a:tr>
              <a:tr h="658368">
                <a:tc>
                  <a:txBody>
                    <a:bodyPr/>
                    <a:lstStyle/>
                    <a:p>
                      <a:pPr marL="0" indent="0">
                        <a:buNone/>
                      </a:pPr>
                      <a:r>
                        <a:rPr lang="es-ES" sz="1400" b="1" noProof="0" dirty="0">
                          <a:solidFill>
                            <a:srgbClr val="12324F"/>
                          </a:solidFill>
                          <a:latin typeface="Calibri" pitchFamily="34" charset="0"/>
                          <a:ea typeface="Calibri" pitchFamily="34" charset="-122"/>
                          <a:cs typeface="Calibri" pitchFamily="34" charset="-120"/>
                        </a:rPr>
                        <a:t>Valores faltantes</a:t>
                      </a:r>
                      <a:endParaRPr lang="es-ES" sz="14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EEF2F5"/>
                    </a:solidFill>
                  </a:tcPr>
                </a:tc>
                <a:tc>
                  <a:txBody>
                    <a:bodyPr/>
                    <a:lstStyle/>
                    <a:p>
                      <a:pPr marL="0" indent="0" algn="ctr">
                        <a:buNone/>
                      </a:pPr>
                      <a:r>
                        <a:rPr lang="es-ES" sz="1500" noProof="0" dirty="0">
                          <a:solidFill>
                            <a:srgbClr val="8A97A5"/>
                          </a:solidFill>
                          <a:latin typeface="Calibri" pitchFamily="34" charset="0"/>
                          <a:ea typeface="Calibri" pitchFamily="34" charset="-122"/>
                          <a:cs typeface="Calibri" pitchFamily="34" charset="-120"/>
                        </a:rPr>
                        <a:t>1.335</a:t>
                      </a:r>
                      <a:endParaRPr lang="es-ES" sz="15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EEF2F5"/>
                    </a:solidFill>
                  </a:tcPr>
                </a:tc>
                <a:tc>
                  <a:txBody>
                    <a:bodyPr/>
                    <a:lstStyle/>
                    <a:p>
                      <a:pPr marL="0" indent="0" algn="ctr">
                        <a:buNone/>
                      </a:pPr>
                      <a:r>
                        <a:rPr lang="es-ES" sz="1500" b="1" noProof="0" dirty="0">
                          <a:solidFill>
                            <a:srgbClr val="2A9D8F"/>
                          </a:solidFill>
                          <a:latin typeface="Calibri" pitchFamily="34" charset="0"/>
                          <a:ea typeface="Calibri" pitchFamily="34" charset="-122"/>
                          <a:cs typeface="Calibri" pitchFamily="34" charset="-120"/>
                        </a:rPr>
                        <a:t>0</a:t>
                      </a:r>
                      <a:endParaRPr lang="es-ES" sz="15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E9F5F2"/>
                    </a:solidFill>
                  </a:tcPr>
                </a:tc>
                <a:extLst>
                  <a:ext uri="{0D108BD9-81ED-4DB2-BD59-A6C34878D82A}">
                    <a16:rowId xmlns:a16="http://schemas.microsoft.com/office/drawing/2014/main" val="10002"/>
                  </a:ext>
                </a:extLst>
              </a:tr>
              <a:tr h="658368">
                <a:tc>
                  <a:txBody>
                    <a:bodyPr/>
                    <a:lstStyle/>
                    <a:p>
                      <a:pPr marL="0" indent="0">
                        <a:buNone/>
                      </a:pPr>
                      <a:r>
                        <a:rPr lang="es-ES" sz="1400" b="1" noProof="0" dirty="0">
                          <a:solidFill>
                            <a:srgbClr val="12324F"/>
                          </a:solidFill>
                          <a:latin typeface="Calibri" pitchFamily="34" charset="0"/>
                          <a:ea typeface="Calibri" pitchFamily="34" charset="-122"/>
                          <a:cs typeface="Calibri" pitchFamily="34" charset="-120"/>
                        </a:rPr>
                        <a:t>Registros duplicados</a:t>
                      </a:r>
                      <a:endParaRPr lang="es-ES" sz="14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FFFFFF"/>
                    </a:solidFill>
                  </a:tcPr>
                </a:tc>
                <a:tc>
                  <a:txBody>
                    <a:bodyPr/>
                    <a:lstStyle/>
                    <a:p>
                      <a:pPr marL="0" indent="0" algn="ctr">
                        <a:buNone/>
                      </a:pPr>
                      <a:r>
                        <a:rPr lang="es-ES" sz="1500" noProof="0" dirty="0">
                          <a:solidFill>
                            <a:srgbClr val="8A97A5"/>
                          </a:solidFill>
                          <a:latin typeface="Calibri" pitchFamily="34" charset="0"/>
                          <a:ea typeface="Calibri" pitchFamily="34" charset="-122"/>
                          <a:cs typeface="Calibri" pitchFamily="34" charset="-120"/>
                        </a:rPr>
                        <a:t>100</a:t>
                      </a:r>
                      <a:endParaRPr lang="es-ES" sz="15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FFFFFF"/>
                    </a:solidFill>
                  </a:tcPr>
                </a:tc>
                <a:tc>
                  <a:txBody>
                    <a:bodyPr/>
                    <a:lstStyle/>
                    <a:p>
                      <a:pPr marL="0" indent="0" algn="ctr">
                        <a:buNone/>
                      </a:pPr>
                      <a:r>
                        <a:rPr lang="es-ES" sz="1500" b="1" noProof="0" dirty="0">
                          <a:solidFill>
                            <a:srgbClr val="2A9D8F"/>
                          </a:solidFill>
                          <a:latin typeface="Calibri" pitchFamily="34" charset="0"/>
                          <a:ea typeface="Calibri" pitchFamily="34" charset="-122"/>
                          <a:cs typeface="Calibri" pitchFamily="34" charset="-120"/>
                        </a:rPr>
                        <a:t>0</a:t>
                      </a:r>
                      <a:endParaRPr lang="es-ES" sz="15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E9F5F2"/>
                    </a:solidFill>
                  </a:tcPr>
                </a:tc>
                <a:extLst>
                  <a:ext uri="{0D108BD9-81ED-4DB2-BD59-A6C34878D82A}">
                    <a16:rowId xmlns:a16="http://schemas.microsoft.com/office/drawing/2014/main" val="10003"/>
                  </a:ext>
                </a:extLst>
              </a:tr>
              <a:tr h="658368">
                <a:tc>
                  <a:txBody>
                    <a:bodyPr/>
                    <a:lstStyle/>
                    <a:p>
                      <a:pPr marL="0" indent="0">
                        <a:buNone/>
                      </a:pPr>
                      <a:r>
                        <a:rPr lang="es-ES" sz="1400" b="1" noProof="0" dirty="0">
                          <a:solidFill>
                            <a:srgbClr val="12324F"/>
                          </a:solidFill>
                          <a:latin typeface="Calibri" pitchFamily="34" charset="0"/>
                          <a:ea typeface="Calibri" pitchFamily="34" charset="-122"/>
                          <a:cs typeface="Calibri" pitchFamily="34" charset="-120"/>
                        </a:rPr>
                        <a:t>Inconsistencias (fuera de dominio)</a:t>
                      </a:r>
                      <a:endParaRPr lang="es-ES" sz="14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EEF2F5"/>
                    </a:solidFill>
                  </a:tcPr>
                </a:tc>
                <a:tc>
                  <a:txBody>
                    <a:bodyPr/>
                    <a:lstStyle/>
                    <a:p>
                      <a:pPr marL="0" indent="0" algn="ctr">
                        <a:buNone/>
                      </a:pPr>
                      <a:r>
                        <a:rPr lang="es-ES" sz="1500" noProof="0" dirty="0">
                          <a:solidFill>
                            <a:srgbClr val="8A97A5"/>
                          </a:solidFill>
                          <a:latin typeface="Calibri" pitchFamily="34" charset="0"/>
                          <a:ea typeface="Calibri" pitchFamily="34" charset="-122"/>
                          <a:cs typeface="Calibri" pitchFamily="34" charset="-120"/>
                        </a:rPr>
                        <a:t>87</a:t>
                      </a:r>
                      <a:endParaRPr lang="es-ES" sz="15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EEF2F5"/>
                    </a:solidFill>
                  </a:tcPr>
                </a:tc>
                <a:tc>
                  <a:txBody>
                    <a:bodyPr/>
                    <a:lstStyle/>
                    <a:p>
                      <a:pPr marL="0" indent="0" algn="ctr">
                        <a:buNone/>
                      </a:pPr>
                      <a:r>
                        <a:rPr lang="es-ES" sz="1500" b="1" noProof="0" dirty="0">
                          <a:solidFill>
                            <a:srgbClr val="2A9D8F"/>
                          </a:solidFill>
                          <a:latin typeface="Calibri" pitchFamily="34" charset="0"/>
                          <a:ea typeface="Calibri" pitchFamily="34" charset="-122"/>
                          <a:cs typeface="Calibri" pitchFamily="34" charset="-120"/>
                        </a:rPr>
                        <a:t>0</a:t>
                      </a:r>
                      <a:endParaRPr lang="es-ES" sz="15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E9F5F2"/>
                    </a:solidFill>
                  </a:tcPr>
                </a:tc>
                <a:extLst>
                  <a:ext uri="{0D108BD9-81ED-4DB2-BD59-A6C34878D82A}">
                    <a16:rowId xmlns:a16="http://schemas.microsoft.com/office/drawing/2014/main" val="10004"/>
                  </a:ext>
                </a:extLst>
              </a:tr>
              <a:tr h="658368">
                <a:tc>
                  <a:txBody>
                    <a:bodyPr/>
                    <a:lstStyle/>
                    <a:p>
                      <a:pPr marL="0" indent="0">
                        <a:buNone/>
                      </a:pPr>
                      <a:r>
                        <a:rPr lang="es-ES" sz="1400" b="1" noProof="0" dirty="0" err="1">
                          <a:solidFill>
                            <a:srgbClr val="12324F"/>
                          </a:solidFill>
                          <a:latin typeface="Calibri" pitchFamily="34" charset="0"/>
                          <a:ea typeface="Calibri" pitchFamily="34" charset="-122"/>
                          <a:cs typeface="Calibri" pitchFamily="34" charset="-120"/>
                        </a:rPr>
                        <a:t>Outliers</a:t>
                      </a:r>
                      <a:r>
                        <a:rPr lang="es-ES" sz="1400" b="1" noProof="0" dirty="0">
                          <a:solidFill>
                            <a:srgbClr val="12324F"/>
                          </a:solidFill>
                          <a:latin typeface="Calibri" pitchFamily="34" charset="0"/>
                          <a:ea typeface="Calibri" pitchFamily="34" charset="-122"/>
                          <a:cs typeface="Calibri" pitchFamily="34" charset="-120"/>
                        </a:rPr>
                        <a:t> tratados</a:t>
                      </a:r>
                      <a:endParaRPr lang="es-ES" sz="14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FFFFFF"/>
                    </a:solidFill>
                  </a:tcPr>
                </a:tc>
                <a:tc>
                  <a:txBody>
                    <a:bodyPr/>
                    <a:lstStyle/>
                    <a:p>
                      <a:pPr marL="0" indent="0" algn="ctr">
                        <a:buNone/>
                      </a:pPr>
                      <a:r>
                        <a:rPr lang="es-ES" sz="1500" noProof="0" dirty="0">
                          <a:solidFill>
                            <a:srgbClr val="8A97A5"/>
                          </a:solidFill>
                          <a:latin typeface="Calibri" pitchFamily="34" charset="0"/>
                          <a:ea typeface="Calibri" pitchFamily="34" charset="-122"/>
                          <a:cs typeface="Calibri" pitchFamily="34" charset="-120"/>
                        </a:rPr>
                        <a:t>—</a:t>
                      </a:r>
                      <a:endParaRPr lang="es-ES" sz="15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FFFFFF"/>
                    </a:solidFill>
                  </a:tcPr>
                </a:tc>
                <a:tc>
                  <a:txBody>
                    <a:bodyPr/>
                    <a:lstStyle/>
                    <a:p>
                      <a:pPr marL="0" indent="0" algn="ctr">
                        <a:buNone/>
                      </a:pPr>
                      <a:r>
                        <a:rPr lang="es-ES" sz="1500" b="1" noProof="0" dirty="0">
                          <a:solidFill>
                            <a:srgbClr val="2A9D8F"/>
                          </a:solidFill>
                          <a:latin typeface="Calibri" pitchFamily="34" charset="0"/>
                          <a:ea typeface="Calibri" pitchFamily="34" charset="-122"/>
                          <a:cs typeface="Calibri" pitchFamily="34" charset="-120"/>
                        </a:rPr>
                        <a:t>acotados</a:t>
                      </a:r>
                      <a:endParaRPr lang="es-ES" sz="1500" noProof="0" dirty="0">
                        <a:latin typeface="Calibri" charset="0"/>
                        <a:ea typeface="Calibri" charset="0"/>
                        <a:cs typeface="Calibri" charset="0"/>
                      </a:endParaRPr>
                    </a:p>
                  </a:txBody>
                  <a:tcPr marL="76200" marR="76200" marT="76200" marB="76200" anchor="ctr">
                    <a:lnL w="12700" cap="flat" cmpd="sng" algn="ctr">
                      <a:solidFill>
                        <a:srgbClr val="DDE3E8"/>
                      </a:solidFill>
                      <a:prstDash val="solid"/>
                      <a:round/>
                      <a:headEnd type="none" w="med" len="med"/>
                      <a:tailEnd type="none" w="med" len="med"/>
                    </a:lnL>
                    <a:lnR w="12700" cap="flat" cmpd="sng" algn="ctr">
                      <a:solidFill>
                        <a:srgbClr val="DDE3E8"/>
                      </a:solidFill>
                      <a:prstDash val="solid"/>
                      <a:round/>
                      <a:headEnd type="none" w="med" len="med"/>
                      <a:tailEnd type="none" w="med" len="med"/>
                    </a:lnR>
                    <a:lnT w="12700" cap="flat" cmpd="sng" algn="ctr">
                      <a:solidFill>
                        <a:srgbClr val="DDE3E8"/>
                      </a:solidFill>
                      <a:prstDash val="solid"/>
                      <a:round/>
                      <a:headEnd type="none" w="med" len="med"/>
                      <a:tailEnd type="none" w="med" len="med"/>
                    </a:lnT>
                    <a:lnB w="12700" cap="flat" cmpd="sng" algn="ctr">
                      <a:solidFill>
                        <a:srgbClr val="DDE3E8"/>
                      </a:solidFill>
                      <a:prstDash val="solid"/>
                      <a:round/>
                      <a:headEnd type="none" w="med" len="med"/>
                      <a:tailEnd type="none" w="med" len="med"/>
                    </a:lnB>
                    <a:solidFill>
                      <a:srgbClr val="E9F5F2"/>
                    </a:solidFill>
                  </a:tcPr>
                </a:tc>
                <a:extLst>
                  <a:ext uri="{0D108BD9-81ED-4DB2-BD59-A6C34878D82A}">
                    <a16:rowId xmlns:a16="http://schemas.microsoft.com/office/drawing/2014/main" val="10005"/>
                  </a:ext>
                </a:extLst>
              </a:tr>
            </a:tbl>
          </a:graphicData>
        </a:graphic>
      </p:graphicFrame>
      <p:sp>
        <p:nvSpPr>
          <p:cNvPr id="5" name="Shape 2"/>
          <p:cNvSpPr/>
          <p:nvPr/>
        </p:nvSpPr>
        <p:spPr>
          <a:xfrm>
            <a:off x="7909560" y="1645920"/>
            <a:ext cx="3703320" cy="4114800"/>
          </a:xfrm>
          <a:prstGeom prst="roundRect">
            <a:avLst>
              <a:gd name="adj" fmla="val 2963"/>
            </a:avLst>
          </a:prstGeom>
          <a:solidFill>
            <a:srgbClr val="12324F"/>
          </a:solidFill>
          <a:ln/>
        </p:spPr>
        <p:txBody>
          <a:bodyPr/>
          <a:lstStyle/>
          <a:p>
            <a:endParaRPr lang="es-ES" noProof="0" dirty="0"/>
          </a:p>
        </p:txBody>
      </p:sp>
      <p:sp>
        <p:nvSpPr>
          <p:cNvPr id="6" name="Text 3"/>
          <p:cNvSpPr txBox="1"/>
          <p:nvPr/>
        </p:nvSpPr>
        <p:spPr>
          <a:xfrm>
            <a:off x="8183880" y="1920240"/>
            <a:ext cx="3200400" cy="365760"/>
          </a:xfrm>
          <a:prstGeom prst="rect">
            <a:avLst/>
          </a:prstGeom>
          <a:noFill/>
          <a:ln/>
        </p:spPr>
        <p:txBody>
          <a:bodyPr wrap="square" lIns="0" tIns="0" rIns="0" bIns="0" rtlCol="0" anchor="ctr"/>
          <a:lstStyle/>
          <a:p>
            <a:pPr marL="0" indent="0">
              <a:buNone/>
            </a:pPr>
            <a:r>
              <a:rPr lang="es-ES" sz="1400" b="1" kern="0" spc="100" noProof="0" dirty="0">
                <a:solidFill>
                  <a:srgbClr val="2A9D8F"/>
                </a:solidFill>
                <a:latin typeface="Calibri" pitchFamily="34" charset="0"/>
                <a:ea typeface="Calibri" pitchFamily="34" charset="-122"/>
                <a:cs typeface="Calibri" pitchFamily="34" charset="-120"/>
              </a:rPr>
              <a:t>Resultado</a:t>
            </a:r>
            <a:endParaRPr lang="es-ES" sz="1400" noProof="0" dirty="0"/>
          </a:p>
        </p:txBody>
      </p:sp>
      <p:sp>
        <p:nvSpPr>
          <p:cNvPr id="7" name="Text 4"/>
          <p:cNvSpPr txBox="1"/>
          <p:nvPr/>
        </p:nvSpPr>
        <p:spPr>
          <a:xfrm>
            <a:off x="8183880" y="2331720"/>
            <a:ext cx="3200400" cy="914400"/>
          </a:xfrm>
          <a:prstGeom prst="rect">
            <a:avLst/>
          </a:prstGeom>
          <a:noFill/>
          <a:ln/>
        </p:spPr>
        <p:txBody>
          <a:bodyPr wrap="square" lIns="0" tIns="0" rIns="0" bIns="0" rtlCol="0" anchor="ctr"/>
          <a:lstStyle/>
          <a:p>
            <a:pPr marL="0" indent="0">
              <a:buNone/>
            </a:pPr>
            <a:r>
              <a:rPr lang="es-ES" sz="5600" b="1" noProof="0" dirty="0">
                <a:solidFill>
                  <a:srgbClr val="FFFFFF"/>
                </a:solidFill>
                <a:latin typeface="Cambria" pitchFamily="34" charset="0"/>
                <a:ea typeface="Cambria" pitchFamily="34" charset="-122"/>
                <a:cs typeface="Cambria" pitchFamily="34" charset="-120"/>
              </a:rPr>
              <a:t>4.996</a:t>
            </a:r>
            <a:endParaRPr lang="es-ES" sz="5600" noProof="0" dirty="0"/>
          </a:p>
        </p:txBody>
      </p:sp>
      <p:sp>
        <p:nvSpPr>
          <p:cNvPr id="8" name="Text 5"/>
          <p:cNvSpPr txBox="1"/>
          <p:nvPr/>
        </p:nvSpPr>
        <p:spPr>
          <a:xfrm>
            <a:off x="8183880" y="3291840"/>
            <a:ext cx="3200400" cy="365760"/>
          </a:xfrm>
          <a:prstGeom prst="rect">
            <a:avLst/>
          </a:prstGeom>
          <a:noFill/>
          <a:ln/>
        </p:spPr>
        <p:txBody>
          <a:bodyPr wrap="square" lIns="0" tIns="0" rIns="0" bIns="0" rtlCol="0" anchor="ctr"/>
          <a:lstStyle/>
          <a:p>
            <a:pPr marL="0" indent="0">
              <a:buNone/>
            </a:pPr>
            <a:r>
              <a:rPr lang="es-ES" sz="1500" noProof="0" dirty="0">
                <a:solidFill>
                  <a:srgbClr val="CADCFC"/>
                </a:solidFill>
                <a:latin typeface="Calibri" pitchFamily="34" charset="0"/>
                <a:ea typeface="Calibri" pitchFamily="34" charset="-122"/>
                <a:cs typeface="Calibri" pitchFamily="34" charset="-120"/>
              </a:rPr>
              <a:t>registros limpios</a:t>
            </a:r>
            <a:endParaRPr lang="es-ES" sz="1500" noProof="0" dirty="0"/>
          </a:p>
        </p:txBody>
      </p:sp>
      <p:sp>
        <p:nvSpPr>
          <p:cNvPr id="9" name="Text 6"/>
          <p:cNvSpPr txBox="1"/>
          <p:nvPr/>
        </p:nvSpPr>
        <p:spPr>
          <a:xfrm>
            <a:off x="8183880" y="3840480"/>
            <a:ext cx="3200400" cy="914400"/>
          </a:xfrm>
          <a:prstGeom prst="rect">
            <a:avLst/>
          </a:prstGeom>
          <a:noFill/>
          <a:ln/>
        </p:spPr>
        <p:txBody>
          <a:bodyPr wrap="square" lIns="0" tIns="0" rIns="0" bIns="0" rtlCol="0" anchor="ctr"/>
          <a:lstStyle/>
          <a:p>
            <a:pPr marL="0" indent="0">
              <a:lnSpc>
                <a:spcPts val="2000"/>
              </a:lnSpc>
              <a:buNone/>
            </a:pPr>
            <a:r>
              <a:rPr lang="es-ES" sz="1400" noProof="0" dirty="0">
                <a:solidFill>
                  <a:srgbClr val="FFFFFF"/>
                </a:solidFill>
                <a:latin typeface="Calibri" pitchFamily="34" charset="0"/>
                <a:ea typeface="Calibri" pitchFamily="34" charset="-122"/>
                <a:cs typeface="Calibri" pitchFamily="34" charset="-120"/>
              </a:rPr>
              <a:t>Sin faltantes, sin duplicados y sin valores fuera de dominio.</a:t>
            </a:r>
            <a:endParaRPr lang="es-ES" sz="1400" noProof="0" dirty="0"/>
          </a:p>
        </p:txBody>
      </p:sp>
      <p:sp>
        <p:nvSpPr>
          <p:cNvPr id="10" name="Text 7"/>
          <p:cNvSpPr txBox="1"/>
          <p:nvPr/>
        </p:nvSpPr>
        <p:spPr>
          <a:xfrm>
            <a:off x="8183880" y="5074920"/>
            <a:ext cx="3291840" cy="457200"/>
          </a:xfrm>
          <a:prstGeom prst="rect">
            <a:avLst/>
          </a:prstGeom>
          <a:noFill/>
          <a:ln/>
        </p:spPr>
        <p:txBody>
          <a:bodyPr wrap="square" lIns="0" tIns="0" rIns="0" bIns="0" rtlCol="0" anchor="ctr"/>
          <a:lstStyle/>
          <a:p>
            <a:pPr marL="0" indent="0">
              <a:buNone/>
            </a:pPr>
            <a:r>
              <a:rPr lang="es-ES" sz="1250" i="1" noProof="0" dirty="0">
                <a:solidFill>
                  <a:srgbClr val="2A9D8F"/>
                </a:solidFill>
                <a:latin typeface="Calibri" pitchFamily="34" charset="0"/>
                <a:ea typeface="Calibri" pitchFamily="34" charset="-122"/>
                <a:cs typeface="Calibri" pitchFamily="34" charset="-120"/>
              </a:rPr>
              <a:t>→  rendimiento_academico_limpio.csv</a:t>
            </a:r>
            <a:endParaRPr lang="es-ES" sz="125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324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marL="0" indent="0">
              <a:buNone/>
            </a:pPr>
            <a:r>
              <a:rPr lang="es-ES" sz="1200" b="1" kern="0" spc="200" noProof="0" dirty="0">
                <a:solidFill>
                  <a:srgbClr val="E9A23B"/>
                </a:solidFill>
                <a:latin typeface="Calibri" pitchFamily="34" charset="0"/>
                <a:ea typeface="Calibri" pitchFamily="34" charset="-122"/>
                <a:cs typeface="Calibri" pitchFamily="34" charset="-120"/>
              </a:rPr>
              <a:t>CONCLUSIONES</a:t>
            </a:r>
            <a:endParaRPr lang="es-ES" sz="1200" noProof="0" dirty="0"/>
          </a:p>
        </p:txBody>
      </p:sp>
      <p:sp>
        <p:nvSpPr>
          <p:cNvPr id="3" name="Text 1"/>
          <p:cNvSpPr txBox="1"/>
          <p:nvPr/>
        </p:nvSpPr>
        <p:spPr>
          <a:xfrm>
            <a:off x="548640" y="822960"/>
            <a:ext cx="10972800" cy="731520"/>
          </a:xfrm>
          <a:prstGeom prst="rect">
            <a:avLst/>
          </a:prstGeom>
          <a:noFill/>
          <a:ln/>
        </p:spPr>
        <p:txBody>
          <a:bodyPr wrap="square" lIns="0" tIns="0" rIns="0" bIns="0" rtlCol="0" anchor="ctr"/>
          <a:lstStyle/>
          <a:p>
            <a:pPr marL="0" indent="0">
              <a:buNone/>
            </a:pPr>
            <a:r>
              <a:rPr lang="es-ES" sz="3400" b="1" noProof="0" dirty="0">
                <a:solidFill>
                  <a:srgbClr val="FFFFFF"/>
                </a:solidFill>
                <a:latin typeface="Cambria" pitchFamily="34" charset="0"/>
                <a:ea typeface="Cambria" pitchFamily="34" charset="-122"/>
                <a:cs typeface="Cambria" pitchFamily="34" charset="-120"/>
              </a:rPr>
              <a:t>Tres ideas para llevarse</a:t>
            </a:r>
            <a:endParaRPr lang="es-ES" sz="3400" noProof="0" dirty="0"/>
          </a:p>
        </p:txBody>
      </p:sp>
      <p:sp>
        <p:nvSpPr>
          <p:cNvPr id="4" name="Text 2"/>
          <p:cNvSpPr txBox="1"/>
          <p:nvPr/>
        </p:nvSpPr>
        <p:spPr>
          <a:xfrm>
            <a:off x="548640" y="1783080"/>
            <a:ext cx="1097280" cy="914400"/>
          </a:xfrm>
          <a:prstGeom prst="rect">
            <a:avLst/>
          </a:prstGeom>
          <a:noFill/>
          <a:ln/>
        </p:spPr>
        <p:txBody>
          <a:bodyPr wrap="square" lIns="0" tIns="0" rIns="0" bIns="0" rtlCol="0" anchor="ctr"/>
          <a:lstStyle/>
          <a:p>
            <a:pPr marL="0" indent="0">
              <a:buNone/>
            </a:pPr>
            <a:r>
              <a:rPr lang="es-ES" sz="4000" b="1" noProof="0" dirty="0">
                <a:solidFill>
                  <a:srgbClr val="2A9D8F"/>
                </a:solidFill>
                <a:latin typeface="Cambria" pitchFamily="34" charset="0"/>
                <a:ea typeface="Cambria" pitchFamily="34" charset="-122"/>
                <a:cs typeface="Cambria" pitchFamily="34" charset="-120"/>
              </a:rPr>
              <a:t>01</a:t>
            </a:r>
            <a:endParaRPr lang="es-ES" sz="4000" noProof="0" dirty="0"/>
          </a:p>
        </p:txBody>
      </p:sp>
      <p:sp>
        <p:nvSpPr>
          <p:cNvPr id="5" name="Text 3"/>
          <p:cNvSpPr txBox="1"/>
          <p:nvPr/>
        </p:nvSpPr>
        <p:spPr>
          <a:xfrm>
            <a:off x="1783080" y="1828800"/>
            <a:ext cx="9601200" cy="457200"/>
          </a:xfrm>
          <a:prstGeom prst="rect">
            <a:avLst/>
          </a:prstGeom>
          <a:noFill/>
          <a:ln/>
        </p:spPr>
        <p:txBody>
          <a:bodyPr wrap="square" lIns="0" tIns="0" rIns="0" bIns="0" rtlCol="0" anchor="ctr"/>
          <a:lstStyle/>
          <a:p>
            <a:pPr marL="0" indent="0">
              <a:buNone/>
            </a:pPr>
            <a:r>
              <a:rPr lang="es-ES" sz="2000" b="1" noProof="0" dirty="0">
                <a:solidFill>
                  <a:srgbClr val="FFFFFF"/>
                </a:solidFill>
                <a:latin typeface="Calibri" pitchFamily="34" charset="0"/>
                <a:ea typeface="Calibri" pitchFamily="34" charset="-122"/>
                <a:cs typeface="Calibri" pitchFamily="34" charset="-120"/>
              </a:rPr>
              <a:t>Los hábitos mandan</a:t>
            </a:r>
            <a:endParaRPr lang="es-ES" sz="2000" noProof="0" dirty="0"/>
          </a:p>
        </p:txBody>
      </p:sp>
      <p:sp>
        <p:nvSpPr>
          <p:cNvPr id="6" name="Text 4"/>
          <p:cNvSpPr txBox="1"/>
          <p:nvPr/>
        </p:nvSpPr>
        <p:spPr>
          <a:xfrm>
            <a:off x="1783080" y="2331720"/>
            <a:ext cx="9601200" cy="822960"/>
          </a:xfrm>
          <a:prstGeom prst="rect">
            <a:avLst/>
          </a:prstGeom>
          <a:noFill/>
          <a:ln/>
        </p:spPr>
        <p:txBody>
          <a:bodyPr wrap="square" lIns="0" tIns="0" rIns="0" bIns="0" rtlCol="0" anchor="ctr"/>
          <a:lstStyle/>
          <a:p>
            <a:pPr marL="0" indent="0">
              <a:lnSpc>
                <a:spcPts val="2000"/>
              </a:lnSpc>
              <a:buNone/>
            </a:pPr>
            <a:r>
              <a:rPr lang="es-ES" sz="1450" noProof="0" dirty="0">
                <a:solidFill>
                  <a:srgbClr val="CADCFC"/>
                </a:solidFill>
                <a:latin typeface="Calibri" pitchFamily="34" charset="0"/>
                <a:ea typeface="Calibri" pitchFamily="34" charset="-122"/>
                <a:cs typeface="Calibri" pitchFamily="34" charset="-120"/>
              </a:rPr>
              <a:t>Las variables de esfuerzo académico —tareas, GPA previo, asistencia y estudio— son las más asociadas a la nota; las demográficas (edad, sueño, internet) presentan asociaciones muy débiles con la nota.</a:t>
            </a:r>
            <a:endParaRPr lang="es-ES" sz="1450" noProof="0" dirty="0"/>
          </a:p>
        </p:txBody>
      </p:sp>
      <p:sp>
        <p:nvSpPr>
          <p:cNvPr id="7" name="Text 5"/>
          <p:cNvSpPr txBox="1"/>
          <p:nvPr/>
        </p:nvSpPr>
        <p:spPr>
          <a:xfrm>
            <a:off x="548640" y="3264408"/>
            <a:ext cx="1097280" cy="914400"/>
          </a:xfrm>
          <a:prstGeom prst="rect">
            <a:avLst/>
          </a:prstGeom>
          <a:noFill/>
          <a:ln/>
        </p:spPr>
        <p:txBody>
          <a:bodyPr wrap="square" lIns="0" tIns="0" rIns="0" bIns="0" rtlCol="0" anchor="ctr"/>
          <a:lstStyle/>
          <a:p>
            <a:pPr marL="0" indent="0">
              <a:buNone/>
            </a:pPr>
            <a:r>
              <a:rPr lang="es-ES" sz="4000" b="1" noProof="0" dirty="0">
                <a:solidFill>
                  <a:srgbClr val="2A9D8F"/>
                </a:solidFill>
                <a:latin typeface="Cambria" pitchFamily="34" charset="0"/>
                <a:ea typeface="Cambria" pitchFamily="34" charset="-122"/>
                <a:cs typeface="Cambria" pitchFamily="34" charset="-120"/>
              </a:rPr>
              <a:t>02</a:t>
            </a:r>
            <a:endParaRPr lang="es-ES" sz="4000" noProof="0" dirty="0"/>
          </a:p>
        </p:txBody>
      </p:sp>
      <p:sp>
        <p:nvSpPr>
          <p:cNvPr id="8" name="Text 6"/>
          <p:cNvSpPr txBox="1"/>
          <p:nvPr/>
        </p:nvSpPr>
        <p:spPr>
          <a:xfrm>
            <a:off x="1783080" y="3310128"/>
            <a:ext cx="9601200" cy="457200"/>
          </a:xfrm>
          <a:prstGeom prst="rect">
            <a:avLst/>
          </a:prstGeom>
          <a:noFill/>
          <a:ln/>
        </p:spPr>
        <p:txBody>
          <a:bodyPr wrap="square" lIns="0" tIns="0" rIns="0" bIns="0" rtlCol="0" anchor="ctr"/>
          <a:lstStyle/>
          <a:p>
            <a:pPr marL="0" indent="0">
              <a:buNone/>
            </a:pPr>
            <a:r>
              <a:rPr lang="es-ES" sz="2000" b="1" noProof="0" dirty="0">
                <a:solidFill>
                  <a:srgbClr val="FFFFFF"/>
                </a:solidFill>
                <a:latin typeface="Calibri" pitchFamily="34" charset="0"/>
                <a:ea typeface="Calibri" pitchFamily="34" charset="-122"/>
                <a:cs typeface="Calibri" pitchFamily="34" charset="-120"/>
              </a:rPr>
              <a:t>La calidad condiciona todo</a:t>
            </a:r>
            <a:endParaRPr lang="es-ES" sz="2000" noProof="0" dirty="0"/>
          </a:p>
        </p:txBody>
      </p:sp>
      <p:sp>
        <p:nvSpPr>
          <p:cNvPr id="9" name="Text 7"/>
          <p:cNvSpPr txBox="1"/>
          <p:nvPr/>
        </p:nvSpPr>
        <p:spPr>
          <a:xfrm>
            <a:off x="1783080" y="3813048"/>
            <a:ext cx="9601200" cy="822960"/>
          </a:xfrm>
          <a:prstGeom prst="rect">
            <a:avLst/>
          </a:prstGeom>
          <a:noFill/>
          <a:ln/>
        </p:spPr>
        <p:txBody>
          <a:bodyPr wrap="square" lIns="0" tIns="0" rIns="0" bIns="0" rtlCol="0" anchor="ctr"/>
          <a:lstStyle/>
          <a:p>
            <a:pPr marL="0" indent="0">
              <a:lnSpc>
                <a:spcPts val="2000"/>
              </a:lnSpc>
              <a:buNone/>
            </a:pPr>
            <a:r>
              <a:rPr lang="es-ES" sz="1450" noProof="0" dirty="0">
                <a:solidFill>
                  <a:srgbClr val="CADCFC"/>
                </a:solidFill>
                <a:latin typeface="Calibri" pitchFamily="34" charset="0"/>
                <a:ea typeface="Calibri" pitchFamily="34" charset="-122"/>
                <a:cs typeface="Calibri" pitchFamily="34" charset="-120"/>
              </a:rPr>
              <a:t>Había valores imposibles e inconsistencias que distorsionaban promedios y correlaciones: corregirlos fue condición previa a cualquier conclusión.</a:t>
            </a:r>
            <a:endParaRPr lang="es-ES" sz="1450" noProof="0" dirty="0"/>
          </a:p>
        </p:txBody>
      </p:sp>
      <p:sp>
        <p:nvSpPr>
          <p:cNvPr id="10" name="Text 8"/>
          <p:cNvSpPr txBox="1"/>
          <p:nvPr/>
        </p:nvSpPr>
        <p:spPr>
          <a:xfrm>
            <a:off x="548640" y="4745736"/>
            <a:ext cx="1097280" cy="914400"/>
          </a:xfrm>
          <a:prstGeom prst="rect">
            <a:avLst/>
          </a:prstGeom>
          <a:noFill/>
          <a:ln/>
        </p:spPr>
        <p:txBody>
          <a:bodyPr wrap="square" lIns="0" tIns="0" rIns="0" bIns="0" rtlCol="0" anchor="ctr"/>
          <a:lstStyle/>
          <a:p>
            <a:pPr marL="0" indent="0">
              <a:buNone/>
            </a:pPr>
            <a:r>
              <a:rPr lang="es-ES" sz="4000" b="1" noProof="0" dirty="0">
                <a:solidFill>
                  <a:srgbClr val="2A9D8F"/>
                </a:solidFill>
                <a:latin typeface="Cambria" pitchFamily="34" charset="0"/>
                <a:ea typeface="Cambria" pitchFamily="34" charset="-122"/>
                <a:cs typeface="Cambria" pitchFamily="34" charset="-120"/>
              </a:rPr>
              <a:t>03</a:t>
            </a:r>
            <a:endParaRPr lang="es-ES" sz="4000" noProof="0" dirty="0"/>
          </a:p>
        </p:txBody>
      </p:sp>
      <p:sp>
        <p:nvSpPr>
          <p:cNvPr id="11" name="Text 9"/>
          <p:cNvSpPr txBox="1"/>
          <p:nvPr/>
        </p:nvSpPr>
        <p:spPr>
          <a:xfrm>
            <a:off x="1783080" y="4791456"/>
            <a:ext cx="9601200" cy="457200"/>
          </a:xfrm>
          <a:prstGeom prst="rect">
            <a:avLst/>
          </a:prstGeom>
          <a:noFill/>
          <a:ln/>
        </p:spPr>
        <p:txBody>
          <a:bodyPr wrap="square" lIns="0" tIns="0" rIns="0" bIns="0" rtlCol="0" anchor="ctr"/>
          <a:lstStyle/>
          <a:p>
            <a:pPr marL="0" indent="0">
              <a:buNone/>
            </a:pPr>
            <a:r>
              <a:rPr lang="es-ES" sz="2000" b="1" noProof="0" dirty="0">
                <a:solidFill>
                  <a:srgbClr val="FFFFFF"/>
                </a:solidFill>
                <a:latin typeface="Calibri" pitchFamily="34" charset="0"/>
                <a:ea typeface="Calibri" pitchFamily="34" charset="-122"/>
                <a:cs typeface="Calibri" pitchFamily="34" charset="-120"/>
              </a:rPr>
              <a:t>Justificar, no automatizar</a:t>
            </a:r>
            <a:endParaRPr lang="es-ES" sz="2000" noProof="0" dirty="0"/>
          </a:p>
        </p:txBody>
      </p:sp>
      <p:sp>
        <p:nvSpPr>
          <p:cNvPr id="12" name="Text 10"/>
          <p:cNvSpPr txBox="1"/>
          <p:nvPr/>
        </p:nvSpPr>
        <p:spPr>
          <a:xfrm>
            <a:off x="1783080" y="5294376"/>
            <a:ext cx="9601200" cy="822960"/>
          </a:xfrm>
          <a:prstGeom prst="rect">
            <a:avLst/>
          </a:prstGeom>
          <a:noFill/>
          <a:ln/>
        </p:spPr>
        <p:txBody>
          <a:bodyPr wrap="square" lIns="0" tIns="0" rIns="0" bIns="0" rtlCol="0" anchor="ctr"/>
          <a:lstStyle/>
          <a:p>
            <a:pPr marL="0" indent="0">
              <a:lnSpc>
                <a:spcPts val="2000"/>
              </a:lnSpc>
              <a:buNone/>
            </a:pPr>
            <a:r>
              <a:rPr lang="es-ES" sz="1450" noProof="0" dirty="0">
                <a:solidFill>
                  <a:srgbClr val="CADCFC"/>
                </a:solidFill>
                <a:latin typeface="Calibri" pitchFamily="34" charset="0"/>
                <a:ea typeface="Calibri" pitchFamily="34" charset="-122"/>
                <a:cs typeface="Calibri" pitchFamily="34" charset="-120"/>
              </a:rPr>
              <a:t>Cada transformación se fundamentó en el diagnóstico. El pipeline hace el proceso reproducible, no reemplaza el criterio.</a:t>
            </a:r>
            <a:endParaRPr lang="es-ES" sz="145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TotalTime>
  <Words>904</Words>
  <Application>Microsoft Office PowerPoint</Application>
  <PresentationFormat>Panorámica</PresentationFormat>
  <Paragraphs>181</Paragraphs>
  <Slides>11</Slides>
  <Notes>11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Abadi</vt: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Alexis Rodrigo Arevalo Araneda</cp:lastModifiedBy>
  <cp:revision>6</cp:revision>
  <dcterms:created xsi:type="dcterms:W3CDTF">2026-09-03T23:35:46Z</dcterms:created>
  <dcterms:modified xsi:type="dcterms:W3CDTF">2026-09-04T08:10:44Z</dcterms:modified>
</cp:coreProperties>
</file>