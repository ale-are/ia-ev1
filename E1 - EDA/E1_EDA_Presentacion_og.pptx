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240" y="-7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8833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2119"/>
        </a:solidFill>
        <a:effectLst/>
      </p:bgPr>
    </p:bg>
    <p:spTree>
      <p:nvGrpSpPr>
        <p:cNvPr id="1" name=""/>
        <p:cNvGrpSpPr/>
        <p:nvPr/>
      </p:nvGrpSpPr>
      <p:grpSpPr>
        <a:xfrm>
          <a:off x="0" y="0"/>
          <a:ext cx="0" cy="0"/>
          <a:chOff x="0" y="0"/>
          <a:chExt cx="0" cy="0"/>
        </a:xfrm>
      </p:grpSpPr>
      <p:sp>
        <p:nvSpPr>
          <p:cNvPr id="2" name="Text 0"/>
          <p:cNvSpPr txBox="1"/>
          <p:nvPr/>
        </p:nvSpPr>
        <p:spPr>
          <a:xfrm>
            <a:off x="777240" y="685800"/>
            <a:ext cx="7315200" cy="274320"/>
          </a:xfrm>
          <a:prstGeom prst="rect">
            <a:avLst/>
          </a:prstGeom>
          <a:noFill/>
          <a:ln/>
        </p:spPr>
        <p:txBody>
          <a:bodyPr wrap="square" lIns="0" tIns="0" rIns="0" bIns="0" rtlCol="0" anchor="ctr"/>
          <a:lstStyle/>
          <a:p>
            <a:pPr marL="0" indent="0">
              <a:buNone/>
            </a:pPr>
            <a:r>
              <a:rPr lang="en-US" sz="1300" kern="0" spc="100" dirty="0">
                <a:solidFill>
                  <a:srgbClr val="C6952F"/>
                </a:solidFill>
                <a:latin typeface="Courier New" pitchFamily="34" charset="0"/>
                <a:ea typeface="Courier New" pitchFamily="34" charset="-122"/>
                <a:cs typeface="Courier New" pitchFamily="34" charset="-120"/>
              </a:rPr>
              <a:t>§ 01 · EVALUACIÓN</a:t>
            </a:r>
            <a:endParaRPr lang="en-US" sz="1300" dirty="0"/>
          </a:p>
        </p:txBody>
      </p:sp>
      <p:sp>
        <p:nvSpPr>
          <p:cNvPr id="3" name="Shape 1"/>
          <p:cNvSpPr/>
          <p:nvPr/>
        </p:nvSpPr>
        <p:spPr>
          <a:xfrm>
            <a:off x="795528" y="1828800"/>
            <a:ext cx="3108960" cy="27432"/>
          </a:xfrm>
          <a:prstGeom prst="rect">
            <a:avLst/>
          </a:prstGeom>
          <a:solidFill>
            <a:srgbClr val="D9552F"/>
          </a:solidFill>
          <a:ln/>
        </p:spPr>
        <p:txBody>
          <a:bodyPr/>
          <a:lstStyle/>
          <a:p>
            <a:endParaRPr lang="es-CL"/>
          </a:p>
        </p:txBody>
      </p:sp>
      <p:sp>
        <p:nvSpPr>
          <p:cNvPr id="4" name="Text 2"/>
          <p:cNvSpPr txBox="1"/>
          <p:nvPr/>
        </p:nvSpPr>
        <p:spPr>
          <a:xfrm>
            <a:off x="731520" y="2057400"/>
            <a:ext cx="10515600" cy="1828800"/>
          </a:xfrm>
          <a:prstGeom prst="rect">
            <a:avLst/>
          </a:prstGeom>
          <a:noFill/>
          <a:ln/>
        </p:spPr>
        <p:txBody>
          <a:bodyPr wrap="square" lIns="0" tIns="0" rIns="0" bIns="0" rtlCol="0" anchor="ctr"/>
          <a:lstStyle/>
          <a:p>
            <a:pPr marL="0" indent="0">
              <a:lnSpc>
                <a:spcPts val="5200"/>
              </a:lnSpc>
              <a:buNone/>
            </a:pPr>
            <a:r>
              <a:rPr lang="en-US" sz="5000" b="1" dirty="0">
                <a:solidFill>
                  <a:srgbClr val="F2EFE8"/>
                </a:solidFill>
                <a:latin typeface="Century Schoolbook" pitchFamily="34" charset="0"/>
                <a:ea typeface="Century Schoolbook" pitchFamily="34" charset="-122"/>
                <a:cs typeface="Century Schoolbook" pitchFamily="34" charset="-120"/>
              </a:rPr>
              <a:t>Calidad y</a:t>
            </a:r>
            <a:endParaRPr lang="en-US" sz="5000" dirty="0"/>
          </a:p>
          <a:p>
            <a:pPr marL="0" indent="0">
              <a:lnSpc>
                <a:spcPts val="5200"/>
              </a:lnSpc>
              <a:buNone/>
            </a:pPr>
            <a:r>
              <a:rPr lang="en-US" sz="5000" b="1" dirty="0">
                <a:solidFill>
                  <a:srgbClr val="F2EFE8"/>
                </a:solidFill>
                <a:latin typeface="Century Schoolbook" pitchFamily="34" charset="0"/>
                <a:ea typeface="Century Schoolbook" pitchFamily="34" charset="-122"/>
                <a:cs typeface="Century Schoolbook" pitchFamily="34" charset="-120"/>
              </a:rPr>
              <a:t>Preparación de Datos</a:t>
            </a:r>
            <a:endParaRPr lang="en-US" sz="5000" dirty="0"/>
          </a:p>
        </p:txBody>
      </p:sp>
      <p:sp>
        <p:nvSpPr>
          <p:cNvPr id="5" name="Text 3"/>
          <p:cNvSpPr txBox="1"/>
          <p:nvPr/>
        </p:nvSpPr>
        <p:spPr>
          <a:xfrm>
            <a:off x="777240" y="4114800"/>
            <a:ext cx="8686800" cy="548640"/>
          </a:xfrm>
          <a:prstGeom prst="rect">
            <a:avLst/>
          </a:prstGeom>
          <a:noFill/>
          <a:ln/>
        </p:spPr>
        <p:txBody>
          <a:bodyPr wrap="square" lIns="0" tIns="0" rIns="0" bIns="0" rtlCol="0" anchor="ctr"/>
          <a:lstStyle/>
          <a:p>
            <a:pPr marL="0" indent="0">
              <a:buNone/>
            </a:pPr>
            <a:r>
              <a:rPr lang="en-US" sz="1700" dirty="0">
                <a:solidFill>
                  <a:srgbClr val="C9C2B4"/>
                </a:solidFill>
                <a:latin typeface="Calibri" pitchFamily="34" charset="0"/>
                <a:ea typeface="Calibri" pitchFamily="34" charset="-122"/>
                <a:cs typeface="Calibri" pitchFamily="34" charset="-120"/>
              </a:rPr>
              <a:t>Diagnóstico, análisis exploratorio y tratamiento del dataset de rendimiento académico.</a:t>
            </a:r>
            <a:endParaRPr lang="en-US" sz="1700" dirty="0"/>
          </a:p>
        </p:txBody>
      </p:sp>
      <p:sp>
        <p:nvSpPr>
          <p:cNvPr id="6" name="Text 4"/>
          <p:cNvSpPr txBox="1"/>
          <p:nvPr/>
        </p:nvSpPr>
        <p:spPr>
          <a:xfrm>
            <a:off x="777240" y="5394960"/>
            <a:ext cx="10515600" cy="1097280"/>
          </a:xfrm>
          <a:prstGeom prst="rect">
            <a:avLst/>
          </a:prstGeom>
          <a:noFill/>
          <a:ln/>
        </p:spPr>
        <p:txBody>
          <a:bodyPr wrap="square" lIns="0" tIns="0" rIns="0" bIns="0" rtlCol="0" anchor="ctr"/>
          <a:lstStyle/>
          <a:p>
            <a:pPr marL="0" indent="0">
              <a:lnSpc>
                <a:spcPts val="2000"/>
              </a:lnSpc>
              <a:buNone/>
            </a:pPr>
            <a:r>
              <a:rPr lang="en-US" sz="1250" dirty="0">
                <a:solidFill>
                  <a:srgbClr val="C6952F"/>
                </a:solidFill>
                <a:latin typeface="Courier New" pitchFamily="34" charset="0"/>
                <a:ea typeface="Courier New" pitchFamily="34" charset="-122"/>
                <a:cs typeface="Courier New" pitchFamily="34" charset="-120"/>
              </a:rPr>
              <a:t>DATASET     </a:t>
            </a:r>
            <a:r>
              <a:rPr lang="en-US" sz="1250" dirty="0">
                <a:solidFill>
                  <a:srgbClr val="F2EFE8"/>
                </a:solidFill>
                <a:latin typeface="Courier New" pitchFamily="34" charset="0"/>
                <a:ea typeface="Courier New" pitchFamily="34" charset="-122"/>
                <a:cs typeface="Courier New" pitchFamily="34" charset="-120"/>
              </a:rPr>
              <a:t>5.100 registros · 11 variables
</a:t>
            </a:r>
            <a:r>
              <a:rPr lang="en-US" sz="1250" dirty="0">
                <a:solidFill>
                  <a:srgbClr val="C6952F"/>
                </a:solidFill>
                <a:latin typeface="Courier New" pitchFamily="34" charset="0"/>
                <a:ea typeface="Courier New" pitchFamily="34" charset="-122"/>
                <a:cs typeface="Courier New" pitchFamily="34" charset="-120"/>
              </a:rPr>
              <a:t>EQUIPO      </a:t>
            </a:r>
            <a:r>
              <a:rPr lang="en-US" sz="1250" dirty="0">
                <a:solidFill>
                  <a:srgbClr val="F2EFE8"/>
                </a:solidFill>
                <a:latin typeface="Courier New" pitchFamily="34" charset="0"/>
                <a:ea typeface="Courier New" pitchFamily="34" charset="-122"/>
                <a:cs typeface="Courier New" pitchFamily="34" charset="-120"/>
              </a:rPr>
              <a:t>Alexis Arévalo · Gabriel Ascencio · Alonso Barra · Cristóbal Bravo
</a:t>
            </a:r>
            <a:r>
              <a:rPr lang="en-US" sz="1250" dirty="0">
                <a:solidFill>
                  <a:srgbClr val="C6952F"/>
                </a:solidFill>
                <a:latin typeface="Courier New" pitchFamily="34" charset="0"/>
                <a:ea typeface="Courier New" pitchFamily="34" charset="-122"/>
                <a:cs typeface="Courier New" pitchFamily="34" charset="-120"/>
              </a:rPr>
              <a:t>RAMO        </a:t>
            </a:r>
            <a:r>
              <a:rPr lang="en-US" sz="1250" dirty="0">
                <a:solidFill>
                  <a:srgbClr val="F2EFE8"/>
                </a:solidFill>
                <a:latin typeface="Courier New" pitchFamily="34" charset="0"/>
                <a:ea typeface="Courier New" pitchFamily="34" charset="-122"/>
                <a:cs typeface="Courier New" pitchFamily="34" charset="-120"/>
              </a:rPr>
              <a:t>Inteligencia Artificial · 2026-2</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FE8"/>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058400" cy="274320"/>
          </a:xfrm>
          <a:prstGeom prst="rect">
            <a:avLst/>
          </a:prstGeom>
          <a:noFill/>
          <a:ln/>
        </p:spPr>
        <p:txBody>
          <a:bodyPr wrap="square" lIns="0" tIns="0" rIns="0" bIns="0" rtlCol="0" anchor="ctr"/>
          <a:lstStyle/>
          <a:p>
            <a:pPr marL="0" indent="0">
              <a:buNone/>
            </a:pPr>
            <a:r>
              <a:rPr lang="en-US" sz="1250" b="1" kern="0" spc="100" dirty="0">
                <a:solidFill>
                  <a:srgbClr val="D9552F"/>
                </a:solidFill>
                <a:latin typeface="Courier New" pitchFamily="34" charset="0"/>
                <a:ea typeface="Courier New" pitchFamily="34" charset="-122"/>
                <a:cs typeface="Courier New" pitchFamily="34" charset="-120"/>
              </a:rPr>
              <a:t>§ 02</a:t>
            </a:r>
            <a:r>
              <a:rPr lang="en-US" sz="1250" kern="0" spc="100" dirty="0">
                <a:solidFill>
                  <a:srgbClr val="14504A"/>
                </a:solidFill>
                <a:latin typeface="Courier New" pitchFamily="34" charset="0"/>
                <a:ea typeface="Courier New" pitchFamily="34" charset="-122"/>
                <a:cs typeface="Courier New" pitchFamily="34" charset="-120"/>
              </a:rPr>
              <a:t>   CONTEXTO Y OBJETIVOS</a:t>
            </a:r>
            <a:endParaRPr lang="en-US" sz="1250" dirty="0"/>
          </a:p>
        </p:txBody>
      </p:sp>
      <p:sp>
        <p:nvSpPr>
          <p:cNvPr id="3" name="Text 1"/>
          <p:cNvSpPr txBox="1"/>
          <p:nvPr/>
        </p:nvSpPr>
        <p:spPr>
          <a:xfrm>
            <a:off x="9784080" y="137160"/>
            <a:ext cx="2103120" cy="1280160"/>
          </a:xfrm>
          <a:prstGeom prst="rect">
            <a:avLst/>
          </a:prstGeom>
          <a:noFill/>
          <a:ln/>
        </p:spPr>
        <p:txBody>
          <a:bodyPr wrap="square" lIns="0" tIns="0" rIns="0" bIns="0" rtlCol="0" anchor="ctr"/>
          <a:lstStyle/>
          <a:p>
            <a:pPr marL="0" indent="0" algn="r">
              <a:buNone/>
            </a:pPr>
            <a:r>
              <a:rPr lang="en-US" sz="9600" b="1" dirty="0">
                <a:solidFill>
                  <a:srgbClr val="E4DDCD"/>
                </a:solidFill>
                <a:latin typeface="Century Schoolbook" pitchFamily="34" charset="0"/>
                <a:ea typeface="Century Schoolbook" pitchFamily="34" charset="-122"/>
                <a:cs typeface="Century Schoolbook" pitchFamily="34" charset="-120"/>
              </a:rPr>
              <a:t>02</a:t>
            </a:r>
            <a:endParaRPr lang="en-US" sz="9600" dirty="0"/>
          </a:p>
        </p:txBody>
      </p:sp>
      <p:sp>
        <p:nvSpPr>
          <p:cNvPr id="4" name="Text 2"/>
          <p:cNvSpPr txBox="1"/>
          <p:nvPr/>
        </p:nvSpPr>
        <p:spPr>
          <a:xfrm>
            <a:off x="640080" y="868680"/>
            <a:ext cx="10424160" cy="822960"/>
          </a:xfrm>
          <a:prstGeom prst="rect">
            <a:avLst/>
          </a:prstGeom>
          <a:noFill/>
          <a:ln/>
        </p:spPr>
        <p:txBody>
          <a:bodyPr wrap="square" lIns="0" tIns="0" rIns="0" bIns="0" rtlCol="0" anchor="ctr"/>
          <a:lstStyle/>
          <a:p>
            <a:pPr marL="0" indent="0">
              <a:buNone/>
            </a:pPr>
            <a:r>
              <a:rPr lang="en-US" sz="3300" b="1" dirty="0">
                <a:solidFill>
                  <a:srgbClr val="252119"/>
                </a:solidFill>
                <a:latin typeface="Century Schoolbook" pitchFamily="34" charset="0"/>
                <a:ea typeface="Century Schoolbook" pitchFamily="34" charset="-122"/>
                <a:cs typeface="Century Schoolbook" pitchFamily="34" charset="-120"/>
              </a:rPr>
              <a:t>Por qué y para qué</a:t>
            </a:r>
            <a:endParaRPr lang="en-US" sz="3300" dirty="0"/>
          </a:p>
        </p:txBody>
      </p:sp>
      <p:sp>
        <p:nvSpPr>
          <p:cNvPr id="5" name="Text 3"/>
          <p:cNvSpPr txBox="1"/>
          <p:nvPr/>
        </p:nvSpPr>
        <p:spPr>
          <a:xfrm>
            <a:off x="640080" y="1783080"/>
            <a:ext cx="5029200" cy="2377440"/>
          </a:xfrm>
          <a:prstGeom prst="rect">
            <a:avLst/>
          </a:prstGeom>
          <a:noFill/>
          <a:ln/>
        </p:spPr>
        <p:txBody>
          <a:bodyPr wrap="square" lIns="0" tIns="0" rIns="0" bIns="0" rtlCol="0" anchor="ctr"/>
          <a:lstStyle/>
          <a:p>
            <a:pPr marL="0" indent="0">
              <a:lnSpc>
                <a:spcPts val="2400"/>
              </a:lnSpc>
              <a:buNone/>
            </a:pPr>
            <a:r>
              <a:rPr lang="en-US" sz="1600" dirty="0">
                <a:solidFill>
                  <a:srgbClr val="252119"/>
                </a:solidFill>
                <a:latin typeface="Calibri" pitchFamily="34" charset="0"/>
                <a:ea typeface="Calibri" pitchFamily="34" charset="-122"/>
                <a:cs typeface="Calibri" pitchFamily="34" charset="-120"/>
              </a:rPr>
              <a:t>Una institución de educación superior quiere analizar el rendimiento de sus estudiantes. Antes de cualquier análisis hay que determinar si los datos tienen problemas de calidad que afecten las conclusiones. Nuestro objetivo: dejar un proceso reproducible en cinco pasos.</a:t>
            </a:r>
            <a:endParaRPr lang="en-US" sz="1600" dirty="0"/>
          </a:p>
        </p:txBody>
      </p:sp>
      <p:sp>
        <p:nvSpPr>
          <p:cNvPr id="6" name="Text 4"/>
          <p:cNvSpPr txBox="1"/>
          <p:nvPr/>
        </p:nvSpPr>
        <p:spPr>
          <a:xfrm>
            <a:off x="640080" y="4297680"/>
            <a:ext cx="5029200" cy="365760"/>
          </a:xfrm>
          <a:prstGeom prst="rect">
            <a:avLst/>
          </a:prstGeom>
          <a:noFill/>
          <a:ln/>
        </p:spPr>
        <p:txBody>
          <a:bodyPr wrap="square" lIns="0" tIns="0" rIns="0" bIns="0" rtlCol="0" anchor="ctr"/>
          <a:lstStyle/>
          <a:p>
            <a:pPr marL="0" indent="0">
              <a:buNone/>
            </a:pPr>
            <a:r>
              <a:rPr lang="en-US" sz="1250" b="1" dirty="0">
                <a:solidFill>
                  <a:srgbClr val="D9552F"/>
                </a:solidFill>
                <a:latin typeface="Courier New" pitchFamily="34" charset="0"/>
                <a:ea typeface="Courier New" pitchFamily="34" charset="-122"/>
                <a:cs typeface="Courier New" pitchFamily="34" charset="-120"/>
              </a:rPr>
              <a:t>El dato incómodo:</a:t>
            </a:r>
            <a:endParaRPr lang="en-US" sz="1250" dirty="0"/>
          </a:p>
        </p:txBody>
      </p:sp>
      <p:sp>
        <p:nvSpPr>
          <p:cNvPr id="7" name="Text 5"/>
          <p:cNvSpPr txBox="1"/>
          <p:nvPr/>
        </p:nvSpPr>
        <p:spPr>
          <a:xfrm>
            <a:off x="640080" y="4617720"/>
            <a:ext cx="5029200" cy="1097280"/>
          </a:xfrm>
          <a:prstGeom prst="rect">
            <a:avLst/>
          </a:prstGeom>
          <a:noFill/>
          <a:ln/>
        </p:spPr>
        <p:txBody>
          <a:bodyPr wrap="square" lIns="0" tIns="0" rIns="0" bIns="0" rtlCol="0" anchor="ctr"/>
          <a:lstStyle/>
          <a:p>
            <a:pPr marL="0" indent="0">
              <a:lnSpc>
                <a:spcPts val="2300"/>
              </a:lnSpc>
              <a:buNone/>
            </a:pPr>
            <a:r>
              <a:rPr lang="en-US" sz="1700" i="1" dirty="0">
                <a:solidFill>
                  <a:srgbClr val="14504A"/>
                </a:solidFill>
                <a:latin typeface="Century Schoolbook" pitchFamily="34" charset="0"/>
                <a:ea typeface="Century Schoolbook" pitchFamily="34" charset="-122"/>
                <a:cs typeface="Century Schoolbook" pitchFamily="34" charset="-120"/>
              </a:rPr>
              <a:t>“Basura entra, basura sale.” Un modelo aprende lo que le des; por eso limpiar bien es la mitad del trabajo.</a:t>
            </a:r>
            <a:endParaRPr lang="en-US" sz="1700" dirty="0"/>
          </a:p>
        </p:txBody>
      </p:sp>
      <p:sp>
        <p:nvSpPr>
          <p:cNvPr id="8" name="Text 6"/>
          <p:cNvSpPr txBox="1"/>
          <p:nvPr/>
        </p:nvSpPr>
        <p:spPr>
          <a:xfrm>
            <a:off x="6309360" y="1828800"/>
            <a:ext cx="822960" cy="548640"/>
          </a:xfrm>
          <a:prstGeom prst="rect">
            <a:avLst/>
          </a:prstGeom>
          <a:noFill/>
          <a:ln/>
        </p:spPr>
        <p:txBody>
          <a:bodyPr wrap="square" lIns="0" tIns="0" rIns="0" bIns="0" rtlCol="0" anchor="ctr"/>
          <a:lstStyle/>
          <a:p>
            <a:pPr marL="0" indent="0">
              <a:buNone/>
            </a:pPr>
            <a:r>
              <a:rPr lang="en-US" sz="2000" b="1" dirty="0">
                <a:solidFill>
                  <a:srgbClr val="D9552F"/>
                </a:solidFill>
                <a:latin typeface="Courier New" pitchFamily="34" charset="0"/>
                <a:ea typeface="Courier New" pitchFamily="34" charset="-122"/>
                <a:cs typeface="Courier New" pitchFamily="34" charset="-120"/>
              </a:rPr>
              <a:t>01</a:t>
            </a:r>
            <a:endParaRPr lang="en-US" sz="2000" dirty="0"/>
          </a:p>
        </p:txBody>
      </p:sp>
      <p:sp>
        <p:nvSpPr>
          <p:cNvPr id="9" name="Text 7"/>
          <p:cNvSpPr txBox="1"/>
          <p:nvPr/>
        </p:nvSpPr>
        <p:spPr>
          <a:xfrm>
            <a:off x="7132320" y="1828800"/>
            <a:ext cx="4480560" cy="548640"/>
          </a:xfrm>
          <a:prstGeom prst="rect">
            <a:avLst/>
          </a:prstGeom>
          <a:noFill/>
          <a:ln/>
        </p:spPr>
        <p:txBody>
          <a:bodyPr wrap="square" lIns="0" tIns="0" rIns="0" bIns="0" rtlCol="0" anchor="ctr"/>
          <a:lstStyle/>
          <a:p>
            <a:pPr marL="0" indent="0">
              <a:buNone/>
            </a:pPr>
            <a:r>
              <a:rPr lang="en-US" sz="1700" dirty="0">
                <a:solidFill>
                  <a:srgbClr val="252119"/>
                </a:solidFill>
                <a:latin typeface="Century Schoolbook" pitchFamily="34" charset="0"/>
                <a:ea typeface="Century Schoolbook" pitchFamily="34" charset="-122"/>
                <a:cs typeface="Century Schoolbook" pitchFamily="34" charset="-120"/>
              </a:rPr>
              <a:t>Diagnosticar la calidad de los datos</a:t>
            </a:r>
            <a:endParaRPr lang="en-US" sz="1700" dirty="0"/>
          </a:p>
        </p:txBody>
      </p:sp>
      <p:sp>
        <p:nvSpPr>
          <p:cNvPr id="10" name="Shape 8"/>
          <p:cNvSpPr/>
          <p:nvPr/>
        </p:nvSpPr>
        <p:spPr>
          <a:xfrm>
            <a:off x="7132320" y="2487168"/>
            <a:ext cx="4343400" cy="12802"/>
          </a:xfrm>
          <a:prstGeom prst="rect">
            <a:avLst/>
          </a:prstGeom>
          <a:solidFill>
            <a:srgbClr val="D9D2C4"/>
          </a:solidFill>
          <a:ln/>
        </p:spPr>
        <p:txBody>
          <a:bodyPr/>
          <a:lstStyle/>
          <a:p>
            <a:endParaRPr lang="es-CL"/>
          </a:p>
        </p:txBody>
      </p:sp>
      <p:sp>
        <p:nvSpPr>
          <p:cNvPr id="11" name="Text 9"/>
          <p:cNvSpPr txBox="1"/>
          <p:nvPr/>
        </p:nvSpPr>
        <p:spPr>
          <a:xfrm>
            <a:off x="6309360" y="2670048"/>
            <a:ext cx="822960" cy="548640"/>
          </a:xfrm>
          <a:prstGeom prst="rect">
            <a:avLst/>
          </a:prstGeom>
          <a:noFill/>
          <a:ln/>
        </p:spPr>
        <p:txBody>
          <a:bodyPr wrap="square" lIns="0" tIns="0" rIns="0" bIns="0" rtlCol="0" anchor="ctr"/>
          <a:lstStyle/>
          <a:p>
            <a:pPr marL="0" indent="0">
              <a:buNone/>
            </a:pPr>
            <a:r>
              <a:rPr lang="en-US" sz="2000" b="1" dirty="0">
                <a:solidFill>
                  <a:srgbClr val="D9552F"/>
                </a:solidFill>
                <a:latin typeface="Courier New" pitchFamily="34" charset="0"/>
                <a:ea typeface="Courier New" pitchFamily="34" charset="-122"/>
                <a:cs typeface="Courier New" pitchFamily="34" charset="-120"/>
              </a:rPr>
              <a:t>02</a:t>
            </a:r>
            <a:endParaRPr lang="en-US" sz="2000" dirty="0"/>
          </a:p>
        </p:txBody>
      </p:sp>
      <p:sp>
        <p:nvSpPr>
          <p:cNvPr id="12" name="Text 10"/>
          <p:cNvSpPr txBox="1"/>
          <p:nvPr/>
        </p:nvSpPr>
        <p:spPr>
          <a:xfrm>
            <a:off x="7132320" y="2670048"/>
            <a:ext cx="4480560" cy="548640"/>
          </a:xfrm>
          <a:prstGeom prst="rect">
            <a:avLst/>
          </a:prstGeom>
          <a:noFill/>
          <a:ln/>
        </p:spPr>
        <p:txBody>
          <a:bodyPr wrap="square" lIns="0" tIns="0" rIns="0" bIns="0" rtlCol="0" anchor="ctr"/>
          <a:lstStyle/>
          <a:p>
            <a:pPr marL="0" indent="0">
              <a:buNone/>
            </a:pPr>
            <a:r>
              <a:rPr lang="en-US" sz="1700" dirty="0">
                <a:solidFill>
                  <a:srgbClr val="252119"/>
                </a:solidFill>
                <a:latin typeface="Century Schoolbook" pitchFamily="34" charset="0"/>
                <a:ea typeface="Century Schoolbook" pitchFamily="34" charset="-122"/>
                <a:cs typeface="Century Schoolbook" pitchFamily="34" charset="-120"/>
              </a:rPr>
              <a:t>Realizar el análisis exploratorio (EDA)</a:t>
            </a:r>
            <a:endParaRPr lang="en-US" sz="1700" dirty="0"/>
          </a:p>
        </p:txBody>
      </p:sp>
      <p:sp>
        <p:nvSpPr>
          <p:cNvPr id="13" name="Shape 11"/>
          <p:cNvSpPr/>
          <p:nvPr/>
        </p:nvSpPr>
        <p:spPr>
          <a:xfrm>
            <a:off x="7132320" y="3328416"/>
            <a:ext cx="4343400" cy="12802"/>
          </a:xfrm>
          <a:prstGeom prst="rect">
            <a:avLst/>
          </a:prstGeom>
          <a:solidFill>
            <a:srgbClr val="D9D2C4"/>
          </a:solidFill>
          <a:ln/>
        </p:spPr>
        <p:txBody>
          <a:bodyPr/>
          <a:lstStyle/>
          <a:p>
            <a:endParaRPr lang="es-CL"/>
          </a:p>
        </p:txBody>
      </p:sp>
      <p:sp>
        <p:nvSpPr>
          <p:cNvPr id="14" name="Text 12"/>
          <p:cNvSpPr txBox="1"/>
          <p:nvPr/>
        </p:nvSpPr>
        <p:spPr>
          <a:xfrm>
            <a:off x="6309360" y="3511296"/>
            <a:ext cx="822960" cy="548640"/>
          </a:xfrm>
          <a:prstGeom prst="rect">
            <a:avLst/>
          </a:prstGeom>
          <a:noFill/>
          <a:ln/>
        </p:spPr>
        <p:txBody>
          <a:bodyPr wrap="square" lIns="0" tIns="0" rIns="0" bIns="0" rtlCol="0" anchor="ctr"/>
          <a:lstStyle/>
          <a:p>
            <a:pPr marL="0" indent="0">
              <a:buNone/>
            </a:pPr>
            <a:r>
              <a:rPr lang="en-US" sz="2000" b="1" dirty="0">
                <a:solidFill>
                  <a:srgbClr val="D9552F"/>
                </a:solidFill>
                <a:latin typeface="Courier New" pitchFamily="34" charset="0"/>
                <a:ea typeface="Courier New" pitchFamily="34" charset="-122"/>
                <a:cs typeface="Courier New" pitchFamily="34" charset="-120"/>
              </a:rPr>
              <a:t>03</a:t>
            </a:r>
            <a:endParaRPr lang="en-US" sz="2000" dirty="0"/>
          </a:p>
        </p:txBody>
      </p:sp>
      <p:sp>
        <p:nvSpPr>
          <p:cNvPr id="15" name="Text 13"/>
          <p:cNvSpPr txBox="1"/>
          <p:nvPr/>
        </p:nvSpPr>
        <p:spPr>
          <a:xfrm>
            <a:off x="7132320" y="3511296"/>
            <a:ext cx="4480560" cy="548640"/>
          </a:xfrm>
          <a:prstGeom prst="rect">
            <a:avLst/>
          </a:prstGeom>
          <a:noFill/>
          <a:ln/>
        </p:spPr>
        <p:txBody>
          <a:bodyPr wrap="square" lIns="0" tIns="0" rIns="0" bIns="0" rtlCol="0" anchor="ctr"/>
          <a:lstStyle/>
          <a:p>
            <a:pPr marL="0" indent="0">
              <a:buNone/>
            </a:pPr>
            <a:r>
              <a:rPr lang="en-US" sz="1700" dirty="0">
                <a:solidFill>
                  <a:srgbClr val="252119"/>
                </a:solidFill>
                <a:latin typeface="Century Schoolbook" pitchFamily="34" charset="0"/>
                <a:ea typeface="Century Schoolbook" pitchFamily="34" charset="-122"/>
                <a:cs typeface="Century Schoolbook" pitchFamily="34" charset="-120"/>
              </a:rPr>
              <a:t>Definir y justificar el tratamiento</a:t>
            </a:r>
            <a:endParaRPr lang="en-US" sz="1700" dirty="0"/>
          </a:p>
        </p:txBody>
      </p:sp>
      <p:sp>
        <p:nvSpPr>
          <p:cNvPr id="16" name="Shape 14"/>
          <p:cNvSpPr/>
          <p:nvPr/>
        </p:nvSpPr>
        <p:spPr>
          <a:xfrm>
            <a:off x="7132320" y="4169664"/>
            <a:ext cx="4343400" cy="12802"/>
          </a:xfrm>
          <a:prstGeom prst="rect">
            <a:avLst/>
          </a:prstGeom>
          <a:solidFill>
            <a:srgbClr val="D9D2C4"/>
          </a:solidFill>
          <a:ln/>
        </p:spPr>
        <p:txBody>
          <a:bodyPr/>
          <a:lstStyle/>
          <a:p>
            <a:endParaRPr lang="es-CL"/>
          </a:p>
        </p:txBody>
      </p:sp>
      <p:sp>
        <p:nvSpPr>
          <p:cNvPr id="17" name="Text 15"/>
          <p:cNvSpPr txBox="1"/>
          <p:nvPr/>
        </p:nvSpPr>
        <p:spPr>
          <a:xfrm>
            <a:off x="6309360" y="4352544"/>
            <a:ext cx="822960" cy="548640"/>
          </a:xfrm>
          <a:prstGeom prst="rect">
            <a:avLst/>
          </a:prstGeom>
          <a:noFill/>
          <a:ln/>
        </p:spPr>
        <p:txBody>
          <a:bodyPr wrap="square" lIns="0" tIns="0" rIns="0" bIns="0" rtlCol="0" anchor="ctr"/>
          <a:lstStyle/>
          <a:p>
            <a:pPr marL="0" indent="0">
              <a:buNone/>
            </a:pPr>
            <a:r>
              <a:rPr lang="en-US" sz="2000" b="1" dirty="0">
                <a:solidFill>
                  <a:srgbClr val="D9552F"/>
                </a:solidFill>
                <a:latin typeface="Courier New" pitchFamily="34" charset="0"/>
                <a:ea typeface="Courier New" pitchFamily="34" charset="-122"/>
                <a:cs typeface="Courier New" pitchFamily="34" charset="-120"/>
              </a:rPr>
              <a:t>04</a:t>
            </a:r>
            <a:endParaRPr lang="en-US" sz="2000" dirty="0"/>
          </a:p>
        </p:txBody>
      </p:sp>
      <p:sp>
        <p:nvSpPr>
          <p:cNvPr id="18" name="Text 16"/>
          <p:cNvSpPr txBox="1"/>
          <p:nvPr/>
        </p:nvSpPr>
        <p:spPr>
          <a:xfrm>
            <a:off x="7132320" y="4352544"/>
            <a:ext cx="4480560" cy="548640"/>
          </a:xfrm>
          <a:prstGeom prst="rect">
            <a:avLst/>
          </a:prstGeom>
          <a:noFill/>
          <a:ln/>
        </p:spPr>
        <p:txBody>
          <a:bodyPr wrap="square" lIns="0" tIns="0" rIns="0" bIns="0" rtlCol="0" anchor="ctr"/>
          <a:lstStyle/>
          <a:p>
            <a:pPr marL="0" indent="0">
              <a:buNone/>
            </a:pPr>
            <a:r>
              <a:rPr lang="en-US" sz="1700" dirty="0">
                <a:solidFill>
                  <a:srgbClr val="252119"/>
                </a:solidFill>
                <a:latin typeface="Century Schoolbook" pitchFamily="34" charset="0"/>
                <a:ea typeface="Century Schoolbook" pitchFamily="34" charset="-122"/>
                <a:cs typeface="Century Schoolbook" pitchFamily="34" charset="-120"/>
              </a:rPr>
              <a:t>Implementar un pipeline reproducible</a:t>
            </a:r>
            <a:endParaRPr lang="en-US" sz="1700" dirty="0"/>
          </a:p>
        </p:txBody>
      </p:sp>
      <p:sp>
        <p:nvSpPr>
          <p:cNvPr id="19" name="Shape 17"/>
          <p:cNvSpPr/>
          <p:nvPr/>
        </p:nvSpPr>
        <p:spPr>
          <a:xfrm>
            <a:off x="7132320" y="5010912"/>
            <a:ext cx="4343400" cy="12802"/>
          </a:xfrm>
          <a:prstGeom prst="rect">
            <a:avLst/>
          </a:prstGeom>
          <a:solidFill>
            <a:srgbClr val="D9D2C4"/>
          </a:solidFill>
          <a:ln/>
        </p:spPr>
        <p:txBody>
          <a:bodyPr/>
          <a:lstStyle/>
          <a:p>
            <a:endParaRPr lang="es-CL"/>
          </a:p>
        </p:txBody>
      </p:sp>
      <p:sp>
        <p:nvSpPr>
          <p:cNvPr id="20" name="Text 18"/>
          <p:cNvSpPr txBox="1"/>
          <p:nvPr/>
        </p:nvSpPr>
        <p:spPr>
          <a:xfrm>
            <a:off x="6309360" y="5193792"/>
            <a:ext cx="822960" cy="548640"/>
          </a:xfrm>
          <a:prstGeom prst="rect">
            <a:avLst/>
          </a:prstGeom>
          <a:noFill/>
          <a:ln/>
        </p:spPr>
        <p:txBody>
          <a:bodyPr wrap="square" lIns="0" tIns="0" rIns="0" bIns="0" rtlCol="0" anchor="ctr"/>
          <a:lstStyle/>
          <a:p>
            <a:pPr marL="0" indent="0">
              <a:buNone/>
            </a:pPr>
            <a:r>
              <a:rPr lang="en-US" sz="2000" b="1" dirty="0">
                <a:solidFill>
                  <a:srgbClr val="D9552F"/>
                </a:solidFill>
                <a:latin typeface="Courier New" pitchFamily="34" charset="0"/>
                <a:ea typeface="Courier New" pitchFamily="34" charset="-122"/>
                <a:cs typeface="Courier New" pitchFamily="34" charset="-120"/>
              </a:rPr>
              <a:t>05</a:t>
            </a:r>
            <a:endParaRPr lang="en-US" sz="2000" dirty="0"/>
          </a:p>
        </p:txBody>
      </p:sp>
      <p:sp>
        <p:nvSpPr>
          <p:cNvPr id="21" name="Text 19"/>
          <p:cNvSpPr txBox="1"/>
          <p:nvPr/>
        </p:nvSpPr>
        <p:spPr>
          <a:xfrm>
            <a:off x="7132320" y="5193792"/>
            <a:ext cx="4480560" cy="548640"/>
          </a:xfrm>
          <a:prstGeom prst="rect">
            <a:avLst/>
          </a:prstGeom>
          <a:noFill/>
          <a:ln/>
        </p:spPr>
        <p:txBody>
          <a:bodyPr wrap="square" lIns="0" tIns="0" rIns="0" bIns="0" rtlCol="0" anchor="ctr"/>
          <a:lstStyle/>
          <a:p>
            <a:pPr marL="0" indent="0">
              <a:buNone/>
            </a:pPr>
            <a:r>
              <a:rPr lang="en-US" sz="1700" dirty="0">
                <a:solidFill>
                  <a:srgbClr val="252119"/>
                </a:solidFill>
                <a:latin typeface="Century Schoolbook" pitchFamily="34" charset="0"/>
                <a:ea typeface="Century Schoolbook" pitchFamily="34" charset="-122"/>
                <a:cs typeface="Century Schoolbook" pitchFamily="34" charset="-120"/>
              </a:rPr>
              <a:t>Exportar el dataset limpio</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FE8"/>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058400" cy="274320"/>
          </a:xfrm>
          <a:prstGeom prst="rect">
            <a:avLst/>
          </a:prstGeom>
          <a:noFill/>
          <a:ln/>
        </p:spPr>
        <p:txBody>
          <a:bodyPr wrap="square" lIns="0" tIns="0" rIns="0" bIns="0" rtlCol="0" anchor="ctr"/>
          <a:lstStyle/>
          <a:p>
            <a:pPr marL="0" indent="0">
              <a:buNone/>
            </a:pPr>
            <a:r>
              <a:rPr lang="en-US" sz="1250" b="1" kern="0" spc="100" dirty="0">
                <a:solidFill>
                  <a:srgbClr val="D9552F"/>
                </a:solidFill>
                <a:latin typeface="Courier New" pitchFamily="34" charset="0"/>
                <a:ea typeface="Courier New" pitchFamily="34" charset="-122"/>
                <a:cs typeface="Courier New" pitchFamily="34" charset="-120"/>
              </a:rPr>
              <a:t>§ 03</a:t>
            </a:r>
            <a:r>
              <a:rPr lang="en-US" sz="1250" kern="0" spc="100" dirty="0">
                <a:solidFill>
                  <a:srgbClr val="14504A"/>
                </a:solidFill>
                <a:latin typeface="Courier New" pitchFamily="34" charset="0"/>
                <a:ea typeface="Courier New" pitchFamily="34" charset="-122"/>
                <a:cs typeface="Courier New" pitchFamily="34" charset="-120"/>
              </a:rPr>
              <a:t>   DIAGNÓSTICO · CARACTERIZACIÓN</a:t>
            </a:r>
            <a:endParaRPr lang="en-US" sz="1250" dirty="0"/>
          </a:p>
        </p:txBody>
      </p:sp>
      <p:sp>
        <p:nvSpPr>
          <p:cNvPr id="3" name="Text 1"/>
          <p:cNvSpPr txBox="1"/>
          <p:nvPr/>
        </p:nvSpPr>
        <p:spPr>
          <a:xfrm>
            <a:off x="9784080" y="137160"/>
            <a:ext cx="2103120" cy="1280160"/>
          </a:xfrm>
          <a:prstGeom prst="rect">
            <a:avLst/>
          </a:prstGeom>
          <a:noFill/>
          <a:ln/>
        </p:spPr>
        <p:txBody>
          <a:bodyPr wrap="square" lIns="0" tIns="0" rIns="0" bIns="0" rtlCol="0" anchor="ctr"/>
          <a:lstStyle/>
          <a:p>
            <a:pPr marL="0" indent="0" algn="r">
              <a:buNone/>
            </a:pPr>
            <a:r>
              <a:rPr lang="en-US" sz="9600" b="1" dirty="0">
                <a:solidFill>
                  <a:srgbClr val="E4DDCD"/>
                </a:solidFill>
                <a:latin typeface="Century Schoolbook" pitchFamily="34" charset="0"/>
                <a:ea typeface="Century Schoolbook" pitchFamily="34" charset="-122"/>
                <a:cs typeface="Century Schoolbook" pitchFamily="34" charset="-120"/>
              </a:rPr>
              <a:t>03</a:t>
            </a:r>
            <a:endParaRPr lang="en-US" sz="9600" dirty="0"/>
          </a:p>
        </p:txBody>
      </p:sp>
      <p:sp>
        <p:nvSpPr>
          <p:cNvPr id="4" name="Text 2"/>
          <p:cNvSpPr txBox="1"/>
          <p:nvPr/>
        </p:nvSpPr>
        <p:spPr>
          <a:xfrm>
            <a:off x="640080" y="868680"/>
            <a:ext cx="10424160" cy="822960"/>
          </a:xfrm>
          <a:prstGeom prst="rect">
            <a:avLst/>
          </a:prstGeom>
          <a:noFill/>
          <a:ln/>
        </p:spPr>
        <p:txBody>
          <a:bodyPr wrap="square" lIns="0" tIns="0" rIns="0" bIns="0" rtlCol="0" anchor="ctr"/>
          <a:lstStyle/>
          <a:p>
            <a:pPr marL="0" indent="0">
              <a:buNone/>
            </a:pPr>
            <a:r>
              <a:rPr lang="en-US" sz="3300" b="1" dirty="0">
                <a:solidFill>
                  <a:srgbClr val="252119"/>
                </a:solidFill>
                <a:latin typeface="Century Schoolbook" pitchFamily="34" charset="0"/>
                <a:ea typeface="Century Schoolbook" pitchFamily="34" charset="-122"/>
                <a:cs typeface="Century Schoolbook" pitchFamily="34" charset="-120"/>
              </a:rPr>
              <a:t>Con qué datos trabajamos</a:t>
            </a:r>
            <a:endParaRPr lang="en-US" sz="3300" dirty="0"/>
          </a:p>
        </p:txBody>
      </p:sp>
      <p:sp>
        <p:nvSpPr>
          <p:cNvPr id="5" name="Text 3"/>
          <p:cNvSpPr txBox="1"/>
          <p:nvPr/>
        </p:nvSpPr>
        <p:spPr>
          <a:xfrm>
            <a:off x="502920" y="1783080"/>
            <a:ext cx="2377440" cy="1828800"/>
          </a:xfrm>
          <a:prstGeom prst="rect">
            <a:avLst/>
          </a:prstGeom>
          <a:noFill/>
          <a:ln/>
        </p:spPr>
        <p:txBody>
          <a:bodyPr wrap="square" lIns="0" tIns="0" rIns="0" bIns="0" rtlCol="0" anchor="ctr"/>
          <a:lstStyle/>
          <a:p>
            <a:pPr marL="0" indent="0" algn="ctr">
              <a:buNone/>
            </a:pPr>
            <a:r>
              <a:rPr lang="en-US" sz="12000" b="1" dirty="0">
                <a:solidFill>
                  <a:srgbClr val="14504A"/>
                </a:solidFill>
                <a:latin typeface="Century Schoolbook" pitchFamily="34" charset="0"/>
                <a:ea typeface="Century Schoolbook" pitchFamily="34" charset="-122"/>
                <a:cs typeface="Century Schoolbook" pitchFamily="34" charset="-120"/>
              </a:rPr>
              <a:t>11</a:t>
            </a:r>
            <a:endParaRPr lang="en-US" sz="12000" dirty="0"/>
          </a:p>
        </p:txBody>
      </p:sp>
      <p:sp>
        <p:nvSpPr>
          <p:cNvPr id="6" name="Text 4"/>
          <p:cNvSpPr txBox="1"/>
          <p:nvPr/>
        </p:nvSpPr>
        <p:spPr>
          <a:xfrm>
            <a:off x="502920" y="3611880"/>
            <a:ext cx="2377440" cy="365760"/>
          </a:xfrm>
          <a:prstGeom prst="rect">
            <a:avLst/>
          </a:prstGeom>
          <a:noFill/>
          <a:ln/>
        </p:spPr>
        <p:txBody>
          <a:bodyPr wrap="square" lIns="0" tIns="0" rIns="0" bIns="0" rtlCol="0" anchor="ctr"/>
          <a:lstStyle/>
          <a:p>
            <a:pPr marL="0" indent="0" algn="ctr">
              <a:buNone/>
            </a:pPr>
            <a:r>
              <a:rPr lang="en-US" sz="1200" dirty="0">
                <a:solidFill>
                  <a:srgbClr val="8D857A"/>
                </a:solidFill>
                <a:latin typeface="Courier New" pitchFamily="34" charset="0"/>
                <a:ea typeface="Courier New" pitchFamily="34" charset="-122"/>
                <a:cs typeface="Courier New" pitchFamily="34" charset="-120"/>
              </a:rPr>
              <a:t>variables en total</a:t>
            </a:r>
            <a:endParaRPr lang="en-US" sz="1200" dirty="0"/>
          </a:p>
        </p:txBody>
      </p:sp>
      <p:sp>
        <p:nvSpPr>
          <p:cNvPr id="7" name="Text 5"/>
          <p:cNvSpPr txBox="1"/>
          <p:nvPr/>
        </p:nvSpPr>
        <p:spPr>
          <a:xfrm>
            <a:off x="3246120" y="1783080"/>
            <a:ext cx="1097280" cy="914400"/>
          </a:xfrm>
          <a:prstGeom prst="rect">
            <a:avLst/>
          </a:prstGeom>
          <a:noFill/>
          <a:ln/>
        </p:spPr>
        <p:txBody>
          <a:bodyPr wrap="square" lIns="0" tIns="0" rIns="0" bIns="0" rtlCol="0" anchor="ctr"/>
          <a:lstStyle/>
          <a:p>
            <a:pPr marL="0" indent="0">
              <a:buNone/>
            </a:pPr>
            <a:r>
              <a:rPr lang="en-US" sz="5800" b="1" dirty="0">
                <a:solidFill>
                  <a:srgbClr val="14504A"/>
                </a:solidFill>
                <a:latin typeface="Century Schoolbook" pitchFamily="34" charset="0"/>
                <a:ea typeface="Century Schoolbook" pitchFamily="34" charset="-122"/>
                <a:cs typeface="Century Schoolbook" pitchFamily="34" charset="-120"/>
              </a:rPr>
              <a:t>8</a:t>
            </a:r>
            <a:endParaRPr lang="en-US" sz="5800" dirty="0"/>
          </a:p>
        </p:txBody>
      </p:sp>
      <p:sp>
        <p:nvSpPr>
          <p:cNvPr id="8" name="Text 6"/>
          <p:cNvSpPr txBox="1"/>
          <p:nvPr/>
        </p:nvSpPr>
        <p:spPr>
          <a:xfrm>
            <a:off x="4389120" y="2084832"/>
            <a:ext cx="4114800" cy="457200"/>
          </a:xfrm>
          <a:prstGeom prst="rect">
            <a:avLst/>
          </a:prstGeom>
          <a:noFill/>
          <a:ln/>
        </p:spPr>
        <p:txBody>
          <a:bodyPr wrap="square" lIns="0" tIns="0" rIns="0" bIns="0" rtlCol="0" anchor="ctr"/>
          <a:lstStyle/>
          <a:p>
            <a:pPr marL="0" indent="0">
              <a:buNone/>
            </a:pPr>
            <a:r>
              <a:rPr lang="en-US" sz="1300" b="1" dirty="0">
                <a:solidFill>
                  <a:srgbClr val="252119"/>
                </a:solidFill>
                <a:latin typeface="Courier New" pitchFamily="34" charset="0"/>
                <a:ea typeface="Courier New" pitchFamily="34" charset="-122"/>
                <a:cs typeface="Courier New" pitchFamily="34" charset="-120"/>
              </a:rPr>
              <a:t>VARIABLES NUMÉRICAS</a:t>
            </a:r>
            <a:endParaRPr lang="en-US" sz="1300" dirty="0"/>
          </a:p>
        </p:txBody>
      </p:sp>
      <p:sp>
        <p:nvSpPr>
          <p:cNvPr id="9" name="Text 7"/>
          <p:cNvSpPr txBox="1"/>
          <p:nvPr/>
        </p:nvSpPr>
        <p:spPr>
          <a:xfrm>
            <a:off x="3383280" y="2801722"/>
            <a:ext cx="5212080" cy="1371600"/>
          </a:xfrm>
          <a:prstGeom prst="rect">
            <a:avLst/>
          </a:prstGeom>
          <a:noFill/>
          <a:ln/>
        </p:spPr>
        <p:txBody>
          <a:bodyPr wrap="square" lIns="0" tIns="0" rIns="0" bIns="0" rtlCol="0" anchor="ctr"/>
          <a:lstStyle/>
          <a:p>
            <a:pPr marL="0" indent="0">
              <a:lnSpc>
                <a:spcPts val="1900"/>
              </a:lnSpc>
              <a:buNone/>
            </a:pPr>
            <a:r>
              <a:rPr lang="en-US" sz="1350" dirty="0">
                <a:solidFill>
                  <a:srgbClr val="8D857A"/>
                </a:solidFill>
                <a:latin typeface="Calibri" pitchFamily="34" charset="0"/>
                <a:ea typeface="Calibri" pitchFamily="34" charset="-122"/>
                <a:cs typeface="Calibri" pitchFamily="34" charset="-120"/>
              </a:rPr>
              <a:t>Age · StudyHours · Attendance · PreviousGPA · AssignmentsCompleted · SleepHours · InternetHours · FinalGrade</a:t>
            </a:r>
            <a:endParaRPr lang="en-US" sz="1350" dirty="0"/>
          </a:p>
        </p:txBody>
      </p:sp>
      <p:sp>
        <p:nvSpPr>
          <p:cNvPr id="10" name="Text 8"/>
          <p:cNvSpPr txBox="1"/>
          <p:nvPr/>
        </p:nvSpPr>
        <p:spPr>
          <a:xfrm>
            <a:off x="8595360" y="1783080"/>
            <a:ext cx="1097280" cy="914400"/>
          </a:xfrm>
          <a:prstGeom prst="rect">
            <a:avLst/>
          </a:prstGeom>
          <a:noFill/>
          <a:ln/>
        </p:spPr>
        <p:txBody>
          <a:bodyPr wrap="square" lIns="0" tIns="0" rIns="0" bIns="0" rtlCol="0" anchor="ctr"/>
          <a:lstStyle/>
          <a:p>
            <a:pPr marL="0" indent="0">
              <a:buNone/>
            </a:pPr>
            <a:r>
              <a:rPr lang="en-US" sz="5800" b="1" dirty="0">
                <a:solidFill>
                  <a:srgbClr val="D9552F"/>
                </a:solidFill>
                <a:latin typeface="Century Schoolbook" pitchFamily="34" charset="0"/>
                <a:ea typeface="Century Schoolbook" pitchFamily="34" charset="-122"/>
                <a:cs typeface="Century Schoolbook" pitchFamily="34" charset="-120"/>
              </a:rPr>
              <a:t>3</a:t>
            </a:r>
            <a:endParaRPr lang="en-US" sz="5800" dirty="0"/>
          </a:p>
        </p:txBody>
      </p:sp>
      <p:sp>
        <p:nvSpPr>
          <p:cNvPr id="11" name="Text 9"/>
          <p:cNvSpPr txBox="1"/>
          <p:nvPr/>
        </p:nvSpPr>
        <p:spPr>
          <a:xfrm>
            <a:off x="9738360" y="2084832"/>
            <a:ext cx="4114800" cy="457200"/>
          </a:xfrm>
          <a:prstGeom prst="rect">
            <a:avLst/>
          </a:prstGeom>
          <a:noFill/>
          <a:ln/>
        </p:spPr>
        <p:txBody>
          <a:bodyPr wrap="square" lIns="0" tIns="0" rIns="0" bIns="0" rtlCol="0" anchor="ctr"/>
          <a:lstStyle/>
          <a:p>
            <a:pPr marL="0" indent="0">
              <a:buNone/>
            </a:pPr>
            <a:r>
              <a:rPr lang="en-US" sz="1300" b="1" dirty="0">
                <a:solidFill>
                  <a:srgbClr val="252119"/>
                </a:solidFill>
                <a:latin typeface="Courier New" pitchFamily="34" charset="0"/>
                <a:ea typeface="Courier New" pitchFamily="34" charset="-122"/>
                <a:cs typeface="Courier New" pitchFamily="34" charset="-120"/>
              </a:rPr>
              <a:t>CATEGÓRICAS</a:t>
            </a:r>
            <a:endParaRPr lang="en-US" sz="1300" dirty="0"/>
          </a:p>
        </p:txBody>
      </p:sp>
      <p:sp>
        <p:nvSpPr>
          <p:cNvPr id="12" name="Text 10"/>
          <p:cNvSpPr txBox="1"/>
          <p:nvPr/>
        </p:nvSpPr>
        <p:spPr>
          <a:xfrm>
            <a:off x="8595360" y="2697480"/>
            <a:ext cx="5212080" cy="1371600"/>
          </a:xfrm>
          <a:prstGeom prst="rect">
            <a:avLst/>
          </a:prstGeom>
          <a:noFill/>
          <a:ln/>
        </p:spPr>
        <p:txBody>
          <a:bodyPr wrap="square" lIns="0" tIns="0" rIns="0" bIns="0" rtlCol="0" anchor="ctr"/>
          <a:lstStyle/>
          <a:p>
            <a:pPr marL="0" indent="0">
              <a:lnSpc>
                <a:spcPts val="1900"/>
              </a:lnSpc>
              <a:buNone/>
            </a:pPr>
            <a:r>
              <a:rPr lang="en-US" sz="1350" dirty="0">
                <a:solidFill>
                  <a:srgbClr val="8D857A"/>
                </a:solidFill>
                <a:latin typeface="Calibri" pitchFamily="34" charset="0"/>
                <a:ea typeface="Calibri" pitchFamily="34" charset="-122"/>
                <a:cs typeface="Calibri" pitchFamily="34" charset="-120"/>
              </a:rPr>
              <a:t>StudentID · Scholarship · Program</a:t>
            </a:r>
            <a:endParaRPr lang="en-US" sz="1350" dirty="0"/>
          </a:p>
        </p:txBody>
      </p:sp>
      <p:sp>
        <p:nvSpPr>
          <p:cNvPr id="13" name="Shape 11"/>
          <p:cNvSpPr/>
          <p:nvPr/>
        </p:nvSpPr>
        <p:spPr>
          <a:xfrm>
            <a:off x="3246120" y="4343400"/>
            <a:ext cx="8321040" cy="12802"/>
          </a:xfrm>
          <a:prstGeom prst="rect">
            <a:avLst/>
          </a:prstGeom>
          <a:solidFill>
            <a:srgbClr val="D9D2C4"/>
          </a:solidFill>
          <a:ln/>
        </p:spPr>
        <p:txBody>
          <a:bodyPr/>
          <a:lstStyle/>
          <a:p>
            <a:endParaRPr lang="es-CL"/>
          </a:p>
        </p:txBody>
      </p:sp>
      <p:sp>
        <p:nvSpPr>
          <p:cNvPr id="14" name="Text 12"/>
          <p:cNvSpPr txBox="1"/>
          <p:nvPr/>
        </p:nvSpPr>
        <p:spPr>
          <a:xfrm>
            <a:off x="3246120" y="4526280"/>
            <a:ext cx="8412480" cy="457200"/>
          </a:xfrm>
          <a:prstGeom prst="rect">
            <a:avLst/>
          </a:prstGeom>
          <a:noFill/>
          <a:ln/>
        </p:spPr>
        <p:txBody>
          <a:bodyPr wrap="square" lIns="0" tIns="0" rIns="0" bIns="0" rtlCol="0" anchor="ctr"/>
          <a:lstStyle/>
          <a:p>
            <a:pPr marL="0" indent="0">
              <a:buNone/>
            </a:pPr>
            <a:r>
              <a:rPr lang="en-US" sz="1250" dirty="0">
                <a:solidFill>
                  <a:srgbClr val="D9552F"/>
                </a:solidFill>
                <a:latin typeface="Courier New" pitchFamily="34" charset="0"/>
                <a:ea typeface="Courier New" pitchFamily="34" charset="-122"/>
                <a:cs typeface="Courier New" pitchFamily="34" charset="-120"/>
              </a:rPr>
              <a:t>IDENTIFICADOR  </a:t>
            </a:r>
            <a:r>
              <a:rPr lang="en-US" sz="1250" b="1" dirty="0">
                <a:solidFill>
                  <a:srgbClr val="252119"/>
                </a:solidFill>
                <a:latin typeface="Courier New" pitchFamily="34" charset="0"/>
                <a:ea typeface="Courier New" pitchFamily="34" charset="-122"/>
                <a:cs typeface="Courier New" pitchFamily="34" charset="-120"/>
              </a:rPr>
              <a:t>StudentID </a:t>
            </a:r>
            <a:r>
              <a:rPr lang="en-US" sz="1250" dirty="0">
                <a:solidFill>
                  <a:srgbClr val="252119"/>
                </a:solidFill>
                <a:latin typeface="Courier New" pitchFamily="34" charset="0"/>
                <a:ea typeface="Courier New" pitchFamily="34" charset="-122"/>
                <a:cs typeface="Courier New" pitchFamily="34" charset="-120"/>
              </a:rPr>
              <a:t>         </a:t>
            </a:r>
            <a:r>
              <a:rPr lang="en-US" sz="1250" dirty="0">
                <a:solidFill>
                  <a:srgbClr val="D9552F"/>
                </a:solidFill>
                <a:latin typeface="Courier New" pitchFamily="34" charset="0"/>
                <a:ea typeface="Courier New" pitchFamily="34" charset="-122"/>
                <a:cs typeface="Courier New" pitchFamily="34" charset="-120"/>
              </a:rPr>
              <a:t>TARGET  </a:t>
            </a:r>
            <a:r>
              <a:rPr lang="en-US" sz="1250" b="1" dirty="0">
                <a:solidFill>
                  <a:srgbClr val="252119"/>
                </a:solidFill>
                <a:latin typeface="Courier New" pitchFamily="34" charset="0"/>
                <a:ea typeface="Courier New" pitchFamily="34" charset="-122"/>
                <a:cs typeface="Courier New" pitchFamily="34" charset="-120"/>
              </a:rPr>
              <a:t>FinalGrade</a:t>
            </a:r>
            <a:r>
              <a:rPr lang="en-US" sz="1250" dirty="0">
                <a:solidFill>
                  <a:srgbClr val="252119"/>
                </a:solidFill>
                <a:latin typeface="Courier New" pitchFamily="34" charset="0"/>
                <a:ea typeface="Courier New" pitchFamily="34" charset="-122"/>
                <a:cs typeface="Courier New" pitchFamily="34" charset="-120"/>
              </a:rPr>
              <a:t> (nota, escala 1–10)</a:t>
            </a:r>
            <a:endParaRPr lang="en-US" sz="1250" dirty="0"/>
          </a:p>
        </p:txBody>
      </p:sp>
      <p:sp>
        <p:nvSpPr>
          <p:cNvPr id="15" name="Text 13"/>
          <p:cNvSpPr txBox="1"/>
          <p:nvPr/>
        </p:nvSpPr>
        <p:spPr>
          <a:xfrm>
            <a:off x="3246120" y="5029200"/>
            <a:ext cx="8321040" cy="731520"/>
          </a:xfrm>
          <a:prstGeom prst="rect">
            <a:avLst/>
          </a:prstGeom>
          <a:noFill/>
          <a:ln/>
        </p:spPr>
        <p:txBody>
          <a:bodyPr wrap="square" lIns="0" tIns="0" rIns="0" bIns="0" rtlCol="0" anchor="ctr"/>
          <a:lstStyle/>
          <a:p>
            <a:pPr marL="0" indent="0">
              <a:buNone/>
            </a:pPr>
            <a:r>
              <a:rPr lang="en-US" sz="1300" i="1" dirty="0">
                <a:solidFill>
                  <a:srgbClr val="8D857A"/>
                </a:solidFill>
                <a:latin typeface="Calibri" pitchFamily="34" charset="0"/>
                <a:ea typeface="Calibri" pitchFamily="34" charset="-122"/>
                <a:cs typeface="Calibri" pitchFamily="34" charset="-120"/>
              </a:rPr>
              <a:t>FinalGrade cuenta como numérica y además es el target; StudentID cuenta como categórica y además es el identificador.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FE8"/>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058400" cy="274320"/>
          </a:xfrm>
          <a:prstGeom prst="rect">
            <a:avLst/>
          </a:prstGeom>
          <a:noFill/>
          <a:ln/>
        </p:spPr>
        <p:txBody>
          <a:bodyPr wrap="square" lIns="0" tIns="0" rIns="0" bIns="0" rtlCol="0" anchor="ctr"/>
          <a:lstStyle/>
          <a:p>
            <a:pPr marL="0" indent="0">
              <a:buNone/>
            </a:pPr>
            <a:r>
              <a:rPr lang="en-US" sz="1250" b="1" kern="0" spc="100" dirty="0">
                <a:solidFill>
                  <a:srgbClr val="D9552F"/>
                </a:solidFill>
                <a:latin typeface="Courier New" pitchFamily="34" charset="0"/>
                <a:ea typeface="Courier New" pitchFamily="34" charset="-122"/>
                <a:cs typeface="Courier New" pitchFamily="34" charset="-120"/>
              </a:rPr>
              <a:t>§ 04</a:t>
            </a:r>
            <a:r>
              <a:rPr lang="en-US" sz="1250" kern="0" spc="100" dirty="0">
                <a:solidFill>
                  <a:srgbClr val="14504A"/>
                </a:solidFill>
                <a:latin typeface="Courier New" pitchFamily="34" charset="0"/>
                <a:ea typeface="Courier New" pitchFamily="34" charset="-122"/>
                <a:cs typeface="Courier New" pitchFamily="34" charset="-120"/>
              </a:rPr>
              <a:t>   DIAGNÓSTICO · HALLAZGOS</a:t>
            </a:r>
            <a:endParaRPr lang="en-US" sz="1250" dirty="0"/>
          </a:p>
        </p:txBody>
      </p:sp>
      <p:sp>
        <p:nvSpPr>
          <p:cNvPr id="3" name="Text 1"/>
          <p:cNvSpPr txBox="1"/>
          <p:nvPr/>
        </p:nvSpPr>
        <p:spPr>
          <a:xfrm>
            <a:off x="9784080" y="137160"/>
            <a:ext cx="2103120" cy="1280160"/>
          </a:xfrm>
          <a:prstGeom prst="rect">
            <a:avLst/>
          </a:prstGeom>
          <a:noFill/>
          <a:ln/>
        </p:spPr>
        <p:txBody>
          <a:bodyPr wrap="square" lIns="0" tIns="0" rIns="0" bIns="0" rtlCol="0" anchor="ctr"/>
          <a:lstStyle/>
          <a:p>
            <a:pPr marL="0" indent="0" algn="r">
              <a:buNone/>
            </a:pPr>
            <a:r>
              <a:rPr lang="en-US" sz="9600" b="1" dirty="0">
                <a:solidFill>
                  <a:srgbClr val="E4DDCD"/>
                </a:solidFill>
                <a:latin typeface="Century Schoolbook" pitchFamily="34" charset="0"/>
                <a:ea typeface="Century Schoolbook" pitchFamily="34" charset="-122"/>
                <a:cs typeface="Century Schoolbook" pitchFamily="34" charset="-120"/>
              </a:rPr>
              <a:t>04</a:t>
            </a:r>
            <a:endParaRPr lang="en-US" sz="9600" dirty="0"/>
          </a:p>
        </p:txBody>
      </p:sp>
      <p:sp>
        <p:nvSpPr>
          <p:cNvPr id="4" name="Text 2"/>
          <p:cNvSpPr txBox="1"/>
          <p:nvPr/>
        </p:nvSpPr>
        <p:spPr>
          <a:xfrm>
            <a:off x="640080" y="868680"/>
            <a:ext cx="10424160" cy="822960"/>
          </a:xfrm>
          <a:prstGeom prst="rect">
            <a:avLst/>
          </a:prstGeom>
          <a:noFill/>
          <a:ln/>
        </p:spPr>
        <p:txBody>
          <a:bodyPr wrap="square" lIns="0" tIns="0" rIns="0" bIns="0" rtlCol="0" anchor="ctr"/>
          <a:lstStyle/>
          <a:p>
            <a:pPr marL="0" indent="0">
              <a:buNone/>
            </a:pPr>
            <a:r>
              <a:rPr lang="en-US" sz="3300" b="1" dirty="0">
                <a:solidFill>
                  <a:srgbClr val="252119"/>
                </a:solidFill>
                <a:latin typeface="Century Schoolbook" pitchFamily="34" charset="0"/>
                <a:ea typeface="Century Schoolbook" pitchFamily="34" charset="-122"/>
                <a:cs typeface="Century Schoolbook" pitchFamily="34" charset="-120"/>
              </a:rPr>
              <a:t>Cuatro problemas de calidad</a:t>
            </a:r>
            <a:endParaRPr lang="en-US" sz="3300" dirty="0"/>
          </a:p>
        </p:txBody>
      </p:sp>
      <p:sp>
        <p:nvSpPr>
          <p:cNvPr id="5" name="Text 3"/>
          <p:cNvSpPr txBox="1"/>
          <p:nvPr/>
        </p:nvSpPr>
        <p:spPr>
          <a:xfrm>
            <a:off x="640080" y="1783080"/>
            <a:ext cx="640080" cy="822960"/>
          </a:xfrm>
          <a:prstGeom prst="rect">
            <a:avLst/>
          </a:prstGeom>
          <a:noFill/>
          <a:ln/>
        </p:spPr>
        <p:txBody>
          <a:bodyPr wrap="square" lIns="0" tIns="0" rIns="0" bIns="0" rtlCol="0" anchor="ctr"/>
          <a:lstStyle/>
          <a:p>
            <a:pPr marL="0" indent="0">
              <a:buNone/>
            </a:pPr>
            <a:r>
              <a:rPr lang="en-US" sz="1900" b="1" dirty="0">
                <a:solidFill>
                  <a:srgbClr val="D9552F"/>
                </a:solidFill>
                <a:latin typeface="Courier New" pitchFamily="34" charset="0"/>
                <a:ea typeface="Courier New" pitchFamily="34" charset="-122"/>
                <a:cs typeface="Courier New" pitchFamily="34" charset="-120"/>
              </a:rPr>
              <a:t>01</a:t>
            </a:r>
            <a:endParaRPr lang="en-US" sz="1900" dirty="0"/>
          </a:p>
        </p:txBody>
      </p:sp>
      <p:sp>
        <p:nvSpPr>
          <p:cNvPr id="6" name="Text 4"/>
          <p:cNvSpPr txBox="1"/>
          <p:nvPr/>
        </p:nvSpPr>
        <p:spPr>
          <a:xfrm>
            <a:off x="1298448" y="1783080"/>
            <a:ext cx="4846320" cy="365760"/>
          </a:xfrm>
          <a:prstGeom prst="rect">
            <a:avLst/>
          </a:prstGeom>
          <a:noFill/>
          <a:ln/>
        </p:spPr>
        <p:txBody>
          <a:bodyPr wrap="square" lIns="0" tIns="0" rIns="0" bIns="0" rtlCol="0" anchor="ctr"/>
          <a:lstStyle/>
          <a:p>
            <a:pPr marL="0" indent="0">
              <a:buNone/>
            </a:pPr>
            <a:r>
              <a:rPr lang="en-US" sz="1700" b="1" dirty="0">
                <a:solidFill>
                  <a:srgbClr val="252119"/>
                </a:solidFill>
                <a:latin typeface="Century Schoolbook" pitchFamily="34" charset="0"/>
                <a:ea typeface="Century Schoolbook" pitchFamily="34" charset="-122"/>
                <a:cs typeface="Century Schoolbook" pitchFamily="34" charset="-120"/>
              </a:rPr>
              <a:t>Valores faltantes</a:t>
            </a:r>
            <a:r>
              <a:rPr lang="en-US" sz="1100" dirty="0">
                <a:solidFill>
                  <a:srgbClr val="2F7D70"/>
                </a:solidFill>
                <a:latin typeface="Courier New" pitchFamily="34" charset="0"/>
                <a:ea typeface="Courier New" pitchFamily="34" charset="-122"/>
                <a:cs typeface="Courier New" pitchFamily="34" charset="-120"/>
              </a:rPr>
              <a:t>   Completitud</a:t>
            </a:r>
            <a:endParaRPr lang="en-US" sz="1700" dirty="0"/>
          </a:p>
        </p:txBody>
      </p:sp>
      <p:sp>
        <p:nvSpPr>
          <p:cNvPr id="7" name="Text 5"/>
          <p:cNvSpPr txBox="1"/>
          <p:nvPr/>
        </p:nvSpPr>
        <p:spPr>
          <a:xfrm>
            <a:off x="1298448" y="2130552"/>
            <a:ext cx="4846320" cy="548640"/>
          </a:xfrm>
          <a:prstGeom prst="rect">
            <a:avLst/>
          </a:prstGeom>
          <a:noFill/>
          <a:ln/>
        </p:spPr>
        <p:txBody>
          <a:bodyPr wrap="square" lIns="0" tIns="0" rIns="0" bIns="0" rtlCol="0" anchor="ctr"/>
          <a:lstStyle/>
          <a:p>
            <a:pPr marL="0" indent="0">
              <a:lnSpc>
                <a:spcPts val="1500"/>
              </a:lnSpc>
              <a:buNone/>
            </a:pPr>
            <a:r>
              <a:rPr lang="en-US" sz="1250" dirty="0">
                <a:solidFill>
                  <a:srgbClr val="8D857A"/>
                </a:solidFill>
                <a:latin typeface="Calibri" pitchFamily="34" charset="0"/>
                <a:ea typeface="Calibri" pitchFamily="34" charset="-122"/>
                <a:cs typeface="Calibri" pitchFamily="34" charset="-120"/>
              </a:rPr>
              <a:t>Todas las variables (salvo ID y target): 1,4%–4,4%.</a:t>
            </a:r>
            <a:endParaRPr lang="en-US" sz="1250" dirty="0"/>
          </a:p>
        </p:txBody>
      </p:sp>
      <p:sp>
        <p:nvSpPr>
          <p:cNvPr id="8" name="Shape 6"/>
          <p:cNvSpPr/>
          <p:nvPr/>
        </p:nvSpPr>
        <p:spPr>
          <a:xfrm>
            <a:off x="1298448" y="2715768"/>
            <a:ext cx="4846320" cy="12802"/>
          </a:xfrm>
          <a:prstGeom prst="rect">
            <a:avLst/>
          </a:prstGeom>
          <a:solidFill>
            <a:srgbClr val="D9D2C4"/>
          </a:solidFill>
          <a:ln/>
        </p:spPr>
        <p:txBody>
          <a:bodyPr/>
          <a:lstStyle/>
          <a:p>
            <a:endParaRPr lang="es-CL"/>
          </a:p>
        </p:txBody>
      </p:sp>
      <p:sp>
        <p:nvSpPr>
          <p:cNvPr id="9" name="Text 7"/>
          <p:cNvSpPr txBox="1"/>
          <p:nvPr/>
        </p:nvSpPr>
        <p:spPr>
          <a:xfrm>
            <a:off x="640080" y="2825496"/>
            <a:ext cx="640080" cy="822960"/>
          </a:xfrm>
          <a:prstGeom prst="rect">
            <a:avLst/>
          </a:prstGeom>
          <a:noFill/>
          <a:ln/>
        </p:spPr>
        <p:txBody>
          <a:bodyPr wrap="square" lIns="0" tIns="0" rIns="0" bIns="0" rtlCol="0" anchor="ctr"/>
          <a:lstStyle/>
          <a:p>
            <a:pPr marL="0" indent="0">
              <a:buNone/>
            </a:pPr>
            <a:r>
              <a:rPr lang="en-US" sz="1900" b="1" dirty="0">
                <a:solidFill>
                  <a:srgbClr val="D9552F"/>
                </a:solidFill>
                <a:latin typeface="Courier New" pitchFamily="34" charset="0"/>
                <a:ea typeface="Courier New" pitchFamily="34" charset="-122"/>
                <a:cs typeface="Courier New" pitchFamily="34" charset="-120"/>
              </a:rPr>
              <a:t>02</a:t>
            </a:r>
            <a:endParaRPr lang="en-US" sz="1900" dirty="0"/>
          </a:p>
        </p:txBody>
      </p:sp>
      <p:sp>
        <p:nvSpPr>
          <p:cNvPr id="10" name="Text 8"/>
          <p:cNvSpPr txBox="1"/>
          <p:nvPr/>
        </p:nvSpPr>
        <p:spPr>
          <a:xfrm>
            <a:off x="1298448" y="2825496"/>
            <a:ext cx="4846320" cy="365760"/>
          </a:xfrm>
          <a:prstGeom prst="rect">
            <a:avLst/>
          </a:prstGeom>
          <a:noFill/>
          <a:ln/>
        </p:spPr>
        <p:txBody>
          <a:bodyPr wrap="square" lIns="0" tIns="0" rIns="0" bIns="0" rtlCol="0" anchor="ctr"/>
          <a:lstStyle/>
          <a:p>
            <a:pPr marL="0" indent="0">
              <a:buNone/>
            </a:pPr>
            <a:r>
              <a:rPr lang="en-US" sz="1700" b="1" dirty="0">
                <a:solidFill>
                  <a:srgbClr val="252119"/>
                </a:solidFill>
                <a:latin typeface="Century Schoolbook" pitchFamily="34" charset="0"/>
                <a:ea typeface="Century Schoolbook" pitchFamily="34" charset="-122"/>
                <a:cs typeface="Century Schoolbook" pitchFamily="34" charset="-120"/>
              </a:rPr>
              <a:t>Duplicados</a:t>
            </a:r>
            <a:r>
              <a:rPr lang="en-US" sz="1100" dirty="0">
                <a:solidFill>
                  <a:srgbClr val="2F7D70"/>
                </a:solidFill>
                <a:latin typeface="Courier New" pitchFamily="34" charset="0"/>
                <a:ea typeface="Courier New" pitchFamily="34" charset="-122"/>
                <a:cs typeface="Courier New" pitchFamily="34" charset="-120"/>
              </a:rPr>
              <a:t>   Unicidad</a:t>
            </a:r>
            <a:endParaRPr lang="en-US" sz="1700" dirty="0"/>
          </a:p>
        </p:txBody>
      </p:sp>
      <p:sp>
        <p:nvSpPr>
          <p:cNvPr id="11" name="Text 9"/>
          <p:cNvSpPr txBox="1"/>
          <p:nvPr/>
        </p:nvSpPr>
        <p:spPr>
          <a:xfrm>
            <a:off x="1298448" y="3172968"/>
            <a:ext cx="4846320" cy="548640"/>
          </a:xfrm>
          <a:prstGeom prst="rect">
            <a:avLst/>
          </a:prstGeom>
          <a:noFill/>
          <a:ln/>
        </p:spPr>
        <p:txBody>
          <a:bodyPr wrap="square" lIns="0" tIns="0" rIns="0" bIns="0" rtlCol="0" anchor="ctr"/>
          <a:lstStyle/>
          <a:p>
            <a:pPr marL="0" indent="0">
              <a:lnSpc>
                <a:spcPts val="1500"/>
              </a:lnSpc>
              <a:buNone/>
            </a:pPr>
            <a:r>
              <a:rPr lang="en-US" sz="1250" dirty="0">
                <a:solidFill>
                  <a:srgbClr val="8D857A"/>
                </a:solidFill>
                <a:latin typeface="Calibri" pitchFamily="34" charset="0"/>
                <a:ea typeface="Calibri" pitchFamily="34" charset="-122"/>
                <a:cs typeface="Calibri" pitchFamily="34" charset="-120"/>
              </a:rPr>
              <a:t>100 filas idénticas (≈2% del total).</a:t>
            </a:r>
            <a:endParaRPr lang="en-US" sz="1250" dirty="0"/>
          </a:p>
        </p:txBody>
      </p:sp>
      <p:sp>
        <p:nvSpPr>
          <p:cNvPr id="12" name="Shape 10"/>
          <p:cNvSpPr/>
          <p:nvPr/>
        </p:nvSpPr>
        <p:spPr>
          <a:xfrm>
            <a:off x="1298448" y="3758184"/>
            <a:ext cx="4846320" cy="12802"/>
          </a:xfrm>
          <a:prstGeom prst="rect">
            <a:avLst/>
          </a:prstGeom>
          <a:solidFill>
            <a:srgbClr val="D9D2C4"/>
          </a:solidFill>
          <a:ln/>
        </p:spPr>
        <p:txBody>
          <a:bodyPr/>
          <a:lstStyle/>
          <a:p>
            <a:endParaRPr lang="es-CL"/>
          </a:p>
        </p:txBody>
      </p:sp>
      <p:sp>
        <p:nvSpPr>
          <p:cNvPr id="13" name="Text 11"/>
          <p:cNvSpPr txBox="1"/>
          <p:nvPr/>
        </p:nvSpPr>
        <p:spPr>
          <a:xfrm>
            <a:off x="640080" y="3867912"/>
            <a:ext cx="640080" cy="822960"/>
          </a:xfrm>
          <a:prstGeom prst="rect">
            <a:avLst/>
          </a:prstGeom>
          <a:noFill/>
          <a:ln/>
        </p:spPr>
        <p:txBody>
          <a:bodyPr wrap="square" lIns="0" tIns="0" rIns="0" bIns="0" rtlCol="0" anchor="ctr"/>
          <a:lstStyle/>
          <a:p>
            <a:pPr marL="0" indent="0">
              <a:buNone/>
            </a:pPr>
            <a:r>
              <a:rPr lang="en-US" sz="1900" b="1" dirty="0">
                <a:solidFill>
                  <a:srgbClr val="D9552F"/>
                </a:solidFill>
                <a:latin typeface="Courier New" pitchFamily="34" charset="0"/>
                <a:ea typeface="Courier New" pitchFamily="34" charset="-122"/>
                <a:cs typeface="Courier New" pitchFamily="34" charset="-120"/>
              </a:rPr>
              <a:t>03</a:t>
            </a:r>
            <a:endParaRPr lang="en-US" sz="1900" dirty="0"/>
          </a:p>
        </p:txBody>
      </p:sp>
      <p:sp>
        <p:nvSpPr>
          <p:cNvPr id="14" name="Text 12"/>
          <p:cNvSpPr txBox="1"/>
          <p:nvPr/>
        </p:nvSpPr>
        <p:spPr>
          <a:xfrm>
            <a:off x="1298448" y="3867912"/>
            <a:ext cx="4846320" cy="365760"/>
          </a:xfrm>
          <a:prstGeom prst="rect">
            <a:avLst/>
          </a:prstGeom>
          <a:noFill/>
          <a:ln/>
        </p:spPr>
        <p:txBody>
          <a:bodyPr wrap="square" lIns="0" tIns="0" rIns="0" bIns="0" rtlCol="0" anchor="ctr"/>
          <a:lstStyle/>
          <a:p>
            <a:pPr marL="0" indent="0">
              <a:buNone/>
            </a:pPr>
            <a:r>
              <a:rPr lang="en-US" sz="1700" b="1" dirty="0">
                <a:solidFill>
                  <a:srgbClr val="252119"/>
                </a:solidFill>
                <a:latin typeface="Century Schoolbook" pitchFamily="34" charset="0"/>
                <a:ea typeface="Century Schoolbook" pitchFamily="34" charset="-122"/>
                <a:cs typeface="Century Schoolbook" pitchFamily="34" charset="-120"/>
              </a:rPr>
              <a:t>Inconsistencias</a:t>
            </a:r>
            <a:r>
              <a:rPr lang="en-US" sz="1100" dirty="0">
                <a:solidFill>
                  <a:srgbClr val="2F7D70"/>
                </a:solidFill>
                <a:latin typeface="Courier New" pitchFamily="34" charset="0"/>
                <a:ea typeface="Courier New" pitchFamily="34" charset="-122"/>
                <a:cs typeface="Courier New" pitchFamily="34" charset="-120"/>
              </a:rPr>
              <a:t>   Consistencia</a:t>
            </a:r>
            <a:endParaRPr lang="en-US" sz="1700" dirty="0"/>
          </a:p>
        </p:txBody>
      </p:sp>
      <p:sp>
        <p:nvSpPr>
          <p:cNvPr id="15" name="Text 13"/>
          <p:cNvSpPr txBox="1"/>
          <p:nvPr/>
        </p:nvSpPr>
        <p:spPr>
          <a:xfrm>
            <a:off x="1298448" y="4215384"/>
            <a:ext cx="4846320" cy="548640"/>
          </a:xfrm>
          <a:prstGeom prst="rect">
            <a:avLst/>
          </a:prstGeom>
          <a:noFill/>
          <a:ln/>
        </p:spPr>
        <p:txBody>
          <a:bodyPr wrap="square" lIns="0" tIns="0" rIns="0" bIns="0" rtlCol="0" anchor="ctr"/>
          <a:lstStyle/>
          <a:p>
            <a:pPr marL="0" indent="0">
              <a:lnSpc>
                <a:spcPts val="1500"/>
              </a:lnSpc>
              <a:buNone/>
            </a:pPr>
            <a:r>
              <a:rPr lang="en-US" sz="1250" dirty="0">
                <a:solidFill>
                  <a:srgbClr val="8D857A"/>
                </a:solidFill>
                <a:latin typeface="Calibri" pitchFamily="34" charset="0"/>
                <a:ea typeface="Calibri" pitchFamily="34" charset="-122"/>
                <a:cs typeface="Calibri" pitchFamily="34" charset="-120"/>
              </a:rPr>
              <a:t>Beca y programa escritos de varias formas (SI, si, INGENIERÍA…).</a:t>
            </a:r>
            <a:endParaRPr lang="en-US" sz="1250" dirty="0"/>
          </a:p>
        </p:txBody>
      </p:sp>
      <p:sp>
        <p:nvSpPr>
          <p:cNvPr id="16" name="Shape 14"/>
          <p:cNvSpPr/>
          <p:nvPr/>
        </p:nvSpPr>
        <p:spPr>
          <a:xfrm>
            <a:off x="1298448" y="4800600"/>
            <a:ext cx="4846320" cy="12802"/>
          </a:xfrm>
          <a:prstGeom prst="rect">
            <a:avLst/>
          </a:prstGeom>
          <a:solidFill>
            <a:srgbClr val="D9D2C4"/>
          </a:solidFill>
          <a:ln/>
        </p:spPr>
        <p:txBody>
          <a:bodyPr/>
          <a:lstStyle/>
          <a:p>
            <a:endParaRPr lang="es-CL"/>
          </a:p>
        </p:txBody>
      </p:sp>
      <p:sp>
        <p:nvSpPr>
          <p:cNvPr id="17" name="Text 15"/>
          <p:cNvSpPr txBox="1"/>
          <p:nvPr/>
        </p:nvSpPr>
        <p:spPr>
          <a:xfrm>
            <a:off x="640080" y="4910328"/>
            <a:ext cx="640080" cy="822960"/>
          </a:xfrm>
          <a:prstGeom prst="rect">
            <a:avLst/>
          </a:prstGeom>
          <a:noFill/>
          <a:ln/>
        </p:spPr>
        <p:txBody>
          <a:bodyPr wrap="square" lIns="0" tIns="0" rIns="0" bIns="0" rtlCol="0" anchor="ctr"/>
          <a:lstStyle/>
          <a:p>
            <a:pPr marL="0" indent="0">
              <a:buNone/>
            </a:pPr>
            <a:r>
              <a:rPr lang="en-US" sz="1900" b="1" dirty="0">
                <a:solidFill>
                  <a:srgbClr val="D9552F"/>
                </a:solidFill>
                <a:latin typeface="Courier New" pitchFamily="34" charset="0"/>
                <a:ea typeface="Courier New" pitchFamily="34" charset="-122"/>
                <a:cs typeface="Courier New" pitchFamily="34" charset="-120"/>
              </a:rPr>
              <a:t>04</a:t>
            </a:r>
            <a:endParaRPr lang="en-US" sz="1900" dirty="0"/>
          </a:p>
        </p:txBody>
      </p:sp>
      <p:sp>
        <p:nvSpPr>
          <p:cNvPr id="18" name="Text 16"/>
          <p:cNvSpPr txBox="1"/>
          <p:nvPr/>
        </p:nvSpPr>
        <p:spPr>
          <a:xfrm>
            <a:off x="1298448" y="4910328"/>
            <a:ext cx="4846320" cy="365760"/>
          </a:xfrm>
          <a:prstGeom prst="rect">
            <a:avLst/>
          </a:prstGeom>
          <a:noFill/>
          <a:ln/>
        </p:spPr>
        <p:txBody>
          <a:bodyPr wrap="square" lIns="0" tIns="0" rIns="0" bIns="0" rtlCol="0" anchor="ctr"/>
          <a:lstStyle/>
          <a:p>
            <a:pPr marL="0" indent="0">
              <a:buNone/>
            </a:pPr>
            <a:r>
              <a:rPr lang="en-US" sz="1700" b="1" dirty="0">
                <a:solidFill>
                  <a:srgbClr val="252119"/>
                </a:solidFill>
                <a:latin typeface="Century Schoolbook" pitchFamily="34" charset="0"/>
                <a:ea typeface="Century Schoolbook" pitchFamily="34" charset="-122"/>
                <a:cs typeface="Century Schoolbook" pitchFamily="34" charset="-120"/>
              </a:rPr>
              <a:t>Valores inválidos</a:t>
            </a:r>
            <a:r>
              <a:rPr lang="en-US" sz="1100" dirty="0">
                <a:solidFill>
                  <a:srgbClr val="2F7D70"/>
                </a:solidFill>
                <a:latin typeface="Courier New" pitchFamily="34" charset="0"/>
                <a:ea typeface="Courier New" pitchFamily="34" charset="-122"/>
                <a:cs typeface="Courier New" pitchFamily="34" charset="-120"/>
              </a:rPr>
              <a:t>   Exactitud</a:t>
            </a:r>
            <a:endParaRPr lang="en-US" sz="1700" dirty="0"/>
          </a:p>
        </p:txBody>
      </p:sp>
      <p:sp>
        <p:nvSpPr>
          <p:cNvPr id="19" name="Text 17"/>
          <p:cNvSpPr txBox="1"/>
          <p:nvPr/>
        </p:nvSpPr>
        <p:spPr>
          <a:xfrm>
            <a:off x="1298448" y="5257800"/>
            <a:ext cx="4846320" cy="548640"/>
          </a:xfrm>
          <a:prstGeom prst="rect">
            <a:avLst/>
          </a:prstGeom>
          <a:noFill/>
          <a:ln/>
        </p:spPr>
        <p:txBody>
          <a:bodyPr wrap="square" lIns="0" tIns="0" rIns="0" bIns="0" rtlCol="0" anchor="ctr"/>
          <a:lstStyle/>
          <a:p>
            <a:pPr marL="0" indent="0">
              <a:lnSpc>
                <a:spcPts val="1500"/>
              </a:lnSpc>
              <a:buNone/>
            </a:pPr>
            <a:r>
              <a:rPr lang="en-US" sz="1250" dirty="0">
                <a:solidFill>
                  <a:srgbClr val="8D857A"/>
                </a:solidFill>
                <a:latin typeface="Calibri" pitchFamily="34" charset="0"/>
                <a:ea typeface="Calibri" pitchFamily="34" charset="-122"/>
                <a:cs typeface="Calibri" pitchFamily="34" charset="-120"/>
              </a:rPr>
              <a:t>Imposibles: asistencia &lt;0 o &gt;100, notas negativas, &gt;24 h de internet.</a:t>
            </a:r>
            <a:endParaRPr lang="en-US" sz="1250" dirty="0"/>
          </a:p>
        </p:txBody>
      </p:sp>
      <p:sp>
        <p:nvSpPr>
          <p:cNvPr id="20" name="Shape 18"/>
          <p:cNvSpPr/>
          <p:nvPr/>
        </p:nvSpPr>
        <p:spPr>
          <a:xfrm>
            <a:off x="6537960" y="1783080"/>
            <a:ext cx="5029200" cy="4160520"/>
          </a:xfrm>
          <a:prstGeom prst="rect">
            <a:avLst/>
          </a:prstGeom>
          <a:solidFill>
            <a:srgbClr val="FBF9F4"/>
          </a:solidFill>
          <a:ln w="12700">
            <a:solidFill>
              <a:srgbClr val="D9D2C4"/>
            </a:solidFill>
            <a:prstDash val="solid"/>
          </a:ln>
        </p:spPr>
        <p:txBody>
          <a:bodyPr/>
          <a:lstStyle/>
          <a:p>
            <a:endParaRPr lang="es-CL"/>
          </a:p>
        </p:txBody>
      </p:sp>
      <p:sp>
        <p:nvSpPr>
          <p:cNvPr id="21" name="Text 19"/>
          <p:cNvSpPr txBox="1"/>
          <p:nvPr/>
        </p:nvSpPr>
        <p:spPr>
          <a:xfrm>
            <a:off x="6766560" y="1938528"/>
            <a:ext cx="4572000" cy="320040"/>
          </a:xfrm>
          <a:prstGeom prst="rect">
            <a:avLst/>
          </a:prstGeom>
          <a:noFill/>
          <a:ln/>
        </p:spPr>
        <p:txBody>
          <a:bodyPr wrap="square" lIns="0" tIns="0" rIns="0" bIns="0" rtlCol="0" anchor="ctr"/>
          <a:lstStyle/>
          <a:p>
            <a:pPr marL="0" indent="0">
              <a:buNone/>
            </a:pPr>
            <a:r>
              <a:rPr lang="en-US" sz="1100" b="1" dirty="0">
                <a:solidFill>
                  <a:srgbClr val="14504A"/>
                </a:solidFill>
                <a:latin typeface="Courier New" pitchFamily="34" charset="0"/>
                <a:ea typeface="Courier New" pitchFamily="34" charset="-122"/>
                <a:cs typeface="Courier New" pitchFamily="34" charset="-120"/>
              </a:rPr>
              <a:t>% DE VALORES FALTANTES POR VARIABLE</a:t>
            </a:r>
            <a:endParaRPr lang="en-US" sz="1100" dirty="0"/>
          </a:p>
        </p:txBody>
      </p:sp>
      <p:pic>
        <p:nvPicPr>
          <p:cNvPr id="22" name="Image 0" descr="/tmp/deckimg2/faltantes.png"/>
          <p:cNvPicPr>
            <a:picLocks noChangeAspect="1"/>
          </p:cNvPicPr>
          <p:nvPr/>
        </p:nvPicPr>
        <p:blipFill>
          <a:blip r:embed="rId3"/>
          <a:stretch>
            <a:fillRect/>
          </a:stretch>
        </p:blipFill>
        <p:spPr>
          <a:xfrm>
            <a:off x="6693408" y="2286000"/>
            <a:ext cx="4709160" cy="34664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FE8"/>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058400" cy="274320"/>
          </a:xfrm>
          <a:prstGeom prst="rect">
            <a:avLst/>
          </a:prstGeom>
          <a:noFill/>
          <a:ln/>
        </p:spPr>
        <p:txBody>
          <a:bodyPr wrap="square" lIns="0" tIns="0" rIns="0" bIns="0" rtlCol="0" anchor="ctr"/>
          <a:lstStyle/>
          <a:p>
            <a:pPr marL="0" indent="0">
              <a:buNone/>
            </a:pPr>
            <a:r>
              <a:rPr lang="en-US" sz="1250" b="1" kern="0" spc="100" dirty="0">
                <a:solidFill>
                  <a:srgbClr val="D9552F"/>
                </a:solidFill>
                <a:latin typeface="Courier New" pitchFamily="34" charset="0"/>
                <a:ea typeface="Courier New" pitchFamily="34" charset="-122"/>
                <a:cs typeface="Courier New" pitchFamily="34" charset="-120"/>
              </a:rPr>
              <a:t>§ 05</a:t>
            </a:r>
            <a:r>
              <a:rPr lang="en-US" sz="1250" kern="0" spc="100" dirty="0">
                <a:solidFill>
                  <a:srgbClr val="14504A"/>
                </a:solidFill>
                <a:latin typeface="Courier New" pitchFamily="34" charset="0"/>
                <a:ea typeface="Courier New" pitchFamily="34" charset="-122"/>
                <a:cs typeface="Courier New" pitchFamily="34" charset="-120"/>
              </a:rPr>
              <a:t>   LA DISTINCIÓN CLAVE</a:t>
            </a:r>
            <a:endParaRPr lang="en-US" sz="1250" dirty="0"/>
          </a:p>
        </p:txBody>
      </p:sp>
      <p:sp>
        <p:nvSpPr>
          <p:cNvPr id="3" name="Text 1"/>
          <p:cNvSpPr txBox="1"/>
          <p:nvPr/>
        </p:nvSpPr>
        <p:spPr>
          <a:xfrm>
            <a:off x="9784080" y="137160"/>
            <a:ext cx="2103120" cy="1280160"/>
          </a:xfrm>
          <a:prstGeom prst="rect">
            <a:avLst/>
          </a:prstGeom>
          <a:noFill/>
          <a:ln/>
        </p:spPr>
        <p:txBody>
          <a:bodyPr wrap="square" lIns="0" tIns="0" rIns="0" bIns="0" rtlCol="0" anchor="ctr"/>
          <a:lstStyle/>
          <a:p>
            <a:pPr marL="0" indent="0" algn="r">
              <a:buNone/>
            </a:pPr>
            <a:r>
              <a:rPr lang="en-US" sz="9600" b="1" dirty="0">
                <a:solidFill>
                  <a:srgbClr val="E4DDCD"/>
                </a:solidFill>
                <a:latin typeface="Century Schoolbook" pitchFamily="34" charset="0"/>
                <a:ea typeface="Century Schoolbook" pitchFamily="34" charset="-122"/>
                <a:cs typeface="Century Schoolbook" pitchFamily="34" charset="-120"/>
              </a:rPr>
              <a:t>05</a:t>
            </a:r>
            <a:endParaRPr lang="en-US" sz="9600" dirty="0"/>
          </a:p>
        </p:txBody>
      </p:sp>
      <p:sp>
        <p:nvSpPr>
          <p:cNvPr id="4" name="Text 2"/>
          <p:cNvSpPr txBox="1"/>
          <p:nvPr/>
        </p:nvSpPr>
        <p:spPr>
          <a:xfrm>
            <a:off x="640080" y="868680"/>
            <a:ext cx="10424160" cy="822960"/>
          </a:xfrm>
          <a:prstGeom prst="rect">
            <a:avLst/>
          </a:prstGeom>
          <a:noFill/>
          <a:ln/>
        </p:spPr>
        <p:txBody>
          <a:bodyPr wrap="square" lIns="0" tIns="0" rIns="0" bIns="0" rtlCol="0" anchor="ctr"/>
          <a:lstStyle/>
          <a:p>
            <a:pPr marL="0" indent="0">
              <a:buNone/>
            </a:pPr>
            <a:r>
              <a:rPr lang="en-US" sz="3300" b="1" dirty="0">
                <a:solidFill>
                  <a:srgbClr val="252119"/>
                </a:solidFill>
                <a:latin typeface="Century Schoolbook" pitchFamily="34" charset="0"/>
                <a:ea typeface="Century Schoolbook" pitchFamily="34" charset="-122"/>
                <a:cs typeface="Century Schoolbook" pitchFamily="34" charset="-120"/>
              </a:rPr>
              <a:t>Inválido ≠ atípico</a:t>
            </a:r>
            <a:endParaRPr lang="en-US" sz="3300" dirty="0"/>
          </a:p>
        </p:txBody>
      </p:sp>
      <p:sp>
        <p:nvSpPr>
          <p:cNvPr id="5" name="Text 3"/>
          <p:cNvSpPr txBox="1"/>
          <p:nvPr/>
        </p:nvSpPr>
        <p:spPr>
          <a:xfrm>
            <a:off x="640080" y="1691640"/>
            <a:ext cx="10515600" cy="457200"/>
          </a:xfrm>
          <a:prstGeom prst="rect">
            <a:avLst/>
          </a:prstGeom>
          <a:noFill/>
          <a:ln/>
        </p:spPr>
        <p:txBody>
          <a:bodyPr wrap="square" lIns="0" tIns="0" rIns="0" bIns="0" rtlCol="0" anchor="ctr"/>
          <a:lstStyle/>
          <a:p>
            <a:pPr marL="0" indent="0">
              <a:buNone/>
            </a:pPr>
            <a:r>
              <a:rPr lang="en-US" sz="1600" dirty="0">
                <a:solidFill>
                  <a:srgbClr val="8D857A"/>
                </a:solidFill>
                <a:latin typeface="Calibri" pitchFamily="34" charset="0"/>
                <a:ea typeface="Calibri" pitchFamily="34" charset="-122"/>
                <a:cs typeface="Calibri" pitchFamily="34" charset="-120"/>
              </a:rPr>
              <a:t>No todo dato raro se elimina. La estrategia depende de si el valor es imposible o solo poco frecuente.</a:t>
            </a:r>
            <a:endParaRPr lang="en-US" sz="1600" dirty="0"/>
          </a:p>
        </p:txBody>
      </p:sp>
      <p:sp>
        <p:nvSpPr>
          <p:cNvPr id="6" name="Shape 4"/>
          <p:cNvSpPr/>
          <p:nvPr/>
        </p:nvSpPr>
        <p:spPr>
          <a:xfrm>
            <a:off x="640080" y="2377440"/>
            <a:ext cx="5212080" cy="3383280"/>
          </a:xfrm>
          <a:prstGeom prst="rect">
            <a:avLst/>
          </a:prstGeom>
          <a:solidFill>
            <a:srgbClr val="FBF9F4"/>
          </a:solidFill>
          <a:ln w="12700">
            <a:solidFill>
              <a:srgbClr val="D9D2C4"/>
            </a:solidFill>
            <a:prstDash val="solid"/>
          </a:ln>
        </p:spPr>
        <p:txBody>
          <a:bodyPr/>
          <a:lstStyle/>
          <a:p>
            <a:endParaRPr lang="es-CL"/>
          </a:p>
        </p:txBody>
      </p:sp>
      <p:sp>
        <p:nvSpPr>
          <p:cNvPr id="7" name="Shape 5"/>
          <p:cNvSpPr/>
          <p:nvPr/>
        </p:nvSpPr>
        <p:spPr>
          <a:xfrm>
            <a:off x="640080" y="2377440"/>
            <a:ext cx="5212080" cy="45720"/>
          </a:xfrm>
          <a:prstGeom prst="rect">
            <a:avLst/>
          </a:prstGeom>
          <a:solidFill>
            <a:srgbClr val="D9552F"/>
          </a:solidFill>
          <a:ln/>
        </p:spPr>
        <p:txBody>
          <a:bodyPr/>
          <a:lstStyle/>
          <a:p>
            <a:endParaRPr lang="es-CL"/>
          </a:p>
        </p:txBody>
      </p:sp>
      <p:sp>
        <p:nvSpPr>
          <p:cNvPr id="8" name="Text 6"/>
          <p:cNvSpPr txBox="1"/>
          <p:nvPr/>
        </p:nvSpPr>
        <p:spPr>
          <a:xfrm>
            <a:off x="960120" y="2651760"/>
            <a:ext cx="4572000" cy="320040"/>
          </a:xfrm>
          <a:prstGeom prst="rect">
            <a:avLst/>
          </a:prstGeom>
          <a:noFill/>
          <a:ln/>
        </p:spPr>
        <p:txBody>
          <a:bodyPr wrap="square" lIns="0" tIns="0" rIns="0" bIns="0" rtlCol="0" anchor="ctr"/>
          <a:lstStyle/>
          <a:p>
            <a:pPr marL="0" indent="0">
              <a:buNone/>
            </a:pPr>
            <a:r>
              <a:rPr lang="en-US" sz="1300" b="1" dirty="0">
                <a:solidFill>
                  <a:srgbClr val="D9552F"/>
                </a:solidFill>
                <a:latin typeface="Courier New" pitchFamily="34" charset="0"/>
                <a:ea typeface="Courier New" pitchFamily="34" charset="-122"/>
                <a:cs typeface="Courier New" pitchFamily="34" charset="-120"/>
              </a:rPr>
              <a:t>VALOR INVÁLIDO</a:t>
            </a:r>
            <a:endParaRPr lang="en-US" sz="1300" dirty="0"/>
          </a:p>
        </p:txBody>
      </p:sp>
      <p:sp>
        <p:nvSpPr>
          <p:cNvPr id="9" name="Text 7"/>
          <p:cNvSpPr txBox="1"/>
          <p:nvPr/>
        </p:nvSpPr>
        <p:spPr>
          <a:xfrm>
            <a:off x="960120" y="3017520"/>
            <a:ext cx="4572000" cy="548640"/>
          </a:xfrm>
          <a:prstGeom prst="rect">
            <a:avLst/>
          </a:prstGeom>
          <a:noFill/>
          <a:ln/>
        </p:spPr>
        <p:txBody>
          <a:bodyPr wrap="square" lIns="0" tIns="0" rIns="0" bIns="0" rtlCol="0" anchor="ctr"/>
          <a:lstStyle/>
          <a:p>
            <a:pPr marL="0" indent="0">
              <a:buNone/>
            </a:pPr>
            <a:r>
              <a:rPr lang="en-US" sz="2400" b="1" dirty="0">
                <a:solidFill>
                  <a:srgbClr val="252119"/>
                </a:solidFill>
                <a:latin typeface="Century Schoolbook" pitchFamily="34" charset="0"/>
                <a:ea typeface="Century Schoolbook" pitchFamily="34" charset="-122"/>
                <a:cs typeface="Century Schoolbook" pitchFamily="34" charset="-120"/>
              </a:rPr>
              <a:t>Imposible</a:t>
            </a:r>
            <a:endParaRPr lang="en-US" sz="2400" dirty="0"/>
          </a:p>
        </p:txBody>
      </p:sp>
      <p:sp>
        <p:nvSpPr>
          <p:cNvPr id="10" name="Text 8"/>
          <p:cNvSpPr txBox="1"/>
          <p:nvPr/>
        </p:nvSpPr>
        <p:spPr>
          <a:xfrm>
            <a:off x="960120" y="3794760"/>
            <a:ext cx="4572000" cy="365760"/>
          </a:xfrm>
          <a:prstGeom prst="rect">
            <a:avLst/>
          </a:prstGeom>
          <a:noFill/>
          <a:ln/>
        </p:spPr>
        <p:txBody>
          <a:bodyPr wrap="square" lIns="0" tIns="0" rIns="0" bIns="0" rtlCol="0" anchor="ctr"/>
          <a:lstStyle/>
          <a:p>
            <a:pPr marL="0" indent="0">
              <a:buNone/>
            </a:pPr>
            <a:r>
              <a:rPr lang="en-US" sz="1150" dirty="0">
                <a:solidFill>
                  <a:srgbClr val="8D857A"/>
                </a:solidFill>
                <a:latin typeface="Courier New" pitchFamily="34" charset="0"/>
                <a:ea typeface="Courier New" pitchFamily="34" charset="-122"/>
                <a:cs typeface="Courier New" pitchFamily="34" charset="-120"/>
              </a:rPr>
              <a:t>Ejemplo   </a:t>
            </a:r>
            <a:r>
              <a:rPr lang="en-US" sz="1500" dirty="0">
                <a:solidFill>
                  <a:srgbClr val="252119"/>
                </a:solidFill>
                <a:latin typeface="Calibri" pitchFamily="34" charset="0"/>
                <a:ea typeface="Calibri" pitchFamily="34" charset="-122"/>
                <a:cs typeface="Calibri" pitchFamily="34" charset="-120"/>
              </a:rPr>
              <a:t>Attendance = −19,96 %</a:t>
            </a:r>
            <a:endParaRPr lang="en-US" sz="1150" dirty="0"/>
          </a:p>
        </p:txBody>
      </p:sp>
      <p:sp>
        <p:nvSpPr>
          <p:cNvPr id="11" name="Text 9"/>
          <p:cNvSpPr txBox="1"/>
          <p:nvPr/>
        </p:nvSpPr>
        <p:spPr>
          <a:xfrm>
            <a:off x="960120" y="4224528"/>
            <a:ext cx="4572000" cy="365760"/>
          </a:xfrm>
          <a:prstGeom prst="rect">
            <a:avLst/>
          </a:prstGeom>
          <a:noFill/>
          <a:ln/>
        </p:spPr>
        <p:txBody>
          <a:bodyPr wrap="square" lIns="0" tIns="0" rIns="0" bIns="0" rtlCol="0" anchor="ctr"/>
          <a:lstStyle/>
          <a:p>
            <a:pPr marL="0" indent="0">
              <a:buNone/>
            </a:pPr>
            <a:r>
              <a:rPr lang="en-US" sz="1150" dirty="0">
                <a:solidFill>
                  <a:srgbClr val="8D857A"/>
                </a:solidFill>
                <a:latin typeface="Courier New" pitchFamily="34" charset="0"/>
                <a:ea typeface="Courier New" pitchFamily="34" charset="-122"/>
                <a:cs typeface="Courier New" pitchFamily="34" charset="-120"/>
              </a:rPr>
              <a:t>Decisión  </a:t>
            </a:r>
            <a:r>
              <a:rPr lang="en-US" sz="1500" b="1" dirty="0">
                <a:solidFill>
                  <a:srgbClr val="D9552F"/>
                </a:solidFill>
                <a:latin typeface="Calibri" pitchFamily="34" charset="0"/>
                <a:ea typeface="Calibri" pitchFamily="34" charset="-122"/>
                <a:cs typeface="Calibri" pitchFamily="34" charset="-120"/>
              </a:rPr>
              <a:t>convertir a NaN e imputar</a:t>
            </a:r>
            <a:endParaRPr lang="en-US" sz="1150" dirty="0"/>
          </a:p>
        </p:txBody>
      </p:sp>
      <p:sp>
        <p:nvSpPr>
          <p:cNvPr id="12" name="Text 10"/>
          <p:cNvSpPr txBox="1"/>
          <p:nvPr/>
        </p:nvSpPr>
        <p:spPr>
          <a:xfrm>
            <a:off x="960120" y="4892040"/>
            <a:ext cx="4572000" cy="731520"/>
          </a:xfrm>
          <a:prstGeom prst="rect">
            <a:avLst/>
          </a:prstGeom>
          <a:noFill/>
          <a:ln/>
        </p:spPr>
        <p:txBody>
          <a:bodyPr wrap="square" lIns="0" tIns="0" rIns="0" bIns="0" rtlCol="0" anchor="ctr"/>
          <a:lstStyle/>
          <a:p>
            <a:pPr marL="0" indent="0">
              <a:lnSpc>
                <a:spcPts val="1700"/>
              </a:lnSpc>
              <a:buNone/>
            </a:pPr>
            <a:r>
              <a:rPr lang="en-US" sz="1300" i="1" dirty="0">
                <a:solidFill>
                  <a:srgbClr val="8D857A"/>
                </a:solidFill>
                <a:latin typeface="Calibri" pitchFamily="34" charset="0"/>
                <a:ea typeface="Calibri" pitchFamily="34" charset="-122"/>
                <a:cs typeface="Calibri" pitchFamily="34" charset="-120"/>
              </a:rPr>
              <a:t>Se corrige: el dato no puede existir.</a:t>
            </a:r>
            <a:endParaRPr lang="en-US" sz="1300" dirty="0"/>
          </a:p>
        </p:txBody>
      </p:sp>
      <p:sp>
        <p:nvSpPr>
          <p:cNvPr id="13" name="Shape 11"/>
          <p:cNvSpPr/>
          <p:nvPr/>
        </p:nvSpPr>
        <p:spPr>
          <a:xfrm>
            <a:off x="6336792" y="2377440"/>
            <a:ext cx="5212080" cy="3383280"/>
          </a:xfrm>
          <a:prstGeom prst="rect">
            <a:avLst/>
          </a:prstGeom>
          <a:solidFill>
            <a:srgbClr val="FBF9F4"/>
          </a:solidFill>
          <a:ln w="12700">
            <a:solidFill>
              <a:srgbClr val="D9D2C4"/>
            </a:solidFill>
            <a:prstDash val="solid"/>
          </a:ln>
        </p:spPr>
        <p:txBody>
          <a:bodyPr/>
          <a:lstStyle/>
          <a:p>
            <a:endParaRPr lang="es-CL"/>
          </a:p>
        </p:txBody>
      </p:sp>
      <p:sp>
        <p:nvSpPr>
          <p:cNvPr id="14" name="Shape 12"/>
          <p:cNvSpPr/>
          <p:nvPr/>
        </p:nvSpPr>
        <p:spPr>
          <a:xfrm>
            <a:off x="6336792" y="2377440"/>
            <a:ext cx="5212080" cy="45720"/>
          </a:xfrm>
          <a:prstGeom prst="rect">
            <a:avLst/>
          </a:prstGeom>
          <a:solidFill>
            <a:srgbClr val="14504A"/>
          </a:solidFill>
          <a:ln/>
        </p:spPr>
        <p:txBody>
          <a:bodyPr/>
          <a:lstStyle/>
          <a:p>
            <a:endParaRPr lang="es-CL"/>
          </a:p>
        </p:txBody>
      </p:sp>
      <p:sp>
        <p:nvSpPr>
          <p:cNvPr id="15" name="Text 13"/>
          <p:cNvSpPr txBox="1"/>
          <p:nvPr/>
        </p:nvSpPr>
        <p:spPr>
          <a:xfrm>
            <a:off x="6656832" y="2651760"/>
            <a:ext cx="4572000" cy="320040"/>
          </a:xfrm>
          <a:prstGeom prst="rect">
            <a:avLst/>
          </a:prstGeom>
          <a:noFill/>
          <a:ln/>
        </p:spPr>
        <p:txBody>
          <a:bodyPr wrap="square" lIns="0" tIns="0" rIns="0" bIns="0" rtlCol="0" anchor="ctr"/>
          <a:lstStyle/>
          <a:p>
            <a:pPr marL="0" indent="0">
              <a:buNone/>
            </a:pPr>
            <a:r>
              <a:rPr lang="en-US" sz="1300" b="1" dirty="0">
                <a:solidFill>
                  <a:srgbClr val="14504A"/>
                </a:solidFill>
                <a:latin typeface="Courier New" pitchFamily="34" charset="0"/>
                <a:ea typeface="Courier New" pitchFamily="34" charset="-122"/>
                <a:cs typeface="Courier New" pitchFamily="34" charset="-120"/>
              </a:rPr>
              <a:t>VALOR ATÍPICO</a:t>
            </a:r>
            <a:endParaRPr lang="en-US" sz="1300" dirty="0"/>
          </a:p>
        </p:txBody>
      </p:sp>
      <p:sp>
        <p:nvSpPr>
          <p:cNvPr id="16" name="Text 14"/>
          <p:cNvSpPr txBox="1"/>
          <p:nvPr/>
        </p:nvSpPr>
        <p:spPr>
          <a:xfrm>
            <a:off x="6656832" y="3017520"/>
            <a:ext cx="4572000" cy="548640"/>
          </a:xfrm>
          <a:prstGeom prst="rect">
            <a:avLst/>
          </a:prstGeom>
          <a:noFill/>
          <a:ln/>
        </p:spPr>
        <p:txBody>
          <a:bodyPr wrap="square" lIns="0" tIns="0" rIns="0" bIns="0" rtlCol="0" anchor="ctr"/>
          <a:lstStyle/>
          <a:p>
            <a:pPr marL="0" indent="0">
              <a:buNone/>
            </a:pPr>
            <a:r>
              <a:rPr lang="en-US" sz="2400" b="1" dirty="0">
                <a:solidFill>
                  <a:srgbClr val="252119"/>
                </a:solidFill>
                <a:latin typeface="Century Schoolbook" pitchFamily="34" charset="0"/>
                <a:ea typeface="Century Schoolbook" pitchFamily="34" charset="-122"/>
                <a:cs typeface="Century Schoolbook" pitchFamily="34" charset="-120"/>
              </a:rPr>
              <a:t>Extremo, posible</a:t>
            </a:r>
            <a:endParaRPr lang="en-US" sz="2400" dirty="0"/>
          </a:p>
        </p:txBody>
      </p:sp>
      <p:sp>
        <p:nvSpPr>
          <p:cNvPr id="17" name="Text 15"/>
          <p:cNvSpPr txBox="1"/>
          <p:nvPr/>
        </p:nvSpPr>
        <p:spPr>
          <a:xfrm>
            <a:off x="6656832" y="3794760"/>
            <a:ext cx="4572000" cy="365760"/>
          </a:xfrm>
          <a:prstGeom prst="rect">
            <a:avLst/>
          </a:prstGeom>
          <a:noFill/>
          <a:ln/>
        </p:spPr>
        <p:txBody>
          <a:bodyPr wrap="square" lIns="0" tIns="0" rIns="0" bIns="0" rtlCol="0" anchor="ctr"/>
          <a:lstStyle/>
          <a:p>
            <a:pPr marL="0" indent="0">
              <a:buNone/>
            </a:pPr>
            <a:r>
              <a:rPr lang="en-US" sz="1150" dirty="0">
                <a:solidFill>
                  <a:srgbClr val="8D857A"/>
                </a:solidFill>
                <a:latin typeface="Courier New" pitchFamily="34" charset="0"/>
                <a:ea typeface="Courier New" pitchFamily="34" charset="-122"/>
                <a:cs typeface="Courier New" pitchFamily="34" charset="-120"/>
              </a:rPr>
              <a:t>Ejemplo   </a:t>
            </a:r>
            <a:r>
              <a:rPr lang="en-US" sz="1500" dirty="0">
                <a:solidFill>
                  <a:srgbClr val="252119"/>
                </a:solidFill>
                <a:latin typeface="Calibri" pitchFamily="34" charset="0"/>
                <a:ea typeface="Calibri" pitchFamily="34" charset="-122"/>
                <a:cs typeface="Calibri" pitchFamily="34" charset="-120"/>
              </a:rPr>
              <a:t>StudyHours = 25 h/semana</a:t>
            </a:r>
            <a:endParaRPr lang="en-US" sz="1150" dirty="0"/>
          </a:p>
        </p:txBody>
      </p:sp>
      <p:sp>
        <p:nvSpPr>
          <p:cNvPr id="18" name="Text 16"/>
          <p:cNvSpPr txBox="1"/>
          <p:nvPr/>
        </p:nvSpPr>
        <p:spPr>
          <a:xfrm>
            <a:off x="6656832" y="4224528"/>
            <a:ext cx="4572000" cy="365760"/>
          </a:xfrm>
          <a:prstGeom prst="rect">
            <a:avLst/>
          </a:prstGeom>
          <a:noFill/>
          <a:ln/>
        </p:spPr>
        <p:txBody>
          <a:bodyPr wrap="square" lIns="0" tIns="0" rIns="0" bIns="0" rtlCol="0" anchor="ctr"/>
          <a:lstStyle/>
          <a:p>
            <a:pPr marL="0" indent="0">
              <a:buNone/>
            </a:pPr>
            <a:r>
              <a:rPr lang="en-US" sz="1150" dirty="0">
                <a:solidFill>
                  <a:srgbClr val="8D857A"/>
                </a:solidFill>
                <a:latin typeface="Courier New" pitchFamily="34" charset="0"/>
                <a:ea typeface="Courier New" pitchFamily="34" charset="-122"/>
                <a:cs typeface="Courier New" pitchFamily="34" charset="-120"/>
              </a:rPr>
              <a:t>Decisión  </a:t>
            </a:r>
            <a:r>
              <a:rPr lang="en-US" sz="1500" b="1" dirty="0">
                <a:solidFill>
                  <a:srgbClr val="14504A"/>
                </a:solidFill>
                <a:latin typeface="Calibri" pitchFamily="34" charset="0"/>
                <a:ea typeface="Calibri" pitchFamily="34" charset="-122"/>
                <a:cs typeface="Calibri" pitchFamily="34" charset="-120"/>
              </a:rPr>
              <a:t>acotar por IQR (winsorizar)</a:t>
            </a:r>
            <a:endParaRPr lang="en-US" sz="1150" dirty="0"/>
          </a:p>
        </p:txBody>
      </p:sp>
      <p:sp>
        <p:nvSpPr>
          <p:cNvPr id="19" name="Text 17"/>
          <p:cNvSpPr txBox="1"/>
          <p:nvPr/>
        </p:nvSpPr>
        <p:spPr>
          <a:xfrm>
            <a:off x="6656832" y="4892040"/>
            <a:ext cx="4572000" cy="731520"/>
          </a:xfrm>
          <a:prstGeom prst="rect">
            <a:avLst/>
          </a:prstGeom>
          <a:noFill/>
          <a:ln/>
        </p:spPr>
        <p:txBody>
          <a:bodyPr wrap="square" lIns="0" tIns="0" rIns="0" bIns="0" rtlCol="0" anchor="ctr"/>
          <a:lstStyle/>
          <a:p>
            <a:pPr marL="0" indent="0">
              <a:lnSpc>
                <a:spcPts val="1700"/>
              </a:lnSpc>
              <a:buNone/>
            </a:pPr>
            <a:r>
              <a:rPr lang="en-US" sz="1300" i="1" dirty="0">
                <a:solidFill>
                  <a:srgbClr val="8D857A"/>
                </a:solidFill>
                <a:latin typeface="Calibri" pitchFamily="34" charset="0"/>
                <a:ea typeface="Calibri" pitchFamily="34" charset="-122"/>
                <a:cs typeface="Calibri" pitchFamily="34" charset="-120"/>
              </a:rPr>
              <a:t>Se conserva: es raro pero real.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FE8"/>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058400" cy="274320"/>
          </a:xfrm>
          <a:prstGeom prst="rect">
            <a:avLst/>
          </a:prstGeom>
          <a:noFill/>
          <a:ln/>
        </p:spPr>
        <p:txBody>
          <a:bodyPr wrap="square" lIns="0" tIns="0" rIns="0" bIns="0" rtlCol="0" anchor="ctr"/>
          <a:lstStyle/>
          <a:p>
            <a:pPr marL="0" indent="0">
              <a:buNone/>
            </a:pPr>
            <a:r>
              <a:rPr lang="en-US" sz="1250" b="1" kern="0" spc="100" dirty="0">
                <a:solidFill>
                  <a:srgbClr val="D9552F"/>
                </a:solidFill>
                <a:latin typeface="Courier New" pitchFamily="34" charset="0"/>
                <a:ea typeface="Courier New" pitchFamily="34" charset="-122"/>
                <a:cs typeface="Courier New" pitchFamily="34" charset="-120"/>
              </a:rPr>
              <a:t>§ 06</a:t>
            </a:r>
            <a:r>
              <a:rPr lang="en-US" sz="1250" kern="0" spc="100" dirty="0">
                <a:solidFill>
                  <a:srgbClr val="14504A"/>
                </a:solidFill>
                <a:latin typeface="Courier New" pitchFamily="34" charset="0"/>
                <a:ea typeface="Courier New" pitchFamily="34" charset="-122"/>
                <a:cs typeface="Courier New" pitchFamily="34" charset="-120"/>
              </a:rPr>
              <a:t>   TRATAMIENTO</a:t>
            </a:r>
            <a:endParaRPr lang="en-US" sz="1250" dirty="0"/>
          </a:p>
        </p:txBody>
      </p:sp>
      <p:sp>
        <p:nvSpPr>
          <p:cNvPr id="3" name="Text 1"/>
          <p:cNvSpPr txBox="1"/>
          <p:nvPr/>
        </p:nvSpPr>
        <p:spPr>
          <a:xfrm>
            <a:off x="9784080" y="137160"/>
            <a:ext cx="2103120" cy="1280160"/>
          </a:xfrm>
          <a:prstGeom prst="rect">
            <a:avLst/>
          </a:prstGeom>
          <a:noFill/>
          <a:ln/>
        </p:spPr>
        <p:txBody>
          <a:bodyPr wrap="square" lIns="0" tIns="0" rIns="0" bIns="0" rtlCol="0" anchor="ctr"/>
          <a:lstStyle/>
          <a:p>
            <a:pPr marL="0" indent="0" algn="r">
              <a:buNone/>
            </a:pPr>
            <a:r>
              <a:rPr lang="en-US" sz="9600" b="1" dirty="0">
                <a:solidFill>
                  <a:srgbClr val="E4DDCD"/>
                </a:solidFill>
                <a:latin typeface="Century Schoolbook" pitchFamily="34" charset="0"/>
                <a:ea typeface="Century Schoolbook" pitchFamily="34" charset="-122"/>
                <a:cs typeface="Century Schoolbook" pitchFamily="34" charset="-120"/>
              </a:rPr>
              <a:t>06</a:t>
            </a:r>
            <a:endParaRPr lang="en-US" sz="9600" dirty="0"/>
          </a:p>
        </p:txBody>
      </p:sp>
      <p:sp>
        <p:nvSpPr>
          <p:cNvPr id="4" name="Text 2"/>
          <p:cNvSpPr txBox="1"/>
          <p:nvPr/>
        </p:nvSpPr>
        <p:spPr>
          <a:xfrm>
            <a:off x="640080" y="868680"/>
            <a:ext cx="10424160" cy="822960"/>
          </a:xfrm>
          <a:prstGeom prst="rect">
            <a:avLst/>
          </a:prstGeom>
          <a:noFill/>
          <a:ln/>
        </p:spPr>
        <p:txBody>
          <a:bodyPr wrap="square" lIns="0" tIns="0" rIns="0" bIns="0" rtlCol="0" anchor="ctr"/>
          <a:lstStyle/>
          <a:p>
            <a:pPr marL="0" indent="0">
              <a:buNone/>
            </a:pPr>
            <a:r>
              <a:rPr lang="en-US" sz="3300" b="1" dirty="0">
                <a:solidFill>
                  <a:srgbClr val="252119"/>
                </a:solidFill>
                <a:latin typeface="Century Schoolbook" pitchFamily="34" charset="0"/>
                <a:ea typeface="Century Schoolbook" pitchFamily="34" charset="-122"/>
                <a:cs typeface="Century Schoolbook" pitchFamily="34" charset="-120"/>
              </a:rPr>
              <a:t>Cada decisión, justificada</a:t>
            </a:r>
            <a:endParaRPr lang="en-US" sz="3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927080" cy="4352544"/>
        </p:xfrm>
        <a:graphic>
          <a:graphicData uri="http://schemas.openxmlformats.org/drawingml/2006/table">
            <a:tbl>
              <a:tblPr/>
              <a:tblGrid>
                <a:gridCol w="24688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5257800">
                  <a:extLst>
                    <a:ext uri="{9D8B030D-6E8A-4147-A177-3AD203B41FA5}">
                      <a16:colId xmlns:a16="http://schemas.microsoft.com/office/drawing/2014/main" val="20002"/>
                    </a:ext>
                  </a:extLst>
                </a:gridCol>
              </a:tblGrid>
              <a:tr h="621792">
                <a:tc>
                  <a:txBody>
                    <a:bodyPr/>
                    <a:lstStyle/>
                    <a:p>
                      <a:pPr marL="0" indent="0">
                        <a:buNone/>
                      </a:pPr>
                      <a:r>
                        <a:rPr lang="en-US" sz="1200" b="1" dirty="0">
                          <a:solidFill>
                            <a:srgbClr val="F2EFE8"/>
                          </a:solidFill>
                          <a:latin typeface="Courier New" pitchFamily="34" charset="0"/>
                          <a:ea typeface="Courier New" pitchFamily="34" charset="-122"/>
                          <a:cs typeface="Courier New" pitchFamily="34" charset="-120"/>
                        </a:rPr>
                        <a:t>PROBLEMA</a:t>
                      </a:r>
                      <a:endParaRPr lang="en-US" sz="1200" dirty="0">
                        <a:latin typeface="Courier New" charset="0"/>
                        <a:ea typeface="Courier New" charset="0"/>
                        <a:cs typeface="Courier New"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14504A"/>
                    </a:solidFill>
                  </a:tcPr>
                </a:tc>
                <a:tc>
                  <a:txBody>
                    <a:bodyPr/>
                    <a:lstStyle/>
                    <a:p>
                      <a:pPr marL="0" indent="0">
                        <a:buNone/>
                      </a:pPr>
                      <a:r>
                        <a:rPr lang="en-US" sz="1200" b="1" dirty="0">
                          <a:solidFill>
                            <a:srgbClr val="F2EFE8"/>
                          </a:solidFill>
                          <a:latin typeface="Courier New" pitchFamily="34" charset="0"/>
                          <a:ea typeface="Courier New" pitchFamily="34" charset="-122"/>
                          <a:cs typeface="Courier New" pitchFamily="34" charset="-120"/>
                        </a:rPr>
                        <a:t>DECISIÓN</a:t>
                      </a:r>
                      <a:endParaRPr lang="en-US" sz="1200" dirty="0">
                        <a:latin typeface="Courier New" charset="0"/>
                        <a:ea typeface="Courier New" charset="0"/>
                        <a:cs typeface="Courier New"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14504A"/>
                    </a:solidFill>
                  </a:tcPr>
                </a:tc>
                <a:tc>
                  <a:txBody>
                    <a:bodyPr/>
                    <a:lstStyle/>
                    <a:p>
                      <a:pPr marL="0" indent="0">
                        <a:buNone/>
                      </a:pPr>
                      <a:r>
                        <a:rPr lang="en-US" sz="1200" b="1" dirty="0">
                          <a:solidFill>
                            <a:srgbClr val="F2EFE8"/>
                          </a:solidFill>
                          <a:latin typeface="Courier New" pitchFamily="34" charset="0"/>
                          <a:ea typeface="Courier New" pitchFamily="34" charset="-122"/>
                          <a:cs typeface="Courier New" pitchFamily="34" charset="-120"/>
                        </a:rPr>
                        <a:t>JUSTIFICACIÓN</a:t>
                      </a:r>
                      <a:endParaRPr lang="en-US" sz="1200" dirty="0">
                        <a:latin typeface="Courier New" charset="0"/>
                        <a:ea typeface="Courier New" charset="0"/>
                        <a:cs typeface="Courier New"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14504A"/>
                    </a:solidFill>
                  </a:tcPr>
                </a:tc>
                <a:extLst>
                  <a:ext uri="{0D108BD9-81ED-4DB2-BD59-A6C34878D82A}">
                    <a16:rowId xmlns:a16="http://schemas.microsoft.com/office/drawing/2014/main" val="10000"/>
                  </a:ext>
                </a:extLst>
              </a:tr>
              <a:tr h="621792">
                <a:tc>
                  <a:txBody>
                    <a:bodyPr/>
                    <a:lstStyle/>
                    <a:p>
                      <a:pPr marL="0" indent="0">
                        <a:buNone/>
                      </a:pPr>
                      <a:r>
                        <a:rPr lang="en-US" sz="1350" b="1" dirty="0">
                          <a:solidFill>
                            <a:srgbClr val="252119"/>
                          </a:solidFill>
                          <a:latin typeface="Century Schoolbook" pitchFamily="34" charset="0"/>
                          <a:ea typeface="Century Schoolbook" pitchFamily="34" charset="-122"/>
                          <a:cs typeface="Century Schoolbook" pitchFamily="34" charset="-120"/>
                        </a:rPr>
                        <a:t>Duplicados</a:t>
                      </a:r>
                      <a:endParaRPr lang="en-US" sz="1350" dirty="0">
                        <a:latin typeface="Century Schoolbook" charset="0"/>
                        <a:ea typeface="Century Schoolbook" charset="0"/>
                        <a:cs typeface="Century Schoolbook"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FBF9F4"/>
                    </a:solidFill>
                  </a:tcPr>
                </a:tc>
                <a:tc>
                  <a:txBody>
                    <a:bodyPr/>
                    <a:lstStyle/>
                    <a:p>
                      <a:pPr marL="0" indent="0">
                        <a:buNone/>
                      </a:pPr>
                      <a:r>
                        <a:rPr lang="en-US" sz="1300" dirty="0">
                          <a:solidFill>
                            <a:srgbClr val="252119"/>
                          </a:solidFill>
                          <a:latin typeface="Calibri" pitchFamily="34" charset="0"/>
                          <a:ea typeface="Calibri" pitchFamily="34" charset="-122"/>
                          <a:cs typeface="Calibri" pitchFamily="34" charset="-120"/>
                        </a:rPr>
                        <a:t>Eliminar filas idénticas</a:t>
                      </a:r>
                      <a:endParaRPr lang="en-US" sz="1300" dirty="0">
                        <a:latin typeface="Calibri" charset="0"/>
                        <a:ea typeface="Calibri" charset="0"/>
                        <a:cs typeface="Calibri"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FBF9F4"/>
                    </a:solidFill>
                  </a:tcPr>
                </a:tc>
                <a:tc>
                  <a:txBody>
                    <a:bodyPr/>
                    <a:lstStyle/>
                    <a:p>
                      <a:pPr marL="0" indent="0">
                        <a:buNone/>
                      </a:pPr>
                      <a:r>
                        <a:rPr lang="en-US" sz="1250" dirty="0">
                          <a:solidFill>
                            <a:srgbClr val="8D857A"/>
                          </a:solidFill>
                          <a:latin typeface="Calibri" pitchFamily="34" charset="0"/>
                          <a:ea typeface="Calibri" pitchFamily="34" charset="-122"/>
                          <a:cs typeface="Calibri" pitchFamily="34" charset="-120"/>
                        </a:rPr>
                        <a:t>Registros repetidos que sesgan promedios</a:t>
                      </a:r>
                      <a:endParaRPr lang="en-US" sz="1250" dirty="0">
                        <a:latin typeface="Calibri" charset="0"/>
                        <a:ea typeface="Calibri" charset="0"/>
                        <a:cs typeface="Calibri"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FBF9F4"/>
                    </a:solidFill>
                  </a:tcPr>
                </a:tc>
                <a:extLst>
                  <a:ext uri="{0D108BD9-81ED-4DB2-BD59-A6C34878D82A}">
                    <a16:rowId xmlns:a16="http://schemas.microsoft.com/office/drawing/2014/main" val="10001"/>
                  </a:ext>
                </a:extLst>
              </a:tr>
              <a:tr h="621792">
                <a:tc>
                  <a:txBody>
                    <a:bodyPr/>
                    <a:lstStyle/>
                    <a:p>
                      <a:pPr marL="0" indent="0">
                        <a:buNone/>
                      </a:pPr>
                      <a:r>
                        <a:rPr lang="en-US" sz="1350" b="1" dirty="0">
                          <a:solidFill>
                            <a:srgbClr val="252119"/>
                          </a:solidFill>
                          <a:latin typeface="Century Schoolbook" pitchFamily="34" charset="0"/>
                          <a:ea typeface="Century Schoolbook" pitchFamily="34" charset="-122"/>
                          <a:cs typeface="Century Schoolbook" pitchFamily="34" charset="-120"/>
                        </a:rPr>
                        <a:t>Inconsistencias</a:t>
                      </a:r>
                      <a:endParaRPr lang="en-US" sz="1350" dirty="0">
                        <a:latin typeface="Century Schoolbook" charset="0"/>
                        <a:ea typeface="Century Schoolbook" charset="0"/>
                        <a:cs typeface="Century Schoolbook"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EAE5DA"/>
                    </a:solidFill>
                  </a:tcPr>
                </a:tc>
                <a:tc>
                  <a:txBody>
                    <a:bodyPr/>
                    <a:lstStyle/>
                    <a:p>
                      <a:pPr marL="0" indent="0">
                        <a:buNone/>
                      </a:pPr>
                      <a:r>
                        <a:rPr lang="en-US" sz="1300" dirty="0">
                          <a:solidFill>
                            <a:srgbClr val="252119"/>
                          </a:solidFill>
                          <a:latin typeface="Calibri" pitchFamily="34" charset="0"/>
                          <a:ea typeface="Calibri" pitchFamily="34" charset="-122"/>
                          <a:cs typeface="Calibri" pitchFamily="34" charset="-120"/>
                        </a:rPr>
                        <a:t>Normalizar el texto</a:t>
                      </a:r>
                      <a:endParaRPr lang="en-US" sz="1300" dirty="0">
                        <a:latin typeface="Calibri" charset="0"/>
                        <a:ea typeface="Calibri" charset="0"/>
                        <a:cs typeface="Calibri"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EAE5DA"/>
                    </a:solidFill>
                  </a:tcPr>
                </a:tc>
                <a:tc>
                  <a:txBody>
                    <a:bodyPr/>
                    <a:lstStyle/>
                    <a:p>
                      <a:pPr marL="0" indent="0">
                        <a:buNone/>
                      </a:pPr>
                      <a:r>
                        <a:rPr lang="en-US" sz="1250" dirty="0">
                          <a:solidFill>
                            <a:srgbClr val="8D857A"/>
                          </a:solidFill>
                          <a:latin typeface="Calibri" pitchFamily="34" charset="0"/>
                          <a:ea typeface="Calibri" pitchFamily="34" charset="-122"/>
                          <a:cs typeface="Calibri" pitchFamily="34" charset="-120"/>
                        </a:rPr>
                        <a:t>Unifica categorías que significan lo mismo</a:t>
                      </a:r>
                      <a:endParaRPr lang="en-US" sz="1250" dirty="0">
                        <a:latin typeface="Calibri" charset="0"/>
                        <a:ea typeface="Calibri" charset="0"/>
                        <a:cs typeface="Calibri"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EAE5DA"/>
                    </a:solidFill>
                  </a:tcPr>
                </a:tc>
                <a:extLst>
                  <a:ext uri="{0D108BD9-81ED-4DB2-BD59-A6C34878D82A}">
                    <a16:rowId xmlns:a16="http://schemas.microsoft.com/office/drawing/2014/main" val="10002"/>
                  </a:ext>
                </a:extLst>
              </a:tr>
              <a:tr h="621792">
                <a:tc>
                  <a:txBody>
                    <a:bodyPr/>
                    <a:lstStyle/>
                    <a:p>
                      <a:pPr marL="0" indent="0">
                        <a:buNone/>
                      </a:pPr>
                      <a:r>
                        <a:rPr lang="en-US" sz="1350" b="1" dirty="0">
                          <a:solidFill>
                            <a:srgbClr val="252119"/>
                          </a:solidFill>
                          <a:latin typeface="Century Schoolbook" pitchFamily="34" charset="0"/>
                          <a:ea typeface="Century Schoolbook" pitchFamily="34" charset="-122"/>
                          <a:cs typeface="Century Schoolbook" pitchFamily="34" charset="-120"/>
                        </a:rPr>
                        <a:t>Valores inválidos</a:t>
                      </a:r>
                      <a:endParaRPr lang="en-US" sz="1350" dirty="0">
                        <a:latin typeface="Century Schoolbook" charset="0"/>
                        <a:ea typeface="Century Schoolbook" charset="0"/>
                        <a:cs typeface="Century Schoolbook"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FBF9F4"/>
                    </a:solidFill>
                  </a:tcPr>
                </a:tc>
                <a:tc>
                  <a:txBody>
                    <a:bodyPr/>
                    <a:lstStyle/>
                    <a:p>
                      <a:pPr marL="0" indent="0">
                        <a:buNone/>
                      </a:pPr>
                      <a:r>
                        <a:rPr lang="en-US" sz="1300" dirty="0">
                          <a:solidFill>
                            <a:srgbClr val="252119"/>
                          </a:solidFill>
                          <a:latin typeface="Calibri" pitchFamily="34" charset="0"/>
                          <a:ea typeface="Calibri" pitchFamily="34" charset="-122"/>
                          <a:cs typeface="Calibri" pitchFamily="34" charset="-120"/>
                        </a:rPr>
                        <a:t>Convertir a NaN → imputar</a:t>
                      </a:r>
                      <a:endParaRPr lang="en-US" sz="1300" dirty="0">
                        <a:latin typeface="Calibri" charset="0"/>
                        <a:ea typeface="Calibri" charset="0"/>
                        <a:cs typeface="Calibri"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FBF9F4"/>
                    </a:solidFill>
                  </a:tcPr>
                </a:tc>
                <a:tc>
                  <a:txBody>
                    <a:bodyPr/>
                    <a:lstStyle/>
                    <a:p>
                      <a:pPr marL="0" indent="0">
                        <a:buNone/>
                      </a:pPr>
                      <a:r>
                        <a:rPr lang="en-US" sz="1250" dirty="0">
                          <a:solidFill>
                            <a:srgbClr val="8D857A"/>
                          </a:solidFill>
                          <a:latin typeface="Calibri" pitchFamily="34" charset="0"/>
                          <a:ea typeface="Calibri" pitchFamily="34" charset="-122"/>
                          <a:cs typeface="Calibri" pitchFamily="34" charset="-120"/>
                        </a:rPr>
                        <a:t>Son imposibles: se tratan como faltantes</a:t>
                      </a:r>
                      <a:endParaRPr lang="en-US" sz="1250" dirty="0">
                        <a:latin typeface="Calibri" charset="0"/>
                        <a:ea typeface="Calibri" charset="0"/>
                        <a:cs typeface="Calibri"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FBF9F4"/>
                    </a:solidFill>
                  </a:tcPr>
                </a:tc>
                <a:extLst>
                  <a:ext uri="{0D108BD9-81ED-4DB2-BD59-A6C34878D82A}">
                    <a16:rowId xmlns:a16="http://schemas.microsoft.com/office/drawing/2014/main" val="10003"/>
                  </a:ext>
                </a:extLst>
              </a:tr>
              <a:tr h="621792">
                <a:tc>
                  <a:txBody>
                    <a:bodyPr/>
                    <a:lstStyle/>
                    <a:p>
                      <a:pPr marL="0" indent="0">
                        <a:buNone/>
                      </a:pPr>
                      <a:r>
                        <a:rPr lang="en-US" sz="1350" b="1" dirty="0">
                          <a:solidFill>
                            <a:srgbClr val="252119"/>
                          </a:solidFill>
                          <a:latin typeface="Century Schoolbook" pitchFamily="34" charset="0"/>
                          <a:ea typeface="Century Schoolbook" pitchFamily="34" charset="-122"/>
                          <a:cs typeface="Century Schoolbook" pitchFamily="34" charset="-120"/>
                        </a:rPr>
                        <a:t>Faltantes</a:t>
                      </a:r>
                      <a:endParaRPr lang="en-US" sz="1350" dirty="0">
                        <a:latin typeface="Century Schoolbook" charset="0"/>
                        <a:ea typeface="Century Schoolbook" charset="0"/>
                        <a:cs typeface="Century Schoolbook"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EAE5DA"/>
                    </a:solidFill>
                  </a:tcPr>
                </a:tc>
                <a:tc>
                  <a:txBody>
                    <a:bodyPr/>
                    <a:lstStyle/>
                    <a:p>
                      <a:pPr marL="0" indent="0">
                        <a:buNone/>
                      </a:pPr>
                      <a:r>
                        <a:rPr lang="en-US" sz="1300" dirty="0">
                          <a:solidFill>
                            <a:srgbClr val="252119"/>
                          </a:solidFill>
                          <a:latin typeface="Calibri" pitchFamily="34" charset="0"/>
                          <a:ea typeface="Calibri" pitchFamily="34" charset="-122"/>
                          <a:cs typeface="Calibri" pitchFamily="34" charset="-120"/>
                        </a:rPr>
                        <a:t>Imputar (mediana / moda)</a:t>
                      </a:r>
                      <a:endParaRPr lang="en-US" sz="1300" dirty="0">
                        <a:latin typeface="Calibri" charset="0"/>
                        <a:ea typeface="Calibri" charset="0"/>
                        <a:cs typeface="Calibri"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EAE5DA"/>
                    </a:solidFill>
                  </a:tcPr>
                </a:tc>
                <a:tc>
                  <a:txBody>
                    <a:bodyPr/>
                    <a:lstStyle/>
                    <a:p>
                      <a:pPr marL="0" indent="0">
                        <a:buNone/>
                      </a:pPr>
                      <a:r>
                        <a:rPr lang="en-US" sz="1250" dirty="0">
                          <a:solidFill>
                            <a:srgbClr val="8D857A"/>
                          </a:solidFill>
                          <a:latin typeface="Calibri" pitchFamily="34" charset="0"/>
                          <a:ea typeface="Calibri" pitchFamily="34" charset="-122"/>
                          <a:cs typeface="Calibri" pitchFamily="34" charset="-120"/>
                        </a:rPr>
                        <a:t>% bajo; eliminar filas perdería datos</a:t>
                      </a:r>
                      <a:endParaRPr lang="en-US" sz="1250" dirty="0">
                        <a:latin typeface="Calibri" charset="0"/>
                        <a:ea typeface="Calibri" charset="0"/>
                        <a:cs typeface="Calibri"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EAE5DA"/>
                    </a:solidFill>
                  </a:tcPr>
                </a:tc>
                <a:extLst>
                  <a:ext uri="{0D108BD9-81ED-4DB2-BD59-A6C34878D82A}">
                    <a16:rowId xmlns:a16="http://schemas.microsoft.com/office/drawing/2014/main" val="10004"/>
                  </a:ext>
                </a:extLst>
              </a:tr>
              <a:tr h="621792">
                <a:tc>
                  <a:txBody>
                    <a:bodyPr/>
                    <a:lstStyle/>
                    <a:p>
                      <a:pPr marL="0" indent="0">
                        <a:buNone/>
                      </a:pPr>
                      <a:r>
                        <a:rPr lang="en-US" sz="1350" b="1" dirty="0">
                          <a:solidFill>
                            <a:srgbClr val="252119"/>
                          </a:solidFill>
                          <a:latin typeface="Century Schoolbook" pitchFamily="34" charset="0"/>
                          <a:ea typeface="Century Schoolbook" pitchFamily="34" charset="-122"/>
                          <a:cs typeface="Century Schoolbook" pitchFamily="34" charset="-120"/>
                        </a:rPr>
                        <a:t>Outliers</a:t>
                      </a:r>
                      <a:endParaRPr lang="en-US" sz="1350" dirty="0">
                        <a:latin typeface="Century Schoolbook" charset="0"/>
                        <a:ea typeface="Century Schoolbook" charset="0"/>
                        <a:cs typeface="Century Schoolbook"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FBF9F4"/>
                    </a:solidFill>
                  </a:tcPr>
                </a:tc>
                <a:tc>
                  <a:txBody>
                    <a:bodyPr/>
                    <a:lstStyle/>
                    <a:p>
                      <a:pPr marL="0" indent="0">
                        <a:buNone/>
                      </a:pPr>
                      <a:r>
                        <a:rPr lang="en-US" sz="1300" dirty="0">
                          <a:solidFill>
                            <a:srgbClr val="252119"/>
                          </a:solidFill>
                          <a:latin typeface="Calibri" pitchFamily="34" charset="0"/>
                          <a:ea typeface="Calibri" pitchFamily="34" charset="-122"/>
                          <a:cs typeface="Calibri" pitchFamily="34" charset="-120"/>
                        </a:rPr>
                        <a:t>Acotar por IQR</a:t>
                      </a:r>
                      <a:endParaRPr lang="en-US" sz="1300" dirty="0">
                        <a:latin typeface="Calibri" charset="0"/>
                        <a:ea typeface="Calibri" charset="0"/>
                        <a:cs typeface="Calibri"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FBF9F4"/>
                    </a:solidFill>
                  </a:tcPr>
                </a:tc>
                <a:tc>
                  <a:txBody>
                    <a:bodyPr/>
                    <a:lstStyle/>
                    <a:p>
                      <a:pPr marL="0" indent="0">
                        <a:buNone/>
                      </a:pPr>
                      <a:r>
                        <a:rPr lang="en-US" sz="1250" dirty="0">
                          <a:solidFill>
                            <a:srgbClr val="8D857A"/>
                          </a:solidFill>
                          <a:latin typeface="Calibri" pitchFamily="34" charset="0"/>
                          <a:ea typeface="Calibri" pitchFamily="34" charset="-122"/>
                          <a:cs typeface="Calibri" pitchFamily="34" charset="-120"/>
                        </a:rPr>
                        <a:t>Conserva el registro y limita el extremo</a:t>
                      </a:r>
                      <a:endParaRPr lang="en-US" sz="1250" dirty="0">
                        <a:latin typeface="Calibri" charset="0"/>
                        <a:ea typeface="Calibri" charset="0"/>
                        <a:cs typeface="Calibri"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FBF9F4"/>
                    </a:solidFill>
                  </a:tcPr>
                </a:tc>
                <a:extLst>
                  <a:ext uri="{0D108BD9-81ED-4DB2-BD59-A6C34878D82A}">
                    <a16:rowId xmlns:a16="http://schemas.microsoft.com/office/drawing/2014/main" val="10005"/>
                  </a:ext>
                </a:extLst>
              </a:tr>
              <a:tr h="621792">
                <a:tc>
                  <a:txBody>
                    <a:bodyPr/>
                    <a:lstStyle/>
                    <a:p>
                      <a:pPr marL="0" indent="0">
                        <a:buNone/>
                      </a:pPr>
                      <a:r>
                        <a:rPr lang="en-US" sz="1350" b="1" dirty="0">
                          <a:solidFill>
                            <a:srgbClr val="252119"/>
                          </a:solidFill>
                          <a:latin typeface="Century Schoolbook" pitchFamily="34" charset="0"/>
                          <a:ea typeface="Century Schoolbook" pitchFamily="34" charset="-122"/>
                          <a:cs typeface="Century Schoolbook" pitchFamily="34" charset="-120"/>
                        </a:rPr>
                        <a:t>Target FinalGrade</a:t>
                      </a:r>
                      <a:endParaRPr lang="en-US" sz="1350" dirty="0">
                        <a:latin typeface="Century Schoolbook" charset="0"/>
                        <a:ea typeface="Century Schoolbook" charset="0"/>
                        <a:cs typeface="Century Schoolbook"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EAE5DA"/>
                    </a:solidFill>
                  </a:tcPr>
                </a:tc>
                <a:tc>
                  <a:txBody>
                    <a:bodyPr/>
                    <a:lstStyle/>
                    <a:p>
                      <a:pPr marL="0" indent="0">
                        <a:buNone/>
                      </a:pPr>
                      <a:r>
                        <a:rPr lang="en-US" sz="1300" dirty="0">
                          <a:solidFill>
                            <a:srgbClr val="252119"/>
                          </a:solidFill>
                          <a:latin typeface="Calibri" pitchFamily="34" charset="0"/>
                          <a:ea typeface="Calibri" pitchFamily="34" charset="-122"/>
                          <a:cs typeface="Calibri" pitchFamily="34" charset="-120"/>
                        </a:rPr>
                        <a:t>Separar + borrar filas inválidas</a:t>
                      </a:r>
                      <a:endParaRPr lang="en-US" sz="1300" dirty="0">
                        <a:latin typeface="Calibri" charset="0"/>
                        <a:ea typeface="Calibri" charset="0"/>
                        <a:cs typeface="Calibri"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EAE5DA"/>
                    </a:solidFill>
                  </a:tcPr>
                </a:tc>
                <a:tc>
                  <a:txBody>
                    <a:bodyPr/>
                    <a:lstStyle/>
                    <a:p>
                      <a:pPr marL="0" indent="0">
                        <a:buNone/>
                      </a:pPr>
                      <a:r>
                        <a:rPr lang="en-US" sz="1250" dirty="0">
                          <a:solidFill>
                            <a:srgbClr val="8D857A"/>
                          </a:solidFill>
                          <a:latin typeface="Calibri" pitchFamily="34" charset="0"/>
                          <a:ea typeface="Calibri" pitchFamily="34" charset="-122"/>
                          <a:cs typeface="Calibri" pitchFamily="34" charset="-120"/>
                        </a:rPr>
                        <a:t>El target no se imputa</a:t>
                      </a:r>
                      <a:endParaRPr lang="en-US" sz="1250" dirty="0">
                        <a:latin typeface="Calibri" charset="0"/>
                        <a:ea typeface="Calibri" charset="0"/>
                        <a:cs typeface="Calibri"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EAE5D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FE8"/>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058400" cy="274320"/>
          </a:xfrm>
          <a:prstGeom prst="rect">
            <a:avLst/>
          </a:prstGeom>
          <a:noFill/>
          <a:ln/>
        </p:spPr>
        <p:txBody>
          <a:bodyPr wrap="square" lIns="0" tIns="0" rIns="0" bIns="0" rtlCol="0" anchor="ctr"/>
          <a:lstStyle/>
          <a:p>
            <a:pPr marL="0" indent="0">
              <a:buNone/>
            </a:pPr>
            <a:r>
              <a:rPr lang="en-US" sz="1250" b="1" kern="0" spc="100" dirty="0">
                <a:solidFill>
                  <a:srgbClr val="D9552F"/>
                </a:solidFill>
                <a:latin typeface="Courier New" pitchFamily="34" charset="0"/>
                <a:ea typeface="Courier New" pitchFamily="34" charset="-122"/>
                <a:cs typeface="Courier New" pitchFamily="34" charset="-120"/>
              </a:rPr>
              <a:t>§ 07</a:t>
            </a:r>
            <a:r>
              <a:rPr lang="en-US" sz="1250" kern="0" spc="100" dirty="0">
                <a:solidFill>
                  <a:srgbClr val="14504A"/>
                </a:solidFill>
                <a:latin typeface="Courier New" pitchFamily="34" charset="0"/>
                <a:ea typeface="Courier New" pitchFamily="34" charset="-122"/>
                <a:cs typeface="Courier New" pitchFamily="34" charset="-120"/>
              </a:rPr>
              <a:t>   IMPLEMENTACIÓN · SCIKIT-LEARN</a:t>
            </a:r>
            <a:endParaRPr lang="en-US" sz="1250" dirty="0"/>
          </a:p>
        </p:txBody>
      </p:sp>
      <p:sp>
        <p:nvSpPr>
          <p:cNvPr id="3" name="Text 1"/>
          <p:cNvSpPr txBox="1"/>
          <p:nvPr/>
        </p:nvSpPr>
        <p:spPr>
          <a:xfrm>
            <a:off x="9784080" y="137160"/>
            <a:ext cx="2103120" cy="1280160"/>
          </a:xfrm>
          <a:prstGeom prst="rect">
            <a:avLst/>
          </a:prstGeom>
          <a:noFill/>
          <a:ln/>
        </p:spPr>
        <p:txBody>
          <a:bodyPr wrap="square" lIns="0" tIns="0" rIns="0" bIns="0" rtlCol="0" anchor="ctr"/>
          <a:lstStyle/>
          <a:p>
            <a:pPr marL="0" indent="0" algn="r">
              <a:buNone/>
            </a:pPr>
            <a:r>
              <a:rPr lang="en-US" sz="9600" b="1" dirty="0">
                <a:solidFill>
                  <a:srgbClr val="E4DDCD"/>
                </a:solidFill>
                <a:latin typeface="Century Schoolbook" pitchFamily="34" charset="0"/>
                <a:ea typeface="Century Schoolbook" pitchFamily="34" charset="-122"/>
                <a:cs typeface="Century Schoolbook" pitchFamily="34" charset="-120"/>
              </a:rPr>
              <a:t>07</a:t>
            </a:r>
            <a:endParaRPr lang="en-US" sz="9600" dirty="0"/>
          </a:p>
        </p:txBody>
      </p:sp>
      <p:sp>
        <p:nvSpPr>
          <p:cNvPr id="4" name="Text 2"/>
          <p:cNvSpPr txBox="1"/>
          <p:nvPr/>
        </p:nvSpPr>
        <p:spPr>
          <a:xfrm>
            <a:off x="640080" y="868680"/>
            <a:ext cx="10424160" cy="822960"/>
          </a:xfrm>
          <a:prstGeom prst="rect">
            <a:avLst/>
          </a:prstGeom>
          <a:noFill/>
          <a:ln/>
        </p:spPr>
        <p:txBody>
          <a:bodyPr wrap="square" lIns="0" tIns="0" rIns="0" bIns="0" rtlCol="0" anchor="ctr"/>
          <a:lstStyle/>
          <a:p>
            <a:pPr marL="0" indent="0">
              <a:buNone/>
            </a:pPr>
            <a:r>
              <a:rPr lang="en-US" sz="3300" b="1" dirty="0">
                <a:solidFill>
                  <a:srgbClr val="252119"/>
                </a:solidFill>
                <a:latin typeface="Century Schoolbook" pitchFamily="34" charset="0"/>
                <a:ea typeface="Century Schoolbook" pitchFamily="34" charset="-122"/>
                <a:cs typeface="Century Schoolbook" pitchFamily="34" charset="-120"/>
              </a:rPr>
              <a:t>El pipeline reproducible</a:t>
            </a:r>
            <a:endParaRPr lang="en-US" sz="3300" dirty="0"/>
          </a:p>
        </p:txBody>
      </p:sp>
      <p:sp>
        <p:nvSpPr>
          <p:cNvPr id="5" name="Text 3"/>
          <p:cNvSpPr txBox="1"/>
          <p:nvPr/>
        </p:nvSpPr>
        <p:spPr>
          <a:xfrm>
            <a:off x="640080" y="1737360"/>
            <a:ext cx="10607040" cy="640080"/>
          </a:xfrm>
          <a:prstGeom prst="rect">
            <a:avLst/>
          </a:prstGeom>
          <a:noFill/>
          <a:ln/>
        </p:spPr>
        <p:txBody>
          <a:bodyPr wrap="square" lIns="0" tIns="0" rIns="0" bIns="0" rtlCol="0" anchor="ctr"/>
          <a:lstStyle/>
          <a:p>
            <a:pPr marL="0" indent="0">
              <a:lnSpc>
                <a:spcPts val="2200"/>
              </a:lnSpc>
              <a:buNone/>
            </a:pPr>
            <a:r>
              <a:rPr lang="en-US" sz="1550" dirty="0">
                <a:solidFill>
                  <a:srgbClr val="252119"/>
                </a:solidFill>
                <a:latin typeface="Calibri" pitchFamily="34" charset="0"/>
                <a:ea typeface="Calibri" pitchFamily="34" charset="-122"/>
                <a:cs typeface="Calibri" pitchFamily="34" charset="-120"/>
              </a:rPr>
              <a:t>Un ColumnTransformer aplica el tratamiento correcto a cada tipo de variable, en orden y automáticamente. Se puede reejecutar sobre datos nuevos sin repetir nada a mano.</a:t>
            </a:r>
            <a:endParaRPr lang="en-US" sz="1550" dirty="0"/>
          </a:p>
        </p:txBody>
      </p:sp>
      <p:sp>
        <p:nvSpPr>
          <p:cNvPr id="6" name="Text 4"/>
          <p:cNvSpPr txBox="1"/>
          <p:nvPr/>
        </p:nvSpPr>
        <p:spPr>
          <a:xfrm>
            <a:off x="640080" y="2606040"/>
            <a:ext cx="2103120" cy="822960"/>
          </a:xfrm>
          <a:prstGeom prst="rect">
            <a:avLst/>
          </a:prstGeom>
          <a:noFill/>
          <a:ln/>
        </p:spPr>
        <p:txBody>
          <a:bodyPr wrap="square" lIns="0" tIns="0" rIns="0" bIns="0" rtlCol="0" anchor="ctr"/>
          <a:lstStyle/>
          <a:p>
            <a:pPr marL="0" indent="0">
              <a:buNone/>
            </a:pPr>
            <a:r>
              <a:rPr lang="en-US" sz="1250" b="1" dirty="0">
                <a:solidFill>
                  <a:srgbClr val="14504A"/>
                </a:solidFill>
                <a:latin typeface="Courier New" pitchFamily="34" charset="0"/>
                <a:ea typeface="Courier New" pitchFamily="34" charset="-122"/>
                <a:cs typeface="Courier New" pitchFamily="34" charset="-120"/>
              </a:rPr>
              <a:t>NUMÉRICAS</a:t>
            </a:r>
            <a:endParaRPr lang="en-US" sz="1250" dirty="0"/>
          </a:p>
        </p:txBody>
      </p:sp>
      <p:sp>
        <p:nvSpPr>
          <p:cNvPr id="7" name="Shape 5"/>
          <p:cNvSpPr/>
          <p:nvPr/>
        </p:nvSpPr>
        <p:spPr>
          <a:xfrm>
            <a:off x="2743200" y="2651760"/>
            <a:ext cx="1920240" cy="777240"/>
          </a:xfrm>
          <a:prstGeom prst="rect">
            <a:avLst/>
          </a:prstGeom>
          <a:solidFill>
            <a:srgbClr val="FBF9F4"/>
          </a:solidFill>
          <a:ln w="15240">
            <a:solidFill>
              <a:srgbClr val="14504A"/>
            </a:solidFill>
            <a:prstDash val="solid"/>
          </a:ln>
        </p:spPr>
        <p:txBody>
          <a:bodyPr/>
          <a:lstStyle/>
          <a:p>
            <a:endParaRPr lang="es-CL"/>
          </a:p>
        </p:txBody>
      </p:sp>
      <p:sp>
        <p:nvSpPr>
          <p:cNvPr id="8" name="Text 6"/>
          <p:cNvSpPr txBox="1"/>
          <p:nvPr/>
        </p:nvSpPr>
        <p:spPr>
          <a:xfrm>
            <a:off x="2743200" y="2651760"/>
            <a:ext cx="1920240" cy="777240"/>
          </a:xfrm>
          <a:prstGeom prst="rect">
            <a:avLst/>
          </a:prstGeom>
          <a:noFill/>
          <a:ln/>
        </p:spPr>
        <p:txBody>
          <a:bodyPr wrap="square" rtlCol="0" anchor="ctr"/>
          <a:lstStyle/>
          <a:p>
            <a:pPr marL="0" indent="0" algn="ctr">
              <a:lnSpc>
                <a:spcPts val="1300"/>
              </a:lnSpc>
              <a:buNone/>
            </a:pPr>
            <a:r>
              <a:rPr lang="en-US" sz="1200" dirty="0">
                <a:solidFill>
                  <a:srgbClr val="252119"/>
                </a:solidFill>
                <a:latin typeface="Calibri" pitchFamily="34" charset="0"/>
                <a:ea typeface="Calibri" pitchFamily="34" charset="-122"/>
                <a:cs typeface="Calibri" pitchFamily="34" charset="-120"/>
              </a:rPr>
              <a:t>Imputar</a:t>
            </a:r>
            <a:endParaRPr lang="en-US" sz="1200" dirty="0"/>
          </a:p>
          <a:p>
            <a:pPr marL="0" indent="0" algn="ctr">
              <a:lnSpc>
                <a:spcPts val="1300"/>
              </a:lnSpc>
              <a:buNone/>
            </a:pPr>
            <a:r>
              <a:rPr lang="en-US" sz="1200" dirty="0">
                <a:solidFill>
                  <a:srgbClr val="252119"/>
                </a:solidFill>
                <a:latin typeface="Calibri" pitchFamily="34" charset="0"/>
                <a:ea typeface="Calibri" pitchFamily="34" charset="-122"/>
                <a:cs typeface="Calibri" pitchFamily="34" charset="-120"/>
              </a:rPr>
              <a:t>(mediana)</a:t>
            </a:r>
            <a:endParaRPr lang="en-US" sz="1200" dirty="0"/>
          </a:p>
        </p:txBody>
      </p:sp>
      <p:sp>
        <p:nvSpPr>
          <p:cNvPr id="9" name="Text 7"/>
          <p:cNvSpPr txBox="1"/>
          <p:nvPr/>
        </p:nvSpPr>
        <p:spPr>
          <a:xfrm>
            <a:off x="4617720" y="2651760"/>
            <a:ext cx="457200" cy="777240"/>
          </a:xfrm>
          <a:prstGeom prst="rect">
            <a:avLst/>
          </a:prstGeom>
          <a:noFill/>
          <a:ln/>
        </p:spPr>
        <p:txBody>
          <a:bodyPr wrap="square" rtlCol="0" anchor="ctr"/>
          <a:lstStyle/>
          <a:p>
            <a:pPr marL="0" indent="0" algn="ctr">
              <a:buNone/>
            </a:pPr>
            <a:r>
              <a:rPr lang="en-US" sz="2200" b="1" dirty="0">
                <a:solidFill>
                  <a:srgbClr val="8D857A"/>
                </a:solidFill>
                <a:latin typeface="Century Schoolbook" pitchFamily="34" charset="0"/>
                <a:ea typeface="Century Schoolbook" pitchFamily="34" charset="-122"/>
                <a:cs typeface="Century Schoolbook" pitchFamily="34" charset="-120"/>
              </a:rPr>
              <a:t>→</a:t>
            </a:r>
            <a:endParaRPr lang="en-US" sz="2200" dirty="0"/>
          </a:p>
        </p:txBody>
      </p:sp>
      <p:sp>
        <p:nvSpPr>
          <p:cNvPr id="10" name="Shape 8"/>
          <p:cNvSpPr/>
          <p:nvPr/>
        </p:nvSpPr>
        <p:spPr>
          <a:xfrm>
            <a:off x="5120640" y="2651760"/>
            <a:ext cx="1920240" cy="777240"/>
          </a:xfrm>
          <a:prstGeom prst="rect">
            <a:avLst/>
          </a:prstGeom>
          <a:solidFill>
            <a:srgbClr val="FBF9F4"/>
          </a:solidFill>
          <a:ln w="15240">
            <a:solidFill>
              <a:srgbClr val="14504A"/>
            </a:solidFill>
            <a:prstDash val="solid"/>
          </a:ln>
        </p:spPr>
        <p:txBody>
          <a:bodyPr/>
          <a:lstStyle/>
          <a:p>
            <a:endParaRPr lang="es-CL"/>
          </a:p>
        </p:txBody>
      </p:sp>
      <p:sp>
        <p:nvSpPr>
          <p:cNvPr id="11" name="Text 9"/>
          <p:cNvSpPr txBox="1"/>
          <p:nvPr/>
        </p:nvSpPr>
        <p:spPr>
          <a:xfrm>
            <a:off x="5120640" y="2651760"/>
            <a:ext cx="1920240" cy="777240"/>
          </a:xfrm>
          <a:prstGeom prst="rect">
            <a:avLst/>
          </a:prstGeom>
          <a:noFill/>
          <a:ln/>
        </p:spPr>
        <p:txBody>
          <a:bodyPr wrap="square" rtlCol="0" anchor="ctr"/>
          <a:lstStyle/>
          <a:p>
            <a:pPr marL="0" indent="0" algn="ctr">
              <a:lnSpc>
                <a:spcPts val="1300"/>
              </a:lnSpc>
              <a:buNone/>
            </a:pPr>
            <a:r>
              <a:rPr lang="en-US" sz="1200" dirty="0">
                <a:solidFill>
                  <a:srgbClr val="252119"/>
                </a:solidFill>
                <a:latin typeface="Calibri" pitchFamily="34" charset="0"/>
                <a:ea typeface="Calibri" pitchFamily="34" charset="-122"/>
                <a:cs typeface="Calibri" pitchFamily="34" charset="-120"/>
              </a:rPr>
              <a:t>Acotar outliers</a:t>
            </a:r>
            <a:endParaRPr lang="en-US" sz="1200" dirty="0"/>
          </a:p>
          <a:p>
            <a:pPr marL="0" indent="0" algn="ctr">
              <a:lnSpc>
                <a:spcPts val="1300"/>
              </a:lnSpc>
              <a:buNone/>
            </a:pPr>
            <a:r>
              <a:rPr lang="en-US" sz="1200" dirty="0">
                <a:solidFill>
                  <a:srgbClr val="252119"/>
                </a:solidFill>
                <a:latin typeface="Calibri" pitchFamily="34" charset="0"/>
                <a:ea typeface="Calibri" pitchFamily="34" charset="-122"/>
                <a:cs typeface="Calibri" pitchFamily="34" charset="-120"/>
              </a:rPr>
              <a:t>(IQR)</a:t>
            </a:r>
            <a:endParaRPr lang="en-US" sz="1200" dirty="0"/>
          </a:p>
        </p:txBody>
      </p:sp>
      <p:sp>
        <p:nvSpPr>
          <p:cNvPr id="12" name="Text 10"/>
          <p:cNvSpPr txBox="1"/>
          <p:nvPr/>
        </p:nvSpPr>
        <p:spPr>
          <a:xfrm>
            <a:off x="6995160" y="2651760"/>
            <a:ext cx="457200" cy="777240"/>
          </a:xfrm>
          <a:prstGeom prst="rect">
            <a:avLst/>
          </a:prstGeom>
          <a:noFill/>
          <a:ln/>
        </p:spPr>
        <p:txBody>
          <a:bodyPr wrap="square" rtlCol="0" anchor="ctr"/>
          <a:lstStyle/>
          <a:p>
            <a:pPr marL="0" indent="0" algn="ctr">
              <a:buNone/>
            </a:pPr>
            <a:r>
              <a:rPr lang="en-US" sz="2200" b="1" dirty="0">
                <a:solidFill>
                  <a:srgbClr val="8D857A"/>
                </a:solidFill>
                <a:latin typeface="Century Schoolbook" pitchFamily="34" charset="0"/>
                <a:ea typeface="Century Schoolbook" pitchFamily="34" charset="-122"/>
                <a:cs typeface="Century Schoolbook" pitchFamily="34" charset="-120"/>
              </a:rPr>
              <a:t>→</a:t>
            </a:r>
            <a:endParaRPr lang="en-US" sz="2200" dirty="0"/>
          </a:p>
        </p:txBody>
      </p:sp>
      <p:sp>
        <p:nvSpPr>
          <p:cNvPr id="13" name="Shape 11"/>
          <p:cNvSpPr/>
          <p:nvPr/>
        </p:nvSpPr>
        <p:spPr>
          <a:xfrm>
            <a:off x="7498080" y="2651760"/>
            <a:ext cx="1920240" cy="777240"/>
          </a:xfrm>
          <a:prstGeom prst="rect">
            <a:avLst/>
          </a:prstGeom>
          <a:solidFill>
            <a:srgbClr val="FBF9F4"/>
          </a:solidFill>
          <a:ln w="15240">
            <a:solidFill>
              <a:srgbClr val="14504A"/>
            </a:solidFill>
            <a:prstDash val="solid"/>
          </a:ln>
        </p:spPr>
        <p:txBody>
          <a:bodyPr/>
          <a:lstStyle/>
          <a:p>
            <a:endParaRPr lang="es-CL"/>
          </a:p>
        </p:txBody>
      </p:sp>
      <p:sp>
        <p:nvSpPr>
          <p:cNvPr id="14" name="Text 12"/>
          <p:cNvSpPr txBox="1"/>
          <p:nvPr/>
        </p:nvSpPr>
        <p:spPr>
          <a:xfrm>
            <a:off x="7498080" y="2651760"/>
            <a:ext cx="1920240" cy="777240"/>
          </a:xfrm>
          <a:prstGeom prst="rect">
            <a:avLst/>
          </a:prstGeom>
          <a:noFill/>
          <a:ln/>
        </p:spPr>
        <p:txBody>
          <a:bodyPr wrap="square" rtlCol="0" anchor="ctr"/>
          <a:lstStyle/>
          <a:p>
            <a:pPr marL="0" indent="0" algn="ctr">
              <a:lnSpc>
                <a:spcPts val="1300"/>
              </a:lnSpc>
              <a:buNone/>
            </a:pPr>
            <a:r>
              <a:rPr lang="en-US" sz="1200" dirty="0">
                <a:solidFill>
                  <a:srgbClr val="252119"/>
                </a:solidFill>
                <a:latin typeface="Calibri" pitchFamily="34" charset="0"/>
                <a:ea typeface="Calibri" pitchFamily="34" charset="-122"/>
                <a:cs typeface="Calibri" pitchFamily="34" charset="-120"/>
              </a:rPr>
              <a:t>Estandarizar</a:t>
            </a:r>
            <a:endParaRPr lang="en-US" sz="1200" dirty="0"/>
          </a:p>
        </p:txBody>
      </p:sp>
      <p:sp>
        <p:nvSpPr>
          <p:cNvPr id="15" name="Text 13"/>
          <p:cNvSpPr txBox="1"/>
          <p:nvPr/>
        </p:nvSpPr>
        <p:spPr>
          <a:xfrm>
            <a:off x="640080" y="3657600"/>
            <a:ext cx="2103120" cy="822960"/>
          </a:xfrm>
          <a:prstGeom prst="rect">
            <a:avLst/>
          </a:prstGeom>
          <a:noFill/>
          <a:ln/>
        </p:spPr>
        <p:txBody>
          <a:bodyPr wrap="square" lIns="0" tIns="0" rIns="0" bIns="0" rtlCol="0" anchor="ctr"/>
          <a:lstStyle/>
          <a:p>
            <a:pPr marL="0" indent="0">
              <a:buNone/>
            </a:pPr>
            <a:r>
              <a:rPr lang="en-US" sz="1250" b="1" dirty="0">
                <a:solidFill>
                  <a:srgbClr val="D9552F"/>
                </a:solidFill>
                <a:latin typeface="Courier New" pitchFamily="34" charset="0"/>
                <a:ea typeface="Courier New" pitchFamily="34" charset="-122"/>
                <a:cs typeface="Courier New" pitchFamily="34" charset="-120"/>
              </a:rPr>
              <a:t>CATEGÓRICAS</a:t>
            </a:r>
            <a:endParaRPr lang="en-US" sz="1250" dirty="0"/>
          </a:p>
        </p:txBody>
      </p:sp>
      <p:sp>
        <p:nvSpPr>
          <p:cNvPr id="16" name="Shape 14"/>
          <p:cNvSpPr/>
          <p:nvPr/>
        </p:nvSpPr>
        <p:spPr>
          <a:xfrm>
            <a:off x="2743200" y="3703320"/>
            <a:ext cx="1920240" cy="777240"/>
          </a:xfrm>
          <a:prstGeom prst="rect">
            <a:avLst/>
          </a:prstGeom>
          <a:solidFill>
            <a:srgbClr val="FBF9F4"/>
          </a:solidFill>
          <a:ln w="15240">
            <a:solidFill>
              <a:srgbClr val="D9552F"/>
            </a:solidFill>
            <a:prstDash val="solid"/>
          </a:ln>
        </p:spPr>
        <p:txBody>
          <a:bodyPr/>
          <a:lstStyle/>
          <a:p>
            <a:endParaRPr lang="es-CL"/>
          </a:p>
        </p:txBody>
      </p:sp>
      <p:sp>
        <p:nvSpPr>
          <p:cNvPr id="17" name="Text 15"/>
          <p:cNvSpPr txBox="1"/>
          <p:nvPr/>
        </p:nvSpPr>
        <p:spPr>
          <a:xfrm>
            <a:off x="2743200" y="3703320"/>
            <a:ext cx="1920240" cy="777240"/>
          </a:xfrm>
          <a:prstGeom prst="rect">
            <a:avLst/>
          </a:prstGeom>
          <a:noFill/>
          <a:ln/>
        </p:spPr>
        <p:txBody>
          <a:bodyPr wrap="square" rtlCol="0" anchor="ctr"/>
          <a:lstStyle/>
          <a:p>
            <a:pPr marL="0" indent="0" algn="ctr">
              <a:lnSpc>
                <a:spcPts val="1300"/>
              </a:lnSpc>
              <a:buNone/>
            </a:pPr>
            <a:r>
              <a:rPr lang="en-US" sz="1200" dirty="0">
                <a:solidFill>
                  <a:srgbClr val="252119"/>
                </a:solidFill>
                <a:latin typeface="Calibri" pitchFamily="34" charset="0"/>
                <a:ea typeface="Calibri" pitchFamily="34" charset="-122"/>
                <a:cs typeface="Calibri" pitchFamily="34" charset="-120"/>
              </a:rPr>
              <a:t>Imputar</a:t>
            </a:r>
            <a:endParaRPr lang="en-US" sz="1200" dirty="0"/>
          </a:p>
          <a:p>
            <a:pPr marL="0" indent="0" algn="ctr">
              <a:lnSpc>
                <a:spcPts val="1300"/>
              </a:lnSpc>
              <a:buNone/>
            </a:pPr>
            <a:r>
              <a:rPr lang="en-US" sz="1200" dirty="0">
                <a:solidFill>
                  <a:srgbClr val="252119"/>
                </a:solidFill>
                <a:latin typeface="Calibri" pitchFamily="34" charset="0"/>
                <a:ea typeface="Calibri" pitchFamily="34" charset="-122"/>
                <a:cs typeface="Calibri" pitchFamily="34" charset="-120"/>
              </a:rPr>
              <a:t>(moda)</a:t>
            </a:r>
            <a:endParaRPr lang="en-US" sz="1200" dirty="0"/>
          </a:p>
        </p:txBody>
      </p:sp>
      <p:sp>
        <p:nvSpPr>
          <p:cNvPr id="18" name="Text 16"/>
          <p:cNvSpPr txBox="1"/>
          <p:nvPr/>
        </p:nvSpPr>
        <p:spPr>
          <a:xfrm>
            <a:off x="4617720" y="3703320"/>
            <a:ext cx="457200" cy="777240"/>
          </a:xfrm>
          <a:prstGeom prst="rect">
            <a:avLst/>
          </a:prstGeom>
          <a:noFill/>
          <a:ln/>
        </p:spPr>
        <p:txBody>
          <a:bodyPr wrap="square" rtlCol="0" anchor="ctr"/>
          <a:lstStyle/>
          <a:p>
            <a:pPr marL="0" indent="0" algn="ctr">
              <a:buNone/>
            </a:pPr>
            <a:r>
              <a:rPr lang="en-US" sz="2200" b="1" dirty="0">
                <a:solidFill>
                  <a:srgbClr val="8D857A"/>
                </a:solidFill>
                <a:latin typeface="Century Schoolbook" pitchFamily="34" charset="0"/>
                <a:ea typeface="Century Schoolbook" pitchFamily="34" charset="-122"/>
                <a:cs typeface="Century Schoolbook" pitchFamily="34" charset="-120"/>
              </a:rPr>
              <a:t>→</a:t>
            </a:r>
            <a:endParaRPr lang="en-US" sz="2200" dirty="0"/>
          </a:p>
        </p:txBody>
      </p:sp>
      <p:sp>
        <p:nvSpPr>
          <p:cNvPr id="19" name="Shape 17"/>
          <p:cNvSpPr/>
          <p:nvPr/>
        </p:nvSpPr>
        <p:spPr>
          <a:xfrm>
            <a:off x="5120640" y="3703320"/>
            <a:ext cx="1920240" cy="777240"/>
          </a:xfrm>
          <a:prstGeom prst="rect">
            <a:avLst/>
          </a:prstGeom>
          <a:solidFill>
            <a:srgbClr val="FBF9F4"/>
          </a:solidFill>
          <a:ln w="15240">
            <a:solidFill>
              <a:srgbClr val="D9552F"/>
            </a:solidFill>
            <a:prstDash val="solid"/>
          </a:ln>
        </p:spPr>
        <p:txBody>
          <a:bodyPr/>
          <a:lstStyle/>
          <a:p>
            <a:endParaRPr lang="es-CL"/>
          </a:p>
        </p:txBody>
      </p:sp>
      <p:sp>
        <p:nvSpPr>
          <p:cNvPr id="20" name="Text 18"/>
          <p:cNvSpPr txBox="1"/>
          <p:nvPr/>
        </p:nvSpPr>
        <p:spPr>
          <a:xfrm>
            <a:off x="5120640" y="3703320"/>
            <a:ext cx="1920240" cy="777240"/>
          </a:xfrm>
          <a:prstGeom prst="rect">
            <a:avLst/>
          </a:prstGeom>
          <a:noFill/>
          <a:ln/>
        </p:spPr>
        <p:txBody>
          <a:bodyPr wrap="square" rtlCol="0" anchor="ctr"/>
          <a:lstStyle/>
          <a:p>
            <a:pPr marL="0" indent="0" algn="ctr">
              <a:lnSpc>
                <a:spcPts val="1300"/>
              </a:lnSpc>
              <a:buNone/>
            </a:pPr>
            <a:r>
              <a:rPr lang="en-US" sz="1200" dirty="0">
                <a:solidFill>
                  <a:srgbClr val="252119"/>
                </a:solidFill>
                <a:latin typeface="Calibri" pitchFamily="34" charset="0"/>
                <a:ea typeface="Calibri" pitchFamily="34" charset="-122"/>
                <a:cs typeface="Calibri" pitchFamily="34" charset="-120"/>
              </a:rPr>
              <a:t>Codificar</a:t>
            </a:r>
            <a:endParaRPr lang="en-US" sz="1200" dirty="0"/>
          </a:p>
          <a:p>
            <a:pPr marL="0" indent="0" algn="ctr">
              <a:lnSpc>
                <a:spcPts val="1300"/>
              </a:lnSpc>
              <a:buNone/>
            </a:pPr>
            <a:r>
              <a:rPr lang="en-US" sz="1200" dirty="0">
                <a:solidFill>
                  <a:srgbClr val="252119"/>
                </a:solidFill>
                <a:latin typeface="Calibri" pitchFamily="34" charset="0"/>
                <a:ea typeface="Calibri" pitchFamily="34" charset="-122"/>
                <a:cs typeface="Calibri" pitchFamily="34" charset="-120"/>
              </a:rPr>
              <a:t>(One-Hot)</a:t>
            </a:r>
            <a:endParaRPr lang="en-US" sz="1200" dirty="0"/>
          </a:p>
        </p:txBody>
      </p:sp>
      <p:sp>
        <p:nvSpPr>
          <p:cNvPr id="21" name="Shape 19"/>
          <p:cNvSpPr/>
          <p:nvPr/>
        </p:nvSpPr>
        <p:spPr>
          <a:xfrm>
            <a:off x="640080" y="4892040"/>
            <a:ext cx="10927080" cy="1051560"/>
          </a:xfrm>
          <a:prstGeom prst="rect">
            <a:avLst/>
          </a:prstGeom>
          <a:solidFill>
            <a:srgbClr val="252119"/>
          </a:solidFill>
          <a:ln/>
        </p:spPr>
        <p:txBody>
          <a:bodyPr/>
          <a:lstStyle/>
          <a:p>
            <a:endParaRPr lang="es-CL"/>
          </a:p>
        </p:txBody>
      </p:sp>
      <p:sp>
        <p:nvSpPr>
          <p:cNvPr id="22" name="Text 20"/>
          <p:cNvSpPr txBox="1"/>
          <p:nvPr/>
        </p:nvSpPr>
        <p:spPr>
          <a:xfrm>
            <a:off x="914400" y="4892040"/>
            <a:ext cx="10424160" cy="1051560"/>
          </a:xfrm>
          <a:prstGeom prst="rect">
            <a:avLst/>
          </a:prstGeom>
          <a:noFill/>
          <a:ln/>
        </p:spPr>
        <p:txBody>
          <a:bodyPr wrap="square" rtlCol="0" anchor="ctr"/>
          <a:lstStyle/>
          <a:p>
            <a:pPr marL="0" indent="0">
              <a:lnSpc>
                <a:spcPts val="1900"/>
              </a:lnSpc>
              <a:buNone/>
            </a:pPr>
            <a:r>
              <a:rPr lang="en-US" sz="1700" b="1" dirty="0">
                <a:solidFill>
                  <a:srgbClr val="C6952F"/>
                </a:solidFill>
                <a:latin typeface="Century Schoolbook" pitchFamily="34" charset="0"/>
                <a:ea typeface="Century Schoolbook" pitchFamily="34" charset="-122"/>
                <a:cs typeface="Century Schoolbook" pitchFamily="34" charset="-120"/>
              </a:rPr>
              <a:t>FinalGrade se mantiene separada.  </a:t>
            </a:r>
            <a:r>
              <a:rPr lang="en-US" sz="1400" dirty="0">
                <a:solidFill>
                  <a:srgbClr val="F2EFE8"/>
                </a:solidFill>
                <a:latin typeface="Calibri" pitchFamily="34" charset="0"/>
                <a:ea typeface="Calibri" pitchFamily="34" charset="-122"/>
                <a:cs typeface="Calibri" pitchFamily="34" charset="-120"/>
              </a:rPr>
              <a:t>Es la variable objetivo de los futuros modelos predictivos, por eso no se transforma junto a las demás.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FE8"/>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058400" cy="274320"/>
          </a:xfrm>
          <a:prstGeom prst="rect">
            <a:avLst/>
          </a:prstGeom>
          <a:noFill/>
          <a:ln/>
        </p:spPr>
        <p:txBody>
          <a:bodyPr wrap="square" lIns="0" tIns="0" rIns="0" bIns="0" rtlCol="0" anchor="ctr"/>
          <a:lstStyle/>
          <a:p>
            <a:pPr marL="0" indent="0">
              <a:buNone/>
            </a:pPr>
            <a:r>
              <a:rPr lang="en-US" sz="1250" b="1" kern="0" spc="100" dirty="0">
                <a:solidFill>
                  <a:srgbClr val="D9552F"/>
                </a:solidFill>
                <a:latin typeface="Courier New" pitchFamily="34" charset="0"/>
                <a:ea typeface="Courier New" pitchFamily="34" charset="-122"/>
                <a:cs typeface="Courier New" pitchFamily="34" charset="-120"/>
              </a:rPr>
              <a:t>§ 08</a:t>
            </a:r>
            <a:r>
              <a:rPr lang="en-US" sz="1250" kern="0" spc="100" dirty="0">
                <a:solidFill>
                  <a:srgbClr val="14504A"/>
                </a:solidFill>
                <a:latin typeface="Courier New" pitchFamily="34" charset="0"/>
                <a:ea typeface="Courier New" pitchFamily="34" charset="-122"/>
                <a:cs typeface="Courier New" pitchFamily="34" charset="-120"/>
              </a:rPr>
              <a:t>   ANÁLISIS EXPLORATORIO</a:t>
            </a:r>
            <a:endParaRPr lang="en-US" sz="1250" dirty="0"/>
          </a:p>
        </p:txBody>
      </p:sp>
      <p:sp>
        <p:nvSpPr>
          <p:cNvPr id="3" name="Text 1"/>
          <p:cNvSpPr txBox="1"/>
          <p:nvPr/>
        </p:nvSpPr>
        <p:spPr>
          <a:xfrm>
            <a:off x="9784080" y="137160"/>
            <a:ext cx="2103120" cy="1280160"/>
          </a:xfrm>
          <a:prstGeom prst="rect">
            <a:avLst/>
          </a:prstGeom>
          <a:noFill/>
          <a:ln/>
        </p:spPr>
        <p:txBody>
          <a:bodyPr wrap="square" lIns="0" tIns="0" rIns="0" bIns="0" rtlCol="0" anchor="ctr"/>
          <a:lstStyle/>
          <a:p>
            <a:pPr marL="0" indent="0" algn="r">
              <a:buNone/>
            </a:pPr>
            <a:r>
              <a:rPr lang="en-US" sz="9600" b="1" dirty="0">
                <a:solidFill>
                  <a:srgbClr val="E4DDCD"/>
                </a:solidFill>
                <a:latin typeface="Century Schoolbook" pitchFamily="34" charset="0"/>
                <a:ea typeface="Century Schoolbook" pitchFamily="34" charset="-122"/>
                <a:cs typeface="Century Schoolbook" pitchFamily="34" charset="-120"/>
              </a:rPr>
              <a:t>08</a:t>
            </a:r>
            <a:endParaRPr lang="en-US" sz="9600" dirty="0"/>
          </a:p>
        </p:txBody>
      </p:sp>
      <p:sp>
        <p:nvSpPr>
          <p:cNvPr id="4" name="Text 2"/>
          <p:cNvSpPr txBox="1"/>
          <p:nvPr/>
        </p:nvSpPr>
        <p:spPr>
          <a:xfrm>
            <a:off x="640080" y="868680"/>
            <a:ext cx="10424160" cy="822960"/>
          </a:xfrm>
          <a:prstGeom prst="rect">
            <a:avLst/>
          </a:prstGeom>
          <a:noFill/>
          <a:ln/>
        </p:spPr>
        <p:txBody>
          <a:bodyPr wrap="square" lIns="0" tIns="0" rIns="0" bIns="0" rtlCol="0" anchor="ctr"/>
          <a:lstStyle/>
          <a:p>
            <a:pPr marL="0" indent="0">
              <a:buNone/>
            </a:pPr>
            <a:r>
              <a:rPr lang="en-US" sz="3300" b="1" dirty="0">
                <a:solidFill>
                  <a:srgbClr val="252119"/>
                </a:solidFill>
                <a:latin typeface="Century Schoolbook" pitchFamily="34" charset="0"/>
                <a:ea typeface="Century Schoolbook" pitchFamily="34" charset="-122"/>
                <a:cs typeface="Century Schoolbook" pitchFamily="34" charset="-120"/>
              </a:rPr>
              <a:t>Qué mueve la nota</a:t>
            </a:r>
            <a:endParaRPr lang="en-US" sz="3300" dirty="0"/>
          </a:p>
        </p:txBody>
      </p:sp>
      <p:sp>
        <p:nvSpPr>
          <p:cNvPr id="5" name="Shape 3"/>
          <p:cNvSpPr/>
          <p:nvPr/>
        </p:nvSpPr>
        <p:spPr>
          <a:xfrm>
            <a:off x="640080" y="1783080"/>
            <a:ext cx="6309360" cy="4160520"/>
          </a:xfrm>
          <a:prstGeom prst="rect">
            <a:avLst/>
          </a:prstGeom>
          <a:solidFill>
            <a:srgbClr val="FBF9F4"/>
          </a:solidFill>
          <a:ln w="12700">
            <a:solidFill>
              <a:srgbClr val="D9D2C4"/>
            </a:solidFill>
            <a:prstDash val="solid"/>
          </a:ln>
        </p:spPr>
        <p:txBody>
          <a:bodyPr/>
          <a:lstStyle/>
          <a:p>
            <a:endParaRPr lang="es-CL"/>
          </a:p>
        </p:txBody>
      </p:sp>
      <p:sp>
        <p:nvSpPr>
          <p:cNvPr id="6" name="Text 4"/>
          <p:cNvSpPr txBox="1"/>
          <p:nvPr/>
        </p:nvSpPr>
        <p:spPr>
          <a:xfrm>
            <a:off x="868680" y="1938528"/>
            <a:ext cx="5852160" cy="320040"/>
          </a:xfrm>
          <a:prstGeom prst="rect">
            <a:avLst/>
          </a:prstGeom>
          <a:noFill/>
          <a:ln/>
        </p:spPr>
        <p:txBody>
          <a:bodyPr wrap="square" lIns="0" tIns="0" rIns="0" bIns="0" rtlCol="0" anchor="ctr"/>
          <a:lstStyle/>
          <a:p>
            <a:pPr marL="0" indent="0">
              <a:buNone/>
            </a:pPr>
            <a:r>
              <a:rPr lang="en-US" sz="1100" b="1" dirty="0">
                <a:solidFill>
                  <a:srgbClr val="14504A"/>
                </a:solidFill>
                <a:latin typeface="Courier New" pitchFamily="34" charset="0"/>
                <a:ea typeface="Courier New" pitchFamily="34" charset="-122"/>
                <a:cs typeface="Courier New" pitchFamily="34" charset="-120"/>
              </a:rPr>
              <a:t>CORRELACIÓN DE CADA VARIABLE CON LA NOTA FINAL</a:t>
            </a:r>
            <a:endParaRPr lang="en-US" sz="1100" dirty="0"/>
          </a:p>
        </p:txBody>
      </p:sp>
      <p:sp>
        <p:nvSpPr>
          <p:cNvPr id="8" name="Text 5"/>
          <p:cNvSpPr txBox="1"/>
          <p:nvPr/>
        </p:nvSpPr>
        <p:spPr>
          <a:xfrm>
            <a:off x="7223760" y="1874520"/>
            <a:ext cx="4389120" cy="822960"/>
          </a:xfrm>
          <a:prstGeom prst="rect">
            <a:avLst/>
          </a:prstGeom>
          <a:noFill/>
          <a:ln/>
        </p:spPr>
        <p:txBody>
          <a:bodyPr wrap="square" lIns="0" tIns="0" rIns="0" bIns="0" rtlCol="0" anchor="ctr"/>
          <a:lstStyle/>
          <a:p>
            <a:pPr marL="0" indent="0">
              <a:lnSpc>
                <a:spcPts val="2400"/>
              </a:lnSpc>
              <a:buNone/>
            </a:pPr>
            <a:r>
              <a:rPr lang="en-US" sz="1900" dirty="0">
                <a:solidFill>
                  <a:srgbClr val="252119"/>
                </a:solidFill>
                <a:latin typeface="Century Schoolbook" pitchFamily="34" charset="0"/>
                <a:ea typeface="Century Schoolbook" pitchFamily="34" charset="-122"/>
                <a:cs typeface="Century Schoolbook" pitchFamily="34" charset="-120"/>
              </a:rPr>
              <a:t>Lo que más se relaciona con la nota es el esfuerzo académico:</a:t>
            </a:r>
            <a:endParaRPr lang="en-US" sz="1900" dirty="0"/>
          </a:p>
        </p:txBody>
      </p:sp>
      <p:sp>
        <p:nvSpPr>
          <p:cNvPr id="9" name="Text 6"/>
          <p:cNvSpPr txBox="1"/>
          <p:nvPr/>
        </p:nvSpPr>
        <p:spPr>
          <a:xfrm>
            <a:off x="7223760" y="2880360"/>
            <a:ext cx="1051560" cy="457200"/>
          </a:xfrm>
          <a:prstGeom prst="rect">
            <a:avLst/>
          </a:prstGeom>
          <a:noFill/>
          <a:ln/>
        </p:spPr>
        <p:txBody>
          <a:bodyPr wrap="square" lIns="0" tIns="0" rIns="0" bIns="0" rtlCol="0" anchor="ctr"/>
          <a:lstStyle/>
          <a:p>
            <a:pPr marL="0" indent="0">
              <a:buNone/>
            </a:pPr>
            <a:r>
              <a:rPr lang="en-US" sz="2000" b="1" dirty="0">
                <a:solidFill>
                  <a:srgbClr val="D9552F"/>
                </a:solidFill>
                <a:latin typeface="Courier New" pitchFamily="34" charset="0"/>
                <a:ea typeface="Courier New" pitchFamily="34" charset="-122"/>
                <a:cs typeface="Courier New" pitchFamily="34" charset="-120"/>
              </a:rPr>
              <a:t>0,69</a:t>
            </a:r>
            <a:endParaRPr lang="en-US" sz="2000" dirty="0"/>
          </a:p>
        </p:txBody>
      </p:sp>
      <p:sp>
        <p:nvSpPr>
          <p:cNvPr id="10" name="Text 7"/>
          <p:cNvSpPr txBox="1"/>
          <p:nvPr/>
        </p:nvSpPr>
        <p:spPr>
          <a:xfrm>
            <a:off x="8321040" y="2880360"/>
            <a:ext cx="3291840" cy="457200"/>
          </a:xfrm>
          <a:prstGeom prst="rect">
            <a:avLst/>
          </a:prstGeom>
          <a:noFill/>
          <a:ln/>
        </p:spPr>
        <p:txBody>
          <a:bodyPr wrap="square" lIns="0" tIns="0" rIns="0" bIns="0" rtlCol="0" anchor="ctr"/>
          <a:lstStyle/>
          <a:p>
            <a:pPr marL="0" indent="0">
              <a:buNone/>
            </a:pPr>
            <a:r>
              <a:rPr lang="en-US" sz="1450" dirty="0">
                <a:solidFill>
                  <a:srgbClr val="252119"/>
                </a:solidFill>
                <a:latin typeface="Calibri" pitchFamily="34" charset="0"/>
                <a:ea typeface="Calibri" pitchFamily="34" charset="-122"/>
                <a:cs typeface="Calibri" pitchFamily="34" charset="-120"/>
              </a:rPr>
              <a:t>Tareas completadas</a:t>
            </a:r>
            <a:endParaRPr lang="en-US" sz="1450" dirty="0"/>
          </a:p>
        </p:txBody>
      </p:sp>
      <p:sp>
        <p:nvSpPr>
          <p:cNvPr id="11" name="Text 8"/>
          <p:cNvSpPr txBox="1"/>
          <p:nvPr/>
        </p:nvSpPr>
        <p:spPr>
          <a:xfrm>
            <a:off x="7223760" y="3447288"/>
            <a:ext cx="1051560" cy="457200"/>
          </a:xfrm>
          <a:prstGeom prst="rect">
            <a:avLst/>
          </a:prstGeom>
          <a:noFill/>
          <a:ln/>
        </p:spPr>
        <p:txBody>
          <a:bodyPr wrap="square" lIns="0" tIns="0" rIns="0" bIns="0" rtlCol="0" anchor="ctr"/>
          <a:lstStyle/>
          <a:p>
            <a:pPr marL="0" indent="0">
              <a:buNone/>
            </a:pPr>
            <a:r>
              <a:rPr lang="en-US" sz="2000" b="1" dirty="0">
                <a:solidFill>
                  <a:srgbClr val="D9552F"/>
                </a:solidFill>
                <a:latin typeface="Courier New" pitchFamily="34" charset="0"/>
                <a:ea typeface="Courier New" pitchFamily="34" charset="-122"/>
                <a:cs typeface="Courier New" pitchFamily="34" charset="-120"/>
              </a:rPr>
              <a:t>0,66</a:t>
            </a:r>
            <a:endParaRPr lang="en-US" sz="2000" dirty="0"/>
          </a:p>
        </p:txBody>
      </p:sp>
      <p:sp>
        <p:nvSpPr>
          <p:cNvPr id="12" name="Text 9"/>
          <p:cNvSpPr txBox="1"/>
          <p:nvPr/>
        </p:nvSpPr>
        <p:spPr>
          <a:xfrm>
            <a:off x="8321040" y="3447288"/>
            <a:ext cx="3291840" cy="457200"/>
          </a:xfrm>
          <a:prstGeom prst="rect">
            <a:avLst/>
          </a:prstGeom>
          <a:noFill/>
          <a:ln/>
        </p:spPr>
        <p:txBody>
          <a:bodyPr wrap="square" lIns="0" tIns="0" rIns="0" bIns="0" rtlCol="0" anchor="ctr"/>
          <a:lstStyle/>
          <a:p>
            <a:pPr marL="0" indent="0">
              <a:buNone/>
            </a:pPr>
            <a:r>
              <a:rPr lang="en-US" sz="1450" dirty="0">
                <a:solidFill>
                  <a:srgbClr val="252119"/>
                </a:solidFill>
                <a:latin typeface="Calibri" pitchFamily="34" charset="0"/>
                <a:ea typeface="Calibri" pitchFamily="34" charset="-122"/>
                <a:cs typeface="Calibri" pitchFamily="34" charset="-120"/>
              </a:rPr>
              <a:t>GPA previo</a:t>
            </a:r>
            <a:endParaRPr lang="en-US" sz="1450" dirty="0"/>
          </a:p>
        </p:txBody>
      </p:sp>
      <p:sp>
        <p:nvSpPr>
          <p:cNvPr id="13" name="Text 10"/>
          <p:cNvSpPr txBox="1"/>
          <p:nvPr/>
        </p:nvSpPr>
        <p:spPr>
          <a:xfrm>
            <a:off x="7223760" y="4014216"/>
            <a:ext cx="1051560" cy="457200"/>
          </a:xfrm>
          <a:prstGeom prst="rect">
            <a:avLst/>
          </a:prstGeom>
          <a:noFill/>
          <a:ln/>
        </p:spPr>
        <p:txBody>
          <a:bodyPr wrap="square" lIns="0" tIns="0" rIns="0" bIns="0" rtlCol="0" anchor="ctr"/>
          <a:lstStyle/>
          <a:p>
            <a:pPr marL="0" indent="0">
              <a:buNone/>
            </a:pPr>
            <a:r>
              <a:rPr lang="en-US" sz="2000" b="1" dirty="0">
                <a:solidFill>
                  <a:srgbClr val="D9552F"/>
                </a:solidFill>
                <a:latin typeface="Courier New" pitchFamily="34" charset="0"/>
                <a:ea typeface="Courier New" pitchFamily="34" charset="-122"/>
                <a:cs typeface="Courier New" pitchFamily="34" charset="-120"/>
              </a:rPr>
              <a:t>0,64</a:t>
            </a:r>
            <a:endParaRPr lang="en-US" sz="2000" dirty="0"/>
          </a:p>
        </p:txBody>
      </p:sp>
      <p:sp>
        <p:nvSpPr>
          <p:cNvPr id="14" name="Text 11"/>
          <p:cNvSpPr txBox="1"/>
          <p:nvPr/>
        </p:nvSpPr>
        <p:spPr>
          <a:xfrm>
            <a:off x="8321040" y="4014216"/>
            <a:ext cx="3291840" cy="457200"/>
          </a:xfrm>
          <a:prstGeom prst="rect">
            <a:avLst/>
          </a:prstGeom>
          <a:noFill/>
          <a:ln/>
        </p:spPr>
        <p:txBody>
          <a:bodyPr wrap="square" lIns="0" tIns="0" rIns="0" bIns="0" rtlCol="0" anchor="ctr"/>
          <a:lstStyle/>
          <a:p>
            <a:pPr marL="0" indent="0">
              <a:buNone/>
            </a:pPr>
            <a:r>
              <a:rPr lang="en-US" sz="1450" dirty="0">
                <a:solidFill>
                  <a:srgbClr val="252119"/>
                </a:solidFill>
                <a:latin typeface="Calibri" pitchFamily="34" charset="0"/>
                <a:ea typeface="Calibri" pitchFamily="34" charset="-122"/>
                <a:cs typeface="Calibri" pitchFamily="34" charset="-120"/>
              </a:rPr>
              <a:t>Asistencia</a:t>
            </a:r>
            <a:endParaRPr lang="en-US" sz="1450" dirty="0"/>
          </a:p>
        </p:txBody>
      </p:sp>
      <p:sp>
        <p:nvSpPr>
          <p:cNvPr id="15" name="Text 12"/>
          <p:cNvSpPr txBox="1"/>
          <p:nvPr/>
        </p:nvSpPr>
        <p:spPr>
          <a:xfrm>
            <a:off x="7223760" y="4581144"/>
            <a:ext cx="1051560" cy="457200"/>
          </a:xfrm>
          <a:prstGeom prst="rect">
            <a:avLst/>
          </a:prstGeom>
          <a:noFill/>
          <a:ln/>
        </p:spPr>
        <p:txBody>
          <a:bodyPr wrap="square" lIns="0" tIns="0" rIns="0" bIns="0" rtlCol="0" anchor="ctr"/>
          <a:lstStyle/>
          <a:p>
            <a:pPr marL="0" indent="0">
              <a:buNone/>
            </a:pPr>
            <a:r>
              <a:rPr lang="en-US" sz="2000" b="1" dirty="0">
                <a:solidFill>
                  <a:srgbClr val="D9552F"/>
                </a:solidFill>
                <a:latin typeface="Courier New" pitchFamily="34" charset="0"/>
                <a:ea typeface="Courier New" pitchFamily="34" charset="-122"/>
                <a:cs typeface="Courier New" pitchFamily="34" charset="-120"/>
              </a:rPr>
              <a:t>0,58</a:t>
            </a:r>
            <a:endParaRPr lang="en-US" sz="2000" dirty="0"/>
          </a:p>
        </p:txBody>
      </p:sp>
      <p:sp>
        <p:nvSpPr>
          <p:cNvPr id="16" name="Text 13"/>
          <p:cNvSpPr txBox="1"/>
          <p:nvPr/>
        </p:nvSpPr>
        <p:spPr>
          <a:xfrm>
            <a:off x="8321040" y="4581144"/>
            <a:ext cx="3291840" cy="457200"/>
          </a:xfrm>
          <a:prstGeom prst="rect">
            <a:avLst/>
          </a:prstGeom>
          <a:noFill/>
          <a:ln/>
        </p:spPr>
        <p:txBody>
          <a:bodyPr wrap="square" lIns="0" tIns="0" rIns="0" bIns="0" rtlCol="0" anchor="ctr"/>
          <a:lstStyle/>
          <a:p>
            <a:pPr marL="0" indent="0">
              <a:buNone/>
            </a:pPr>
            <a:r>
              <a:rPr lang="en-US" sz="1450" dirty="0">
                <a:solidFill>
                  <a:srgbClr val="252119"/>
                </a:solidFill>
                <a:latin typeface="Calibri" pitchFamily="34" charset="0"/>
                <a:ea typeface="Calibri" pitchFamily="34" charset="-122"/>
                <a:cs typeface="Calibri" pitchFamily="34" charset="-120"/>
              </a:rPr>
              <a:t>Horas de estudio</a:t>
            </a:r>
            <a:endParaRPr lang="en-US" sz="1450" dirty="0"/>
          </a:p>
        </p:txBody>
      </p:sp>
      <p:sp>
        <p:nvSpPr>
          <p:cNvPr id="17" name="Text 14"/>
          <p:cNvSpPr txBox="1"/>
          <p:nvPr/>
        </p:nvSpPr>
        <p:spPr>
          <a:xfrm>
            <a:off x="7223760" y="5257800"/>
            <a:ext cx="4389120" cy="822960"/>
          </a:xfrm>
          <a:prstGeom prst="rect">
            <a:avLst/>
          </a:prstGeom>
          <a:noFill/>
          <a:ln/>
        </p:spPr>
        <p:txBody>
          <a:bodyPr wrap="square" lIns="0" tIns="0" rIns="0" bIns="0" rtlCol="0" anchor="ctr"/>
          <a:lstStyle/>
          <a:p>
            <a:pPr marL="0" indent="0">
              <a:lnSpc>
                <a:spcPts val="1800"/>
              </a:lnSpc>
              <a:buNone/>
            </a:pPr>
            <a:r>
              <a:rPr lang="en-US" sz="1350" i="1" dirty="0">
                <a:solidFill>
                  <a:srgbClr val="8D857A"/>
                </a:solidFill>
                <a:latin typeface="Calibri" pitchFamily="34" charset="0"/>
                <a:ea typeface="Calibri" pitchFamily="34" charset="-122"/>
                <a:cs typeface="Calibri" pitchFamily="34" charset="-120"/>
              </a:rPr>
              <a:t>En cambio, edad, sueño e internet casi no influyen (0,10 o menos): el rendimiento depende de lo que el estudiante hace, no de su perfil.</a:t>
            </a:r>
            <a:endParaRPr lang="en-US" sz="1350" dirty="0"/>
          </a:p>
        </p:txBody>
      </p:sp>
      <p:pic>
        <p:nvPicPr>
          <p:cNvPr id="19" name="Imagen 18">
            <a:extLst>
              <a:ext uri="{FF2B5EF4-FFF2-40B4-BE49-F238E27FC236}">
                <a16:creationId xmlns:a16="http://schemas.microsoft.com/office/drawing/2014/main" id="{09E1A9E3-5818-9BC0-C843-381B46464221}"/>
              </a:ext>
            </a:extLst>
          </p:cNvPr>
          <p:cNvPicPr>
            <a:picLocks noChangeAspect="1"/>
          </p:cNvPicPr>
          <p:nvPr/>
        </p:nvPicPr>
        <p:blipFill>
          <a:blip r:embed="rId3"/>
          <a:stretch>
            <a:fillRect/>
          </a:stretch>
        </p:blipFill>
        <p:spPr>
          <a:xfrm>
            <a:off x="830135" y="2241804"/>
            <a:ext cx="5890705" cy="3657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FE8"/>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058400" cy="274320"/>
          </a:xfrm>
          <a:prstGeom prst="rect">
            <a:avLst/>
          </a:prstGeom>
          <a:noFill/>
          <a:ln/>
        </p:spPr>
        <p:txBody>
          <a:bodyPr wrap="square" lIns="0" tIns="0" rIns="0" bIns="0" rtlCol="0" anchor="ctr"/>
          <a:lstStyle/>
          <a:p>
            <a:pPr marL="0" indent="0">
              <a:buNone/>
            </a:pPr>
            <a:r>
              <a:rPr lang="en-US" sz="1250" b="1" kern="0" spc="100" dirty="0">
                <a:solidFill>
                  <a:srgbClr val="D9552F"/>
                </a:solidFill>
                <a:latin typeface="Courier New" pitchFamily="34" charset="0"/>
                <a:ea typeface="Courier New" pitchFamily="34" charset="-122"/>
                <a:cs typeface="Courier New" pitchFamily="34" charset="-120"/>
              </a:rPr>
              <a:t>§ 09</a:t>
            </a:r>
            <a:r>
              <a:rPr lang="en-US" sz="1250" kern="0" spc="100" dirty="0">
                <a:solidFill>
                  <a:srgbClr val="14504A"/>
                </a:solidFill>
                <a:latin typeface="Courier New" pitchFamily="34" charset="0"/>
                <a:ea typeface="Courier New" pitchFamily="34" charset="-122"/>
                <a:cs typeface="Courier New" pitchFamily="34" charset="-120"/>
              </a:rPr>
              <a:t>   PREGUNTAS DE INVESTIGACIÓN</a:t>
            </a:r>
            <a:endParaRPr lang="en-US" sz="1250" dirty="0"/>
          </a:p>
        </p:txBody>
      </p:sp>
      <p:sp>
        <p:nvSpPr>
          <p:cNvPr id="3" name="Text 1"/>
          <p:cNvSpPr txBox="1"/>
          <p:nvPr/>
        </p:nvSpPr>
        <p:spPr>
          <a:xfrm>
            <a:off x="9784080" y="137160"/>
            <a:ext cx="2103120" cy="1280160"/>
          </a:xfrm>
          <a:prstGeom prst="rect">
            <a:avLst/>
          </a:prstGeom>
          <a:noFill/>
          <a:ln/>
        </p:spPr>
        <p:txBody>
          <a:bodyPr wrap="square" lIns="0" tIns="0" rIns="0" bIns="0" rtlCol="0" anchor="ctr"/>
          <a:lstStyle/>
          <a:p>
            <a:pPr marL="0" indent="0" algn="r">
              <a:buNone/>
            </a:pPr>
            <a:r>
              <a:rPr lang="en-US" sz="9600" b="1" dirty="0">
                <a:solidFill>
                  <a:srgbClr val="E4DDCD"/>
                </a:solidFill>
                <a:latin typeface="Century Schoolbook" pitchFamily="34" charset="0"/>
                <a:ea typeface="Century Schoolbook" pitchFamily="34" charset="-122"/>
                <a:cs typeface="Century Schoolbook" pitchFamily="34" charset="-120"/>
              </a:rPr>
              <a:t>09</a:t>
            </a:r>
            <a:endParaRPr lang="en-US" sz="9600" dirty="0"/>
          </a:p>
        </p:txBody>
      </p:sp>
      <p:sp>
        <p:nvSpPr>
          <p:cNvPr id="4" name="Text 2"/>
          <p:cNvSpPr txBox="1"/>
          <p:nvPr/>
        </p:nvSpPr>
        <p:spPr>
          <a:xfrm>
            <a:off x="640080" y="868680"/>
            <a:ext cx="10424160" cy="822960"/>
          </a:xfrm>
          <a:prstGeom prst="rect">
            <a:avLst/>
          </a:prstGeom>
          <a:noFill/>
          <a:ln/>
        </p:spPr>
        <p:txBody>
          <a:bodyPr wrap="square" lIns="0" tIns="0" rIns="0" bIns="0" rtlCol="0" anchor="ctr"/>
          <a:lstStyle/>
          <a:p>
            <a:pPr marL="0" indent="0">
              <a:buNone/>
            </a:pPr>
            <a:r>
              <a:rPr lang="en-US" sz="3300" b="1" dirty="0">
                <a:solidFill>
                  <a:srgbClr val="252119"/>
                </a:solidFill>
                <a:latin typeface="Century Schoolbook" pitchFamily="34" charset="0"/>
                <a:ea typeface="Century Schoolbook" pitchFamily="34" charset="-122"/>
                <a:cs typeface="Century Schoolbook" pitchFamily="34" charset="-120"/>
              </a:rPr>
              <a:t>Las cuatro respuestas</a:t>
            </a:r>
            <a:endParaRPr lang="en-US" sz="3300" dirty="0"/>
          </a:p>
        </p:txBody>
      </p:sp>
      <p:sp>
        <p:nvSpPr>
          <p:cNvPr id="5" name="Text 3"/>
          <p:cNvSpPr txBox="1"/>
          <p:nvPr/>
        </p:nvSpPr>
        <p:spPr>
          <a:xfrm>
            <a:off x="640080" y="1874520"/>
            <a:ext cx="914400" cy="548640"/>
          </a:xfrm>
          <a:prstGeom prst="rect">
            <a:avLst/>
          </a:prstGeom>
          <a:noFill/>
          <a:ln/>
        </p:spPr>
        <p:txBody>
          <a:bodyPr wrap="square" lIns="0" tIns="0" rIns="0" bIns="0" rtlCol="0" anchor="ctr"/>
          <a:lstStyle/>
          <a:p>
            <a:pPr marL="0" indent="0">
              <a:buNone/>
            </a:pPr>
            <a:r>
              <a:rPr lang="en-US" sz="1800" b="1" dirty="0">
                <a:solidFill>
                  <a:srgbClr val="D9552F"/>
                </a:solidFill>
                <a:latin typeface="Courier New" pitchFamily="34" charset="0"/>
                <a:ea typeface="Courier New" pitchFamily="34" charset="-122"/>
                <a:cs typeface="Courier New" pitchFamily="34" charset="-120"/>
              </a:rPr>
              <a:t>P1</a:t>
            </a:r>
            <a:endParaRPr lang="en-US" sz="1800" dirty="0"/>
          </a:p>
        </p:txBody>
      </p:sp>
      <p:sp>
        <p:nvSpPr>
          <p:cNvPr id="6" name="Text 4"/>
          <p:cNvSpPr txBox="1"/>
          <p:nvPr/>
        </p:nvSpPr>
        <p:spPr>
          <a:xfrm>
            <a:off x="1097280" y="1984248"/>
            <a:ext cx="4206240" cy="475488"/>
          </a:xfrm>
          <a:prstGeom prst="rect">
            <a:avLst/>
          </a:prstGeom>
          <a:noFill/>
          <a:ln/>
        </p:spPr>
        <p:txBody>
          <a:bodyPr wrap="square" lIns="0" tIns="0" rIns="0" bIns="0" rtlCol="0" anchor="ctr"/>
          <a:lstStyle/>
          <a:p>
            <a:r>
              <a:rPr lang="es-CL" sz="1500" b="1" dirty="0"/>
              <a:t>¿</a:t>
            </a:r>
            <a:r>
              <a:rPr lang="es-CL" sz="1500" b="1" dirty="0">
                <a:latin typeface="Century Schoolbook" panose="02040604050505020304" pitchFamily="18" charset="0"/>
              </a:rPr>
              <a:t>Difiere el promedio de </a:t>
            </a:r>
            <a:r>
              <a:rPr lang="es-CL" sz="1500" b="1" dirty="0" err="1">
                <a:latin typeface="Century Schoolbook" panose="02040604050505020304" pitchFamily="18" charset="0"/>
              </a:rPr>
              <a:t>FinalGrade</a:t>
            </a:r>
            <a:r>
              <a:rPr lang="es-CL" sz="1500" b="1" dirty="0">
                <a:latin typeface="Century Schoolbook" panose="02040604050505020304" pitchFamily="18" charset="0"/>
              </a:rPr>
              <a:t> entre estudiantes con y sin beca?</a:t>
            </a:r>
            <a:endParaRPr lang="en-US" sz="1500" dirty="0">
              <a:latin typeface="Century Schoolbook" panose="02040604050505020304" pitchFamily="18" charset="0"/>
            </a:endParaRPr>
          </a:p>
        </p:txBody>
      </p:sp>
      <p:sp>
        <p:nvSpPr>
          <p:cNvPr id="7" name="Text 5"/>
          <p:cNvSpPr txBox="1"/>
          <p:nvPr/>
        </p:nvSpPr>
        <p:spPr>
          <a:xfrm>
            <a:off x="640080" y="2640482"/>
            <a:ext cx="5212080" cy="457200"/>
          </a:xfrm>
          <a:prstGeom prst="rect">
            <a:avLst/>
          </a:prstGeom>
          <a:noFill/>
          <a:ln/>
        </p:spPr>
        <p:txBody>
          <a:bodyPr wrap="square" lIns="0" tIns="0" rIns="0" bIns="0" rtlCol="0" anchor="ctr"/>
          <a:lstStyle/>
          <a:p>
            <a:pPr marL="0" indent="0">
              <a:buNone/>
            </a:pPr>
            <a:r>
              <a:rPr lang="en-US" sz="1450" dirty="0">
                <a:solidFill>
                  <a:srgbClr val="252119"/>
                </a:solidFill>
                <a:latin typeface="Calibri" pitchFamily="34" charset="0"/>
                <a:ea typeface="Calibri" pitchFamily="34" charset="-122"/>
                <a:cs typeface="Calibri" pitchFamily="34" charset="-120"/>
              </a:rPr>
              <a:t>Con beca 4,37 vs sin beca 4,07</a:t>
            </a:r>
            <a:endParaRPr lang="en-US" sz="1450" dirty="0"/>
          </a:p>
        </p:txBody>
      </p:sp>
      <p:sp>
        <p:nvSpPr>
          <p:cNvPr id="8" name="Text 6"/>
          <p:cNvSpPr txBox="1"/>
          <p:nvPr/>
        </p:nvSpPr>
        <p:spPr>
          <a:xfrm>
            <a:off x="640080" y="3040380"/>
            <a:ext cx="5212080" cy="365760"/>
          </a:xfrm>
          <a:prstGeom prst="rect">
            <a:avLst/>
          </a:prstGeom>
          <a:noFill/>
          <a:ln/>
        </p:spPr>
        <p:txBody>
          <a:bodyPr wrap="square" lIns="0" tIns="0" rIns="0" bIns="0" rtlCol="0" anchor="ctr"/>
          <a:lstStyle/>
          <a:p>
            <a:pPr marL="0" indent="0">
              <a:buNone/>
            </a:pPr>
            <a:r>
              <a:rPr lang="en-US" sz="1300" b="1" dirty="0">
                <a:solidFill>
                  <a:srgbClr val="14504A"/>
                </a:solidFill>
                <a:latin typeface="Courier New" pitchFamily="34" charset="0"/>
                <a:ea typeface="Courier New" pitchFamily="34" charset="-122"/>
                <a:cs typeface="Courier New" pitchFamily="34" charset="-120"/>
              </a:rPr>
              <a:t>+0,30 a favor de con beca</a:t>
            </a:r>
            <a:endParaRPr lang="en-US" sz="1300" dirty="0"/>
          </a:p>
        </p:txBody>
      </p:sp>
      <p:sp>
        <p:nvSpPr>
          <p:cNvPr id="9" name="Shape 7"/>
          <p:cNvSpPr/>
          <p:nvPr/>
        </p:nvSpPr>
        <p:spPr>
          <a:xfrm>
            <a:off x="640080" y="3604260"/>
            <a:ext cx="5029200" cy="12802"/>
          </a:xfrm>
          <a:prstGeom prst="rect">
            <a:avLst/>
          </a:prstGeom>
          <a:solidFill>
            <a:srgbClr val="D9D2C4"/>
          </a:solidFill>
          <a:ln/>
        </p:spPr>
        <p:txBody>
          <a:bodyPr/>
          <a:lstStyle/>
          <a:p>
            <a:endParaRPr lang="es-CL"/>
          </a:p>
        </p:txBody>
      </p:sp>
      <p:sp>
        <p:nvSpPr>
          <p:cNvPr id="10" name="Text 8"/>
          <p:cNvSpPr txBox="1"/>
          <p:nvPr/>
        </p:nvSpPr>
        <p:spPr>
          <a:xfrm>
            <a:off x="6309360" y="1874520"/>
            <a:ext cx="914400" cy="548640"/>
          </a:xfrm>
          <a:prstGeom prst="rect">
            <a:avLst/>
          </a:prstGeom>
          <a:noFill/>
          <a:ln/>
        </p:spPr>
        <p:txBody>
          <a:bodyPr wrap="square" lIns="0" tIns="0" rIns="0" bIns="0" rtlCol="0" anchor="ctr"/>
          <a:lstStyle/>
          <a:p>
            <a:pPr marL="0" indent="0">
              <a:buNone/>
            </a:pPr>
            <a:r>
              <a:rPr lang="en-US" sz="1800" b="1" dirty="0">
                <a:solidFill>
                  <a:srgbClr val="D9552F"/>
                </a:solidFill>
                <a:latin typeface="Courier New" pitchFamily="34" charset="0"/>
                <a:ea typeface="Courier New" pitchFamily="34" charset="-122"/>
                <a:cs typeface="Courier New" pitchFamily="34" charset="-120"/>
              </a:rPr>
              <a:t>P2</a:t>
            </a:r>
            <a:endParaRPr lang="en-US" sz="1800" dirty="0"/>
          </a:p>
        </p:txBody>
      </p:sp>
      <p:sp>
        <p:nvSpPr>
          <p:cNvPr id="11" name="Text 9"/>
          <p:cNvSpPr txBox="1"/>
          <p:nvPr/>
        </p:nvSpPr>
        <p:spPr>
          <a:xfrm>
            <a:off x="6873240" y="1979676"/>
            <a:ext cx="4762500" cy="411480"/>
          </a:xfrm>
          <a:prstGeom prst="rect">
            <a:avLst/>
          </a:prstGeom>
          <a:noFill/>
          <a:ln/>
        </p:spPr>
        <p:txBody>
          <a:bodyPr wrap="square" lIns="0" tIns="0" rIns="0" bIns="0" rtlCol="0" anchor="ctr"/>
          <a:lstStyle/>
          <a:p>
            <a:r>
              <a:rPr lang="es-CL" sz="1500" b="1" dirty="0">
                <a:latin typeface="Century Schoolbook" panose="02040604050505020304" pitchFamily="18" charset="0"/>
              </a:rPr>
              <a:t> ¿Qué programa presenta el mayor promedio de </a:t>
            </a:r>
            <a:r>
              <a:rPr lang="es-CL" sz="1500" b="1" dirty="0" err="1">
                <a:latin typeface="Century Schoolbook" panose="02040604050505020304" pitchFamily="18" charset="0"/>
              </a:rPr>
              <a:t>FinalGrade</a:t>
            </a:r>
            <a:r>
              <a:rPr lang="es-CL" sz="1500" b="1" dirty="0">
                <a:latin typeface="Century Schoolbook" panose="02040604050505020304" pitchFamily="18" charset="0"/>
              </a:rPr>
              <a:t> y cuál la diferencia con el menor?</a:t>
            </a:r>
            <a:endParaRPr lang="en-US" sz="1500" dirty="0">
              <a:latin typeface="Century Schoolbook" panose="02040604050505020304" pitchFamily="18" charset="0"/>
            </a:endParaRPr>
          </a:p>
        </p:txBody>
      </p:sp>
      <p:sp>
        <p:nvSpPr>
          <p:cNvPr id="12" name="Text 10"/>
          <p:cNvSpPr txBox="1"/>
          <p:nvPr/>
        </p:nvSpPr>
        <p:spPr>
          <a:xfrm>
            <a:off x="6309360" y="2646578"/>
            <a:ext cx="5212080" cy="457200"/>
          </a:xfrm>
          <a:prstGeom prst="rect">
            <a:avLst/>
          </a:prstGeom>
          <a:noFill/>
          <a:ln/>
        </p:spPr>
        <p:txBody>
          <a:bodyPr wrap="square" lIns="0" tIns="0" rIns="0" bIns="0" rtlCol="0" anchor="ctr"/>
          <a:lstStyle/>
          <a:p>
            <a:pPr marL="0" indent="0">
              <a:buNone/>
            </a:pPr>
            <a:r>
              <a:rPr lang="en-US" sz="1450" dirty="0">
                <a:solidFill>
                  <a:srgbClr val="252119"/>
                </a:solidFill>
                <a:latin typeface="Calibri" pitchFamily="34" charset="0"/>
                <a:ea typeface="Calibri" pitchFamily="34" charset="-122"/>
                <a:cs typeface="Calibri" pitchFamily="34" charset="-120"/>
              </a:rPr>
              <a:t>Informática 4,23 · Contador 4,05</a:t>
            </a:r>
            <a:endParaRPr lang="en-US" sz="1450" dirty="0"/>
          </a:p>
        </p:txBody>
      </p:sp>
      <p:sp>
        <p:nvSpPr>
          <p:cNvPr id="13" name="Text 11"/>
          <p:cNvSpPr txBox="1"/>
          <p:nvPr/>
        </p:nvSpPr>
        <p:spPr>
          <a:xfrm>
            <a:off x="6309360" y="3025140"/>
            <a:ext cx="5212080" cy="365760"/>
          </a:xfrm>
          <a:prstGeom prst="rect">
            <a:avLst/>
          </a:prstGeom>
          <a:noFill/>
          <a:ln/>
        </p:spPr>
        <p:txBody>
          <a:bodyPr wrap="square" lIns="0" tIns="0" rIns="0" bIns="0" rtlCol="0" anchor="ctr"/>
          <a:lstStyle/>
          <a:p>
            <a:pPr marL="0" indent="0">
              <a:buNone/>
            </a:pPr>
            <a:r>
              <a:rPr lang="en-US" sz="1300" b="1" dirty="0">
                <a:solidFill>
                  <a:srgbClr val="14504A"/>
                </a:solidFill>
                <a:latin typeface="Courier New" pitchFamily="34" charset="0"/>
                <a:ea typeface="Courier New" pitchFamily="34" charset="-122"/>
                <a:cs typeface="Courier New" pitchFamily="34" charset="-120"/>
              </a:rPr>
              <a:t>diferencia mínima: 0,18</a:t>
            </a:r>
            <a:endParaRPr lang="en-US" sz="1300" dirty="0"/>
          </a:p>
        </p:txBody>
      </p:sp>
      <p:sp>
        <p:nvSpPr>
          <p:cNvPr id="14" name="Shape 12"/>
          <p:cNvSpPr/>
          <p:nvPr/>
        </p:nvSpPr>
        <p:spPr>
          <a:xfrm>
            <a:off x="6309360" y="3604260"/>
            <a:ext cx="5029200" cy="12802"/>
          </a:xfrm>
          <a:prstGeom prst="rect">
            <a:avLst/>
          </a:prstGeom>
          <a:solidFill>
            <a:srgbClr val="D9D2C4"/>
          </a:solidFill>
          <a:ln/>
        </p:spPr>
        <p:txBody>
          <a:bodyPr/>
          <a:lstStyle/>
          <a:p>
            <a:endParaRPr lang="es-CL"/>
          </a:p>
        </p:txBody>
      </p:sp>
      <p:sp>
        <p:nvSpPr>
          <p:cNvPr id="15" name="Text 13"/>
          <p:cNvSpPr txBox="1"/>
          <p:nvPr/>
        </p:nvSpPr>
        <p:spPr>
          <a:xfrm>
            <a:off x="640080" y="3931920"/>
            <a:ext cx="914400" cy="548640"/>
          </a:xfrm>
          <a:prstGeom prst="rect">
            <a:avLst/>
          </a:prstGeom>
          <a:noFill/>
          <a:ln/>
        </p:spPr>
        <p:txBody>
          <a:bodyPr wrap="square" lIns="0" tIns="0" rIns="0" bIns="0" rtlCol="0" anchor="ctr"/>
          <a:lstStyle/>
          <a:p>
            <a:pPr marL="0" indent="0">
              <a:buNone/>
            </a:pPr>
            <a:r>
              <a:rPr lang="en-US" sz="1800" b="1" dirty="0">
                <a:solidFill>
                  <a:srgbClr val="D9552F"/>
                </a:solidFill>
                <a:latin typeface="Courier New" pitchFamily="34" charset="0"/>
                <a:ea typeface="Courier New" pitchFamily="34" charset="-122"/>
                <a:cs typeface="Courier New" pitchFamily="34" charset="-120"/>
              </a:rPr>
              <a:t>P3</a:t>
            </a:r>
            <a:endParaRPr lang="en-US" sz="1800" dirty="0"/>
          </a:p>
        </p:txBody>
      </p:sp>
      <p:sp>
        <p:nvSpPr>
          <p:cNvPr id="16" name="Text 14"/>
          <p:cNvSpPr txBox="1"/>
          <p:nvPr/>
        </p:nvSpPr>
        <p:spPr>
          <a:xfrm>
            <a:off x="998220" y="3995928"/>
            <a:ext cx="4206240" cy="457200"/>
          </a:xfrm>
          <a:prstGeom prst="rect">
            <a:avLst/>
          </a:prstGeom>
          <a:noFill/>
          <a:ln/>
        </p:spPr>
        <p:txBody>
          <a:bodyPr wrap="square" lIns="0" tIns="0" rIns="0" bIns="0" rtlCol="0" anchor="ctr"/>
          <a:lstStyle/>
          <a:p>
            <a:r>
              <a:rPr lang="es-CL" sz="1500" b="1" dirty="0"/>
              <a:t>¿Existe relación entre </a:t>
            </a:r>
            <a:r>
              <a:rPr lang="es-CL" sz="1500" b="1" dirty="0" err="1"/>
              <a:t>StudyHours</a:t>
            </a:r>
            <a:r>
              <a:rPr lang="es-CL" sz="1500" b="1" dirty="0"/>
              <a:t> y </a:t>
            </a:r>
            <a:r>
              <a:rPr lang="es-CL" sz="1500" b="1" dirty="0" err="1"/>
              <a:t>FinalGrade</a:t>
            </a:r>
            <a:r>
              <a:rPr lang="es-CL" sz="1500" b="1" dirty="0"/>
              <a:t>?</a:t>
            </a:r>
            <a:endParaRPr lang="en-US" sz="1500" dirty="0"/>
          </a:p>
        </p:txBody>
      </p:sp>
      <p:sp>
        <p:nvSpPr>
          <p:cNvPr id="17" name="Text 15"/>
          <p:cNvSpPr txBox="1"/>
          <p:nvPr/>
        </p:nvSpPr>
        <p:spPr>
          <a:xfrm>
            <a:off x="640080" y="4590288"/>
            <a:ext cx="5212080" cy="457200"/>
          </a:xfrm>
          <a:prstGeom prst="rect">
            <a:avLst/>
          </a:prstGeom>
          <a:noFill/>
          <a:ln/>
        </p:spPr>
        <p:txBody>
          <a:bodyPr wrap="square" lIns="0" tIns="0" rIns="0" bIns="0" rtlCol="0" anchor="ctr"/>
          <a:lstStyle/>
          <a:p>
            <a:pPr marL="0" indent="0">
              <a:buNone/>
            </a:pPr>
            <a:r>
              <a:rPr lang="en-US" sz="1450" dirty="0">
                <a:solidFill>
                  <a:srgbClr val="252119"/>
                </a:solidFill>
                <a:latin typeface="Calibri" pitchFamily="34" charset="0"/>
                <a:ea typeface="Calibri" pitchFamily="34" charset="-122"/>
                <a:cs typeface="Calibri" pitchFamily="34" charset="-120"/>
              </a:rPr>
              <a:t>Relación positiva con la nota</a:t>
            </a:r>
            <a:endParaRPr lang="en-US" sz="1450" dirty="0"/>
          </a:p>
        </p:txBody>
      </p:sp>
      <p:sp>
        <p:nvSpPr>
          <p:cNvPr id="18" name="Text 16"/>
          <p:cNvSpPr txBox="1"/>
          <p:nvPr/>
        </p:nvSpPr>
        <p:spPr>
          <a:xfrm>
            <a:off x="640080" y="5029200"/>
            <a:ext cx="5212080" cy="365760"/>
          </a:xfrm>
          <a:prstGeom prst="rect">
            <a:avLst/>
          </a:prstGeom>
          <a:noFill/>
          <a:ln/>
        </p:spPr>
        <p:txBody>
          <a:bodyPr wrap="square" lIns="0" tIns="0" rIns="0" bIns="0" rtlCol="0" anchor="ctr"/>
          <a:lstStyle/>
          <a:p>
            <a:pPr marL="0" indent="0">
              <a:buNone/>
            </a:pPr>
            <a:r>
              <a:rPr lang="en-US" sz="1300" b="1" dirty="0">
                <a:solidFill>
                  <a:srgbClr val="14504A"/>
                </a:solidFill>
                <a:latin typeface="Courier New" pitchFamily="34" charset="0"/>
                <a:ea typeface="Courier New" pitchFamily="34" charset="-122"/>
                <a:cs typeface="Courier New" pitchFamily="34" charset="-120"/>
              </a:rPr>
              <a:t>r = 0,58 (Spearman 0,72)</a:t>
            </a:r>
            <a:endParaRPr lang="en-US" sz="1300" dirty="0"/>
          </a:p>
        </p:txBody>
      </p:sp>
      <p:sp>
        <p:nvSpPr>
          <p:cNvPr id="19" name="Shape 17"/>
          <p:cNvSpPr/>
          <p:nvPr/>
        </p:nvSpPr>
        <p:spPr>
          <a:xfrm>
            <a:off x="640080" y="5532120"/>
            <a:ext cx="5029200" cy="12802"/>
          </a:xfrm>
          <a:prstGeom prst="rect">
            <a:avLst/>
          </a:prstGeom>
          <a:solidFill>
            <a:srgbClr val="D9D2C4"/>
          </a:solidFill>
          <a:ln/>
        </p:spPr>
        <p:txBody>
          <a:bodyPr/>
          <a:lstStyle/>
          <a:p>
            <a:endParaRPr lang="es-CL"/>
          </a:p>
        </p:txBody>
      </p:sp>
      <p:sp>
        <p:nvSpPr>
          <p:cNvPr id="20" name="Text 18"/>
          <p:cNvSpPr txBox="1"/>
          <p:nvPr/>
        </p:nvSpPr>
        <p:spPr>
          <a:xfrm>
            <a:off x="6309360" y="3931920"/>
            <a:ext cx="914400" cy="548640"/>
          </a:xfrm>
          <a:prstGeom prst="rect">
            <a:avLst/>
          </a:prstGeom>
          <a:noFill/>
          <a:ln/>
        </p:spPr>
        <p:txBody>
          <a:bodyPr wrap="square" lIns="0" tIns="0" rIns="0" bIns="0" rtlCol="0" anchor="ctr"/>
          <a:lstStyle/>
          <a:p>
            <a:pPr marL="0" indent="0">
              <a:buNone/>
            </a:pPr>
            <a:r>
              <a:rPr lang="en-US" sz="1800" b="1" dirty="0">
                <a:solidFill>
                  <a:srgbClr val="D9552F"/>
                </a:solidFill>
                <a:latin typeface="Courier New" pitchFamily="34" charset="0"/>
                <a:ea typeface="Courier New" pitchFamily="34" charset="-122"/>
                <a:cs typeface="Courier New" pitchFamily="34" charset="-120"/>
              </a:rPr>
              <a:t>P4</a:t>
            </a:r>
            <a:endParaRPr lang="en-US" sz="1800" dirty="0"/>
          </a:p>
        </p:txBody>
      </p:sp>
      <p:sp>
        <p:nvSpPr>
          <p:cNvPr id="21" name="Text 19"/>
          <p:cNvSpPr txBox="1"/>
          <p:nvPr/>
        </p:nvSpPr>
        <p:spPr>
          <a:xfrm>
            <a:off x="6720840" y="3983126"/>
            <a:ext cx="4206240" cy="457200"/>
          </a:xfrm>
          <a:prstGeom prst="rect">
            <a:avLst/>
          </a:prstGeom>
          <a:noFill/>
          <a:ln/>
        </p:spPr>
        <p:txBody>
          <a:bodyPr wrap="square" lIns="0" tIns="0" rIns="0" bIns="0" rtlCol="0" anchor="ctr"/>
          <a:lstStyle/>
          <a:p>
            <a:r>
              <a:rPr lang="es-CL" sz="1500" b="1" dirty="0"/>
              <a:t> ¿Existe relación entre </a:t>
            </a:r>
            <a:r>
              <a:rPr lang="es-CL" sz="1500" b="1" dirty="0" err="1"/>
              <a:t>Attendance</a:t>
            </a:r>
            <a:r>
              <a:rPr lang="es-CL" sz="1500" b="1" dirty="0"/>
              <a:t> y </a:t>
            </a:r>
            <a:r>
              <a:rPr lang="es-CL" sz="1500" b="1" dirty="0" err="1"/>
              <a:t>FinalGrade</a:t>
            </a:r>
            <a:r>
              <a:rPr lang="es-CL" sz="1500" b="1" dirty="0"/>
              <a:t>?</a:t>
            </a:r>
            <a:endParaRPr lang="en-US" sz="1500" dirty="0"/>
          </a:p>
        </p:txBody>
      </p:sp>
      <p:sp>
        <p:nvSpPr>
          <p:cNvPr id="22" name="Text 20"/>
          <p:cNvSpPr txBox="1"/>
          <p:nvPr/>
        </p:nvSpPr>
        <p:spPr>
          <a:xfrm>
            <a:off x="6309360" y="4590288"/>
            <a:ext cx="5212080" cy="457200"/>
          </a:xfrm>
          <a:prstGeom prst="rect">
            <a:avLst/>
          </a:prstGeom>
          <a:noFill/>
          <a:ln/>
        </p:spPr>
        <p:txBody>
          <a:bodyPr wrap="square" lIns="0" tIns="0" rIns="0" bIns="0" rtlCol="0" anchor="ctr"/>
          <a:lstStyle/>
          <a:p>
            <a:pPr marL="0" indent="0">
              <a:buNone/>
            </a:pPr>
            <a:r>
              <a:rPr lang="en-US" sz="1450" dirty="0">
                <a:solidFill>
                  <a:srgbClr val="252119"/>
                </a:solidFill>
                <a:latin typeface="Calibri" pitchFamily="34" charset="0"/>
                <a:ea typeface="Calibri" pitchFamily="34" charset="-122"/>
                <a:cs typeface="Calibri" pitchFamily="34" charset="-120"/>
              </a:rPr>
              <a:t>Más asistencia, mejor rendimiento</a:t>
            </a:r>
            <a:endParaRPr lang="en-US" sz="1450" dirty="0"/>
          </a:p>
        </p:txBody>
      </p:sp>
      <p:sp>
        <p:nvSpPr>
          <p:cNvPr id="23" name="Text 21"/>
          <p:cNvSpPr txBox="1"/>
          <p:nvPr/>
        </p:nvSpPr>
        <p:spPr>
          <a:xfrm>
            <a:off x="6309360" y="5029200"/>
            <a:ext cx="5212080" cy="365760"/>
          </a:xfrm>
          <a:prstGeom prst="rect">
            <a:avLst/>
          </a:prstGeom>
          <a:noFill/>
          <a:ln/>
        </p:spPr>
        <p:txBody>
          <a:bodyPr wrap="square" lIns="0" tIns="0" rIns="0" bIns="0" rtlCol="0" anchor="ctr"/>
          <a:lstStyle/>
          <a:p>
            <a:pPr marL="0" indent="0">
              <a:buNone/>
            </a:pPr>
            <a:r>
              <a:rPr lang="en-US" sz="1300" b="1" dirty="0">
                <a:solidFill>
                  <a:srgbClr val="14504A"/>
                </a:solidFill>
                <a:latin typeface="Courier New" pitchFamily="34" charset="0"/>
                <a:ea typeface="Courier New" pitchFamily="34" charset="-122"/>
                <a:cs typeface="Courier New" pitchFamily="34" charset="-120"/>
              </a:rPr>
              <a:t>r = 0,64 (moderada-fuerte)</a:t>
            </a:r>
            <a:endParaRPr lang="en-US" sz="1300" dirty="0"/>
          </a:p>
        </p:txBody>
      </p:sp>
      <p:sp>
        <p:nvSpPr>
          <p:cNvPr id="24" name="Shape 22"/>
          <p:cNvSpPr/>
          <p:nvPr/>
        </p:nvSpPr>
        <p:spPr>
          <a:xfrm>
            <a:off x="6309360" y="5532120"/>
            <a:ext cx="5029200" cy="12802"/>
          </a:xfrm>
          <a:prstGeom prst="rect">
            <a:avLst/>
          </a:prstGeom>
          <a:solidFill>
            <a:srgbClr val="D9D2C4"/>
          </a:solidFill>
          <a:ln/>
        </p:spPr>
        <p:txBody>
          <a:bodyPr/>
          <a:lstStyle/>
          <a:p>
            <a:endParaRPr lang="es-CL"/>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EFE8"/>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058400" cy="274320"/>
          </a:xfrm>
          <a:prstGeom prst="rect">
            <a:avLst/>
          </a:prstGeom>
          <a:noFill/>
          <a:ln/>
        </p:spPr>
        <p:txBody>
          <a:bodyPr wrap="square" lIns="0" tIns="0" rIns="0" bIns="0" rtlCol="0" anchor="ctr"/>
          <a:lstStyle/>
          <a:p>
            <a:pPr marL="0" indent="0">
              <a:buNone/>
            </a:pPr>
            <a:r>
              <a:rPr lang="en-US" sz="1250" b="1" kern="0" spc="100" dirty="0">
                <a:solidFill>
                  <a:srgbClr val="D9552F"/>
                </a:solidFill>
                <a:latin typeface="Courier New" pitchFamily="34" charset="0"/>
                <a:ea typeface="Courier New" pitchFamily="34" charset="-122"/>
                <a:cs typeface="Courier New" pitchFamily="34" charset="-120"/>
              </a:rPr>
              <a:t>§ 10</a:t>
            </a:r>
            <a:r>
              <a:rPr lang="en-US" sz="1250" kern="0" spc="100" dirty="0">
                <a:solidFill>
                  <a:srgbClr val="14504A"/>
                </a:solidFill>
                <a:latin typeface="Courier New" pitchFamily="34" charset="0"/>
                <a:ea typeface="Courier New" pitchFamily="34" charset="-122"/>
                <a:cs typeface="Courier New" pitchFamily="34" charset="-120"/>
              </a:rPr>
              <a:t>   ESTADO FINAL DE LA CALIDAD</a:t>
            </a:r>
            <a:endParaRPr lang="en-US" sz="1250" dirty="0"/>
          </a:p>
        </p:txBody>
      </p:sp>
      <p:sp>
        <p:nvSpPr>
          <p:cNvPr id="3" name="Text 1"/>
          <p:cNvSpPr txBox="1"/>
          <p:nvPr/>
        </p:nvSpPr>
        <p:spPr>
          <a:xfrm>
            <a:off x="9784080" y="137160"/>
            <a:ext cx="2103120" cy="1280160"/>
          </a:xfrm>
          <a:prstGeom prst="rect">
            <a:avLst/>
          </a:prstGeom>
          <a:noFill/>
          <a:ln/>
        </p:spPr>
        <p:txBody>
          <a:bodyPr wrap="square" lIns="0" tIns="0" rIns="0" bIns="0" rtlCol="0" anchor="ctr"/>
          <a:lstStyle/>
          <a:p>
            <a:pPr marL="0" indent="0" algn="r">
              <a:buNone/>
            </a:pPr>
            <a:r>
              <a:rPr lang="en-US" sz="9600" b="1" dirty="0">
                <a:solidFill>
                  <a:srgbClr val="E4DDCD"/>
                </a:solidFill>
                <a:latin typeface="Century Schoolbook" pitchFamily="34" charset="0"/>
                <a:ea typeface="Century Schoolbook" pitchFamily="34" charset="-122"/>
                <a:cs typeface="Century Schoolbook" pitchFamily="34" charset="-120"/>
              </a:rPr>
              <a:t>10</a:t>
            </a:r>
            <a:endParaRPr lang="en-US" sz="9600" dirty="0"/>
          </a:p>
        </p:txBody>
      </p:sp>
      <p:sp>
        <p:nvSpPr>
          <p:cNvPr id="4" name="Text 2"/>
          <p:cNvSpPr txBox="1"/>
          <p:nvPr/>
        </p:nvSpPr>
        <p:spPr>
          <a:xfrm>
            <a:off x="640080" y="868680"/>
            <a:ext cx="10424160" cy="822960"/>
          </a:xfrm>
          <a:prstGeom prst="rect">
            <a:avLst/>
          </a:prstGeom>
          <a:noFill/>
          <a:ln/>
        </p:spPr>
        <p:txBody>
          <a:bodyPr wrap="square" lIns="0" tIns="0" rIns="0" bIns="0" rtlCol="0" anchor="ctr"/>
          <a:lstStyle/>
          <a:p>
            <a:pPr marL="0" indent="0">
              <a:buNone/>
            </a:pPr>
            <a:r>
              <a:rPr lang="en-US" sz="3300" b="1" dirty="0">
                <a:solidFill>
                  <a:srgbClr val="252119"/>
                </a:solidFill>
                <a:latin typeface="Century Schoolbook" pitchFamily="34" charset="0"/>
                <a:ea typeface="Century Schoolbook" pitchFamily="34" charset="-122"/>
                <a:cs typeface="Century Schoolbook" pitchFamily="34" charset="-120"/>
              </a:rPr>
              <a:t>Antes y después</a:t>
            </a:r>
            <a:endParaRPr lang="en-US" sz="3300" dirty="0"/>
          </a:p>
        </p:txBody>
      </p:sp>
      <p:graphicFrame>
        <p:nvGraphicFramePr>
          <p:cNvPr id="11" name="Table 0"/>
          <p:cNvGraphicFramePr>
            <a:graphicFrameLocks noGrp="1"/>
          </p:cNvGraphicFramePr>
          <p:nvPr>
            <p:extLst>
              <p:ext uri="{D42A27DB-BD31-4B8C-83A1-F6EECF244321}">
                <p14:modId xmlns:p14="http://schemas.microsoft.com/office/powerpoint/2010/main" val="1931142945"/>
              </p:ext>
            </p:extLst>
          </p:nvPr>
        </p:nvGraphicFramePr>
        <p:xfrm>
          <a:off x="640080" y="1874520"/>
          <a:ext cx="6949440" cy="3950208"/>
        </p:xfrm>
        <a:graphic>
          <a:graphicData uri="http://schemas.openxmlformats.org/drawingml/2006/table">
            <a:tbl>
              <a:tblPr/>
              <a:tblGrid>
                <a:gridCol w="36576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658368">
                <a:tc>
                  <a:txBody>
                    <a:bodyPr/>
                    <a:lstStyle/>
                    <a:p>
                      <a:pPr marL="0" indent="0" algn="l">
                        <a:buNone/>
                      </a:pPr>
                      <a:r>
                        <a:rPr lang="en-US" sz="1200" b="1" dirty="0">
                          <a:solidFill>
                            <a:srgbClr val="F2EFE8"/>
                          </a:solidFill>
                          <a:latin typeface="Courier New" pitchFamily="34" charset="0"/>
                          <a:ea typeface="Courier New" pitchFamily="34" charset="-122"/>
                          <a:cs typeface="Courier New" pitchFamily="34" charset="-120"/>
                        </a:rPr>
                        <a:t>INDICADOR</a:t>
                      </a:r>
                      <a:endParaRPr lang="en-US" sz="1200" dirty="0">
                        <a:latin typeface="Courier New" charset="0"/>
                        <a:ea typeface="Courier New" charset="0"/>
                        <a:cs typeface="Courier New"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14504A"/>
                    </a:solidFill>
                  </a:tcPr>
                </a:tc>
                <a:tc>
                  <a:txBody>
                    <a:bodyPr/>
                    <a:lstStyle/>
                    <a:p>
                      <a:pPr marL="0" indent="0" algn="ctr">
                        <a:buNone/>
                      </a:pPr>
                      <a:r>
                        <a:rPr lang="en-US" sz="1200" b="1" dirty="0">
                          <a:solidFill>
                            <a:srgbClr val="F2EFE8"/>
                          </a:solidFill>
                          <a:latin typeface="Courier New" pitchFamily="34" charset="0"/>
                          <a:ea typeface="Courier New" pitchFamily="34" charset="-122"/>
                          <a:cs typeface="Courier New" pitchFamily="34" charset="-120"/>
                        </a:rPr>
                        <a:t>ORIGINAL</a:t>
                      </a:r>
                      <a:endParaRPr lang="en-US" sz="1200" dirty="0">
                        <a:latin typeface="Courier New" charset="0"/>
                        <a:ea typeface="Courier New" charset="0"/>
                        <a:cs typeface="Courier New"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8D857A"/>
                    </a:solidFill>
                  </a:tcPr>
                </a:tc>
                <a:tc>
                  <a:txBody>
                    <a:bodyPr/>
                    <a:lstStyle/>
                    <a:p>
                      <a:pPr marL="0" indent="0" algn="ctr">
                        <a:buNone/>
                      </a:pPr>
                      <a:r>
                        <a:rPr lang="en-US" sz="1200" b="1" dirty="0">
                          <a:solidFill>
                            <a:srgbClr val="F2EFE8"/>
                          </a:solidFill>
                          <a:latin typeface="Courier New" pitchFamily="34" charset="0"/>
                          <a:ea typeface="Courier New" pitchFamily="34" charset="-122"/>
                          <a:cs typeface="Courier New" pitchFamily="34" charset="-120"/>
                        </a:rPr>
                        <a:t>TRATADO</a:t>
                      </a:r>
                      <a:endParaRPr lang="en-US" sz="1200" dirty="0">
                        <a:latin typeface="Courier New" charset="0"/>
                        <a:ea typeface="Courier New" charset="0"/>
                        <a:cs typeface="Courier New"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D9552F"/>
                    </a:solidFill>
                  </a:tcPr>
                </a:tc>
                <a:extLst>
                  <a:ext uri="{0D108BD9-81ED-4DB2-BD59-A6C34878D82A}">
                    <a16:rowId xmlns:a16="http://schemas.microsoft.com/office/drawing/2014/main" val="10000"/>
                  </a:ext>
                </a:extLst>
              </a:tr>
              <a:tr h="658368">
                <a:tc>
                  <a:txBody>
                    <a:bodyPr/>
                    <a:lstStyle/>
                    <a:p>
                      <a:pPr marL="0" indent="0">
                        <a:buNone/>
                      </a:pPr>
                      <a:r>
                        <a:rPr lang="en-US" sz="1400" b="1" dirty="0">
                          <a:solidFill>
                            <a:srgbClr val="252119"/>
                          </a:solidFill>
                          <a:latin typeface="Century Schoolbook" pitchFamily="34" charset="0"/>
                          <a:ea typeface="Century Schoolbook" pitchFamily="34" charset="-122"/>
                          <a:cs typeface="Century Schoolbook" pitchFamily="34" charset="-120"/>
                        </a:rPr>
                        <a:t>Registros</a:t>
                      </a:r>
                      <a:endParaRPr lang="en-US" sz="1400" dirty="0">
                        <a:latin typeface="Century Schoolbook" charset="0"/>
                        <a:ea typeface="Century Schoolbook" charset="0"/>
                        <a:cs typeface="Century Schoolbook"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FBF9F4"/>
                    </a:solidFill>
                  </a:tcPr>
                </a:tc>
                <a:tc>
                  <a:txBody>
                    <a:bodyPr/>
                    <a:lstStyle/>
                    <a:p>
                      <a:pPr marL="0" indent="0" algn="ctr">
                        <a:buNone/>
                      </a:pPr>
                      <a:r>
                        <a:rPr lang="en-US" sz="1400" dirty="0">
                          <a:solidFill>
                            <a:srgbClr val="8D857A"/>
                          </a:solidFill>
                          <a:latin typeface="Courier New" pitchFamily="34" charset="0"/>
                          <a:ea typeface="Courier New" pitchFamily="34" charset="-122"/>
                          <a:cs typeface="Courier New" pitchFamily="34" charset="-120"/>
                        </a:rPr>
                        <a:t>5.100</a:t>
                      </a:r>
                      <a:endParaRPr lang="en-US" sz="1400" dirty="0">
                        <a:latin typeface="Courier New" charset="0"/>
                        <a:ea typeface="Courier New" charset="0"/>
                        <a:cs typeface="Courier New"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FBF9F4"/>
                    </a:solidFill>
                  </a:tcPr>
                </a:tc>
                <a:tc>
                  <a:txBody>
                    <a:bodyPr/>
                    <a:lstStyle/>
                    <a:p>
                      <a:pPr marL="0" indent="0" algn="ctr">
                        <a:buNone/>
                      </a:pPr>
                      <a:r>
                        <a:rPr lang="en-US" sz="1400" b="1" dirty="0">
                          <a:solidFill>
                            <a:srgbClr val="D9552F"/>
                          </a:solidFill>
                          <a:latin typeface="Courier New" pitchFamily="34" charset="0"/>
                          <a:ea typeface="Courier New" pitchFamily="34" charset="-122"/>
                          <a:cs typeface="Courier New" pitchFamily="34" charset="-120"/>
                        </a:rPr>
                        <a:t>4.996</a:t>
                      </a:r>
                      <a:endParaRPr lang="en-US" sz="1400" dirty="0">
                        <a:latin typeface="Courier New" charset="0"/>
                        <a:ea typeface="Courier New" charset="0"/>
                        <a:cs typeface="Courier New"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FBF9F4"/>
                    </a:solidFill>
                  </a:tcPr>
                </a:tc>
                <a:extLst>
                  <a:ext uri="{0D108BD9-81ED-4DB2-BD59-A6C34878D82A}">
                    <a16:rowId xmlns:a16="http://schemas.microsoft.com/office/drawing/2014/main" val="10001"/>
                  </a:ext>
                </a:extLst>
              </a:tr>
              <a:tr h="658368">
                <a:tc>
                  <a:txBody>
                    <a:bodyPr/>
                    <a:lstStyle/>
                    <a:p>
                      <a:pPr marL="0" indent="0">
                        <a:buNone/>
                      </a:pPr>
                      <a:r>
                        <a:rPr lang="en-US" sz="1400" b="1" dirty="0">
                          <a:solidFill>
                            <a:srgbClr val="252119"/>
                          </a:solidFill>
                          <a:latin typeface="Century Schoolbook" pitchFamily="34" charset="0"/>
                          <a:ea typeface="Century Schoolbook" pitchFamily="34" charset="-122"/>
                          <a:cs typeface="Century Schoolbook" pitchFamily="34" charset="-120"/>
                        </a:rPr>
                        <a:t>Valores faltantes</a:t>
                      </a:r>
                      <a:endParaRPr lang="en-US" sz="1400" dirty="0">
                        <a:latin typeface="Century Schoolbook" charset="0"/>
                        <a:ea typeface="Century Schoolbook" charset="0"/>
                        <a:cs typeface="Century Schoolbook"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EAE5DA"/>
                    </a:solidFill>
                  </a:tcPr>
                </a:tc>
                <a:tc>
                  <a:txBody>
                    <a:bodyPr/>
                    <a:lstStyle/>
                    <a:p>
                      <a:pPr marL="0" indent="0" algn="ctr">
                        <a:buNone/>
                      </a:pPr>
                      <a:r>
                        <a:rPr lang="en-US" sz="1400" dirty="0">
                          <a:solidFill>
                            <a:srgbClr val="8D857A"/>
                          </a:solidFill>
                          <a:latin typeface="Courier New" pitchFamily="34" charset="0"/>
                          <a:ea typeface="Courier New" pitchFamily="34" charset="-122"/>
                          <a:cs typeface="Courier New" pitchFamily="34" charset="-120"/>
                        </a:rPr>
                        <a:t>1.335</a:t>
                      </a:r>
                      <a:endParaRPr lang="en-US" sz="1400" dirty="0">
                        <a:latin typeface="Courier New" charset="0"/>
                        <a:ea typeface="Courier New" charset="0"/>
                        <a:cs typeface="Courier New"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EAE5DA"/>
                    </a:solidFill>
                  </a:tcPr>
                </a:tc>
                <a:tc>
                  <a:txBody>
                    <a:bodyPr/>
                    <a:lstStyle/>
                    <a:p>
                      <a:pPr marL="0" indent="0" algn="ctr">
                        <a:buNone/>
                      </a:pPr>
                      <a:r>
                        <a:rPr lang="en-US" sz="1400" b="1" dirty="0">
                          <a:solidFill>
                            <a:srgbClr val="D9552F"/>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EAE5DA"/>
                    </a:solidFill>
                  </a:tcPr>
                </a:tc>
                <a:extLst>
                  <a:ext uri="{0D108BD9-81ED-4DB2-BD59-A6C34878D82A}">
                    <a16:rowId xmlns:a16="http://schemas.microsoft.com/office/drawing/2014/main" val="10002"/>
                  </a:ext>
                </a:extLst>
              </a:tr>
              <a:tr h="658368">
                <a:tc>
                  <a:txBody>
                    <a:bodyPr/>
                    <a:lstStyle/>
                    <a:p>
                      <a:pPr marL="0" indent="0">
                        <a:buNone/>
                      </a:pPr>
                      <a:r>
                        <a:rPr lang="en-US" sz="1400" b="1" dirty="0">
                          <a:solidFill>
                            <a:srgbClr val="252119"/>
                          </a:solidFill>
                          <a:latin typeface="Century Schoolbook" pitchFamily="34" charset="0"/>
                          <a:ea typeface="Century Schoolbook" pitchFamily="34" charset="-122"/>
                          <a:cs typeface="Century Schoolbook" pitchFamily="34" charset="-120"/>
                        </a:rPr>
                        <a:t>Duplicados</a:t>
                      </a:r>
                      <a:endParaRPr lang="en-US" sz="1400" dirty="0">
                        <a:latin typeface="Century Schoolbook" charset="0"/>
                        <a:ea typeface="Century Schoolbook" charset="0"/>
                        <a:cs typeface="Century Schoolbook"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FBF9F4"/>
                    </a:solidFill>
                  </a:tcPr>
                </a:tc>
                <a:tc>
                  <a:txBody>
                    <a:bodyPr/>
                    <a:lstStyle/>
                    <a:p>
                      <a:pPr marL="0" indent="0" algn="ctr">
                        <a:buNone/>
                      </a:pPr>
                      <a:r>
                        <a:rPr lang="en-US" sz="1400" dirty="0">
                          <a:solidFill>
                            <a:srgbClr val="8D857A"/>
                          </a:solidFill>
                          <a:latin typeface="Courier New" pitchFamily="34" charset="0"/>
                          <a:ea typeface="Courier New" pitchFamily="34" charset="-122"/>
                          <a:cs typeface="Courier New" pitchFamily="34" charset="-120"/>
                        </a:rPr>
                        <a:t>100</a:t>
                      </a:r>
                      <a:endParaRPr lang="en-US" sz="1400" dirty="0">
                        <a:latin typeface="Courier New" charset="0"/>
                        <a:ea typeface="Courier New" charset="0"/>
                        <a:cs typeface="Courier New"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FBF9F4"/>
                    </a:solidFill>
                  </a:tcPr>
                </a:tc>
                <a:tc>
                  <a:txBody>
                    <a:bodyPr/>
                    <a:lstStyle/>
                    <a:p>
                      <a:pPr marL="0" indent="0" algn="ctr">
                        <a:buNone/>
                      </a:pPr>
                      <a:r>
                        <a:rPr lang="en-US" sz="1400" b="1" dirty="0">
                          <a:solidFill>
                            <a:srgbClr val="D9552F"/>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FBF9F4"/>
                    </a:solidFill>
                  </a:tcPr>
                </a:tc>
                <a:extLst>
                  <a:ext uri="{0D108BD9-81ED-4DB2-BD59-A6C34878D82A}">
                    <a16:rowId xmlns:a16="http://schemas.microsoft.com/office/drawing/2014/main" val="10003"/>
                  </a:ext>
                </a:extLst>
              </a:tr>
              <a:tr h="658368">
                <a:tc>
                  <a:txBody>
                    <a:bodyPr/>
                    <a:lstStyle/>
                    <a:p>
                      <a:pPr marL="0" indent="0">
                        <a:buNone/>
                      </a:pPr>
                      <a:r>
                        <a:rPr lang="en-US" sz="1400" b="1" dirty="0">
                          <a:solidFill>
                            <a:srgbClr val="252119"/>
                          </a:solidFill>
                          <a:latin typeface="Century Schoolbook" pitchFamily="34" charset="0"/>
                          <a:ea typeface="Century Schoolbook" pitchFamily="34" charset="-122"/>
                          <a:cs typeface="Century Schoolbook" pitchFamily="34" charset="-120"/>
                        </a:rPr>
                        <a:t>Inconsistencias</a:t>
                      </a:r>
                      <a:endParaRPr lang="en-US" sz="1400" dirty="0">
                        <a:latin typeface="Century Schoolbook" charset="0"/>
                        <a:ea typeface="Century Schoolbook" charset="0"/>
                        <a:cs typeface="Century Schoolbook"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EAE5DA"/>
                    </a:solidFill>
                  </a:tcPr>
                </a:tc>
                <a:tc>
                  <a:txBody>
                    <a:bodyPr/>
                    <a:lstStyle/>
                    <a:p>
                      <a:pPr marL="0" indent="0" algn="ctr">
                        <a:buNone/>
                      </a:pPr>
                      <a:r>
                        <a:rPr lang="en-US" sz="1400" dirty="0">
                          <a:solidFill>
                            <a:srgbClr val="8D857A"/>
                          </a:solidFill>
                          <a:latin typeface="Courier New" pitchFamily="34" charset="0"/>
                          <a:ea typeface="Courier New" pitchFamily="34" charset="-122"/>
                          <a:cs typeface="Courier New" pitchFamily="34" charset="-120"/>
                        </a:rPr>
                        <a:t>87</a:t>
                      </a:r>
                      <a:endParaRPr lang="en-US" sz="1400" dirty="0">
                        <a:latin typeface="Courier New" charset="0"/>
                        <a:ea typeface="Courier New" charset="0"/>
                        <a:cs typeface="Courier New"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EAE5DA"/>
                    </a:solidFill>
                  </a:tcPr>
                </a:tc>
                <a:tc>
                  <a:txBody>
                    <a:bodyPr/>
                    <a:lstStyle/>
                    <a:p>
                      <a:pPr marL="0" indent="0" algn="ctr">
                        <a:buNone/>
                      </a:pPr>
                      <a:r>
                        <a:rPr lang="en-US" sz="1400" b="1" dirty="0">
                          <a:solidFill>
                            <a:srgbClr val="D9552F"/>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EAE5DA"/>
                    </a:solidFill>
                  </a:tcPr>
                </a:tc>
                <a:extLst>
                  <a:ext uri="{0D108BD9-81ED-4DB2-BD59-A6C34878D82A}">
                    <a16:rowId xmlns:a16="http://schemas.microsoft.com/office/drawing/2014/main" val="10004"/>
                  </a:ext>
                </a:extLst>
              </a:tr>
              <a:tr h="658368">
                <a:tc>
                  <a:txBody>
                    <a:bodyPr/>
                    <a:lstStyle/>
                    <a:p>
                      <a:pPr marL="0" indent="0">
                        <a:buNone/>
                      </a:pPr>
                      <a:r>
                        <a:rPr lang="en-US" sz="1400" b="1" dirty="0">
                          <a:solidFill>
                            <a:srgbClr val="252119"/>
                          </a:solidFill>
                          <a:latin typeface="Century Schoolbook" pitchFamily="34" charset="0"/>
                          <a:ea typeface="Century Schoolbook" pitchFamily="34" charset="-122"/>
                          <a:cs typeface="Century Schoolbook" pitchFamily="34" charset="-120"/>
                        </a:rPr>
                        <a:t>Outliers</a:t>
                      </a:r>
                      <a:endParaRPr lang="en-US" sz="1400" dirty="0">
                        <a:latin typeface="Century Schoolbook" charset="0"/>
                        <a:ea typeface="Century Schoolbook" charset="0"/>
                        <a:cs typeface="Century Schoolbook"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FBF9F4"/>
                    </a:solidFill>
                  </a:tcPr>
                </a:tc>
                <a:tc>
                  <a:txBody>
                    <a:bodyPr/>
                    <a:lstStyle/>
                    <a:p>
                      <a:pPr marL="0" indent="0" algn="ctr">
                        <a:buNone/>
                      </a:pPr>
                      <a:r>
                        <a:rPr lang="en-US" sz="1400" dirty="0">
                          <a:solidFill>
                            <a:srgbClr val="8D857A"/>
                          </a:solidFill>
                          <a:latin typeface="Courier New" pitchFamily="34" charset="0"/>
                          <a:ea typeface="Courier New" charset="0"/>
                          <a:cs typeface="Courier New" pitchFamily="34" charset="-120"/>
                        </a:rPr>
                        <a:t>393</a:t>
                      </a:r>
                      <a:endParaRPr lang="en-US" sz="1400" dirty="0">
                        <a:latin typeface="Courier New" charset="0"/>
                        <a:ea typeface="Courier New" charset="0"/>
                        <a:cs typeface="Courier New"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FBF9F4"/>
                    </a:solidFill>
                  </a:tcPr>
                </a:tc>
                <a:tc>
                  <a:txBody>
                    <a:bodyPr/>
                    <a:lstStyle/>
                    <a:p>
                      <a:pPr marL="0" indent="0" algn="ctr">
                        <a:buNone/>
                      </a:pPr>
                      <a:r>
                        <a:rPr lang="en-US" sz="1400" b="1" dirty="0">
                          <a:solidFill>
                            <a:srgbClr val="D9552F"/>
                          </a:solidFill>
                          <a:latin typeface="Courier New" pitchFamily="34" charset="0"/>
                          <a:ea typeface="Courier New" pitchFamily="34" charset="-122"/>
                          <a:cs typeface="Courier New" pitchFamily="34" charset="-120"/>
                        </a:rPr>
                        <a:t>acotados</a:t>
                      </a:r>
                      <a:endParaRPr lang="en-US" sz="1400" dirty="0">
                        <a:latin typeface="Courier New" charset="0"/>
                        <a:ea typeface="Courier New" charset="0"/>
                        <a:cs typeface="Courier New" charset="0"/>
                      </a:endParaRPr>
                    </a:p>
                  </a:txBody>
                  <a:tcPr marL="88900" marR="88900" marT="88900" marB="88900" anchor="ctr">
                    <a:lnL w="12700" cap="flat" cmpd="sng" algn="ctr">
                      <a:solidFill>
                        <a:srgbClr val="D9D2C4"/>
                      </a:solidFill>
                      <a:prstDash val="solid"/>
                      <a:round/>
                      <a:headEnd type="none" w="med" len="med"/>
                      <a:tailEnd type="none" w="med" len="med"/>
                    </a:lnL>
                    <a:lnR w="12700" cap="flat" cmpd="sng" algn="ctr">
                      <a:solidFill>
                        <a:srgbClr val="D9D2C4"/>
                      </a:solidFill>
                      <a:prstDash val="solid"/>
                      <a:round/>
                      <a:headEnd type="none" w="med" len="med"/>
                      <a:tailEnd type="none" w="med" len="med"/>
                    </a:lnR>
                    <a:lnT w="12700" cap="flat" cmpd="sng" algn="ctr">
                      <a:solidFill>
                        <a:srgbClr val="D9D2C4"/>
                      </a:solidFill>
                      <a:prstDash val="solid"/>
                      <a:round/>
                      <a:headEnd type="none" w="med" len="med"/>
                      <a:tailEnd type="none" w="med" len="med"/>
                    </a:lnT>
                    <a:lnB w="12700" cap="flat" cmpd="sng" algn="ctr">
                      <a:solidFill>
                        <a:srgbClr val="D9D2C4"/>
                      </a:solidFill>
                      <a:prstDash val="solid"/>
                      <a:round/>
                      <a:headEnd type="none" w="med" len="med"/>
                      <a:tailEnd type="none" w="med" len="med"/>
                    </a:lnB>
                    <a:solidFill>
                      <a:srgbClr val="FBF9F4"/>
                    </a:solidFill>
                  </a:tcPr>
                </a:tc>
                <a:extLst>
                  <a:ext uri="{0D108BD9-81ED-4DB2-BD59-A6C34878D82A}">
                    <a16:rowId xmlns:a16="http://schemas.microsoft.com/office/drawing/2014/main" val="10005"/>
                  </a:ext>
                </a:extLst>
              </a:tr>
            </a:tbl>
          </a:graphicData>
        </a:graphic>
      </p:graphicFrame>
      <p:sp>
        <p:nvSpPr>
          <p:cNvPr id="6" name="Shape 3"/>
          <p:cNvSpPr/>
          <p:nvPr/>
        </p:nvSpPr>
        <p:spPr>
          <a:xfrm>
            <a:off x="7955280" y="1874520"/>
            <a:ext cx="3611880" cy="3931920"/>
          </a:xfrm>
          <a:prstGeom prst="rect">
            <a:avLst/>
          </a:prstGeom>
          <a:solidFill>
            <a:srgbClr val="14504A"/>
          </a:solidFill>
          <a:ln/>
        </p:spPr>
        <p:txBody>
          <a:bodyPr/>
          <a:lstStyle/>
          <a:p>
            <a:endParaRPr lang="es-CL"/>
          </a:p>
        </p:txBody>
      </p:sp>
      <p:sp>
        <p:nvSpPr>
          <p:cNvPr id="7" name="Text 4"/>
          <p:cNvSpPr txBox="1"/>
          <p:nvPr/>
        </p:nvSpPr>
        <p:spPr>
          <a:xfrm>
            <a:off x="8229600" y="2148840"/>
            <a:ext cx="3108960" cy="320040"/>
          </a:xfrm>
          <a:prstGeom prst="rect">
            <a:avLst/>
          </a:prstGeom>
          <a:noFill/>
          <a:ln/>
        </p:spPr>
        <p:txBody>
          <a:bodyPr wrap="square" lIns="0" tIns="0" rIns="0" bIns="0" rtlCol="0" anchor="ctr"/>
          <a:lstStyle/>
          <a:p>
            <a:pPr marL="0" indent="0">
              <a:buNone/>
            </a:pPr>
            <a:r>
              <a:rPr lang="en-US" sz="1200" b="1" dirty="0">
                <a:solidFill>
                  <a:srgbClr val="C6952F"/>
                </a:solidFill>
                <a:latin typeface="Courier New" pitchFamily="34" charset="0"/>
                <a:ea typeface="Courier New" pitchFamily="34" charset="-122"/>
                <a:cs typeface="Courier New" pitchFamily="34" charset="-120"/>
              </a:rPr>
              <a:t>RESULTADO</a:t>
            </a:r>
            <a:endParaRPr lang="en-US" sz="1200" dirty="0"/>
          </a:p>
        </p:txBody>
      </p:sp>
      <p:sp>
        <p:nvSpPr>
          <p:cNvPr id="8" name="Text 5"/>
          <p:cNvSpPr txBox="1"/>
          <p:nvPr/>
        </p:nvSpPr>
        <p:spPr>
          <a:xfrm>
            <a:off x="8229600" y="2514600"/>
            <a:ext cx="3108960" cy="914400"/>
          </a:xfrm>
          <a:prstGeom prst="rect">
            <a:avLst/>
          </a:prstGeom>
          <a:noFill/>
          <a:ln/>
        </p:spPr>
        <p:txBody>
          <a:bodyPr wrap="square" lIns="0" tIns="0" rIns="0" bIns="0" rtlCol="0" anchor="ctr"/>
          <a:lstStyle/>
          <a:p>
            <a:pPr marL="0" indent="0">
              <a:buNone/>
            </a:pPr>
            <a:r>
              <a:rPr lang="en-US" sz="5800" b="1" dirty="0">
                <a:solidFill>
                  <a:srgbClr val="F2EFE8"/>
                </a:solidFill>
                <a:latin typeface="Century Schoolbook" pitchFamily="34" charset="0"/>
                <a:ea typeface="Century Schoolbook" pitchFamily="34" charset="-122"/>
                <a:cs typeface="Century Schoolbook" pitchFamily="34" charset="-120"/>
              </a:rPr>
              <a:t>4.996</a:t>
            </a:r>
            <a:endParaRPr lang="en-US" sz="5800" dirty="0"/>
          </a:p>
        </p:txBody>
      </p:sp>
      <p:sp>
        <p:nvSpPr>
          <p:cNvPr id="9" name="Text 6"/>
          <p:cNvSpPr txBox="1"/>
          <p:nvPr/>
        </p:nvSpPr>
        <p:spPr>
          <a:xfrm>
            <a:off x="8229600" y="3474720"/>
            <a:ext cx="3108960" cy="365760"/>
          </a:xfrm>
          <a:prstGeom prst="rect">
            <a:avLst/>
          </a:prstGeom>
          <a:noFill/>
          <a:ln/>
        </p:spPr>
        <p:txBody>
          <a:bodyPr wrap="square" lIns="0" tIns="0" rIns="0" bIns="0" rtlCol="0" anchor="ctr"/>
          <a:lstStyle/>
          <a:p>
            <a:pPr marL="0" indent="0">
              <a:buNone/>
            </a:pPr>
            <a:r>
              <a:rPr lang="en-US" sz="1500" dirty="0">
                <a:solidFill>
                  <a:srgbClr val="CFE0DB"/>
                </a:solidFill>
                <a:latin typeface="Calibri" pitchFamily="34" charset="0"/>
                <a:ea typeface="Calibri" pitchFamily="34" charset="-122"/>
                <a:cs typeface="Calibri" pitchFamily="34" charset="-120"/>
              </a:rPr>
              <a:t>registros limpios</a:t>
            </a:r>
            <a:endParaRPr lang="en-US" sz="1500" dirty="0"/>
          </a:p>
        </p:txBody>
      </p:sp>
      <p:sp>
        <p:nvSpPr>
          <p:cNvPr id="10" name="Text 7"/>
          <p:cNvSpPr txBox="1"/>
          <p:nvPr/>
        </p:nvSpPr>
        <p:spPr>
          <a:xfrm>
            <a:off x="8229600" y="3977640"/>
            <a:ext cx="3108960" cy="1005840"/>
          </a:xfrm>
          <a:prstGeom prst="rect">
            <a:avLst/>
          </a:prstGeom>
          <a:noFill/>
          <a:ln/>
        </p:spPr>
        <p:txBody>
          <a:bodyPr wrap="square" lIns="0" tIns="0" rIns="0" bIns="0" rtlCol="0" anchor="ctr"/>
          <a:lstStyle/>
          <a:p>
            <a:pPr marL="0" indent="0">
              <a:lnSpc>
                <a:spcPts val="1900"/>
              </a:lnSpc>
              <a:buNone/>
            </a:pPr>
            <a:r>
              <a:rPr lang="en-US" sz="1350" dirty="0">
                <a:solidFill>
                  <a:srgbClr val="F2EFE8"/>
                </a:solidFill>
                <a:latin typeface="Calibri" pitchFamily="34" charset="0"/>
                <a:ea typeface="Calibri" pitchFamily="34" charset="-122"/>
                <a:cs typeface="Calibri" pitchFamily="34" charset="-120"/>
              </a:rPr>
              <a:t>Sin faltantes, sin duplicados y sin valores fuera de dominio. Proceso 100% reproducible.</a:t>
            </a:r>
            <a:endParaRPr lang="en-US" sz="1350" dirty="0"/>
          </a:p>
        </p:txBody>
      </p:sp>
      <p:sp>
        <p:nvSpPr>
          <p:cNvPr id="5" name="Text 8"/>
          <p:cNvSpPr txBox="1"/>
          <p:nvPr/>
        </p:nvSpPr>
        <p:spPr>
          <a:xfrm>
            <a:off x="8229600" y="5212080"/>
            <a:ext cx="3200400" cy="365760"/>
          </a:xfrm>
          <a:prstGeom prst="rect">
            <a:avLst/>
          </a:prstGeom>
          <a:noFill/>
          <a:ln/>
        </p:spPr>
        <p:txBody>
          <a:bodyPr wrap="square" lIns="0" tIns="0" rIns="0" bIns="0" rtlCol="0" anchor="ctr"/>
          <a:lstStyle/>
          <a:p>
            <a:pPr marL="0" indent="0">
              <a:buNone/>
            </a:pPr>
            <a:r>
              <a:rPr lang="en-US" sz="1050" i="1" dirty="0">
                <a:solidFill>
                  <a:srgbClr val="C6952F"/>
                </a:solidFill>
                <a:latin typeface="Courier New" pitchFamily="34" charset="0"/>
                <a:ea typeface="Courier New" pitchFamily="34" charset="-122"/>
                <a:cs typeface="Courier New" pitchFamily="34" charset="-120"/>
              </a:rPr>
              <a:t>→ rendimiento_academico_limpio.csv</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52119"/>
        </a:solidFill>
        <a:effectLst/>
      </p:bgPr>
    </p:bg>
    <p:spTree>
      <p:nvGrpSpPr>
        <p:cNvPr id="1" name=""/>
        <p:cNvGrpSpPr/>
        <p:nvPr/>
      </p:nvGrpSpPr>
      <p:grpSpPr>
        <a:xfrm>
          <a:off x="0" y="0"/>
          <a:ext cx="0" cy="0"/>
          <a:chOff x="0" y="0"/>
          <a:chExt cx="0" cy="0"/>
        </a:xfrm>
      </p:grpSpPr>
      <p:sp>
        <p:nvSpPr>
          <p:cNvPr id="2" name="Text 0"/>
          <p:cNvSpPr txBox="1"/>
          <p:nvPr/>
        </p:nvSpPr>
        <p:spPr>
          <a:xfrm>
            <a:off x="777240" y="640080"/>
            <a:ext cx="7315200" cy="274320"/>
          </a:xfrm>
          <a:prstGeom prst="rect">
            <a:avLst/>
          </a:prstGeom>
          <a:noFill/>
          <a:ln/>
        </p:spPr>
        <p:txBody>
          <a:bodyPr wrap="square" lIns="0" tIns="0" rIns="0" bIns="0" rtlCol="0" anchor="ctr"/>
          <a:lstStyle/>
          <a:p>
            <a:pPr marL="0" indent="0">
              <a:buNone/>
            </a:pPr>
            <a:r>
              <a:rPr lang="en-US" sz="1300" kern="0" spc="100" dirty="0">
                <a:solidFill>
                  <a:srgbClr val="C6952F"/>
                </a:solidFill>
                <a:latin typeface="Courier New" pitchFamily="34" charset="0"/>
                <a:ea typeface="Courier New" pitchFamily="34" charset="-122"/>
                <a:cs typeface="Courier New" pitchFamily="34" charset="-120"/>
              </a:rPr>
              <a:t>§ 11 · CONCLUSIONES</a:t>
            </a:r>
            <a:endParaRPr lang="en-US" sz="1300" dirty="0"/>
          </a:p>
        </p:txBody>
      </p:sp>
      <p:sp>
        <p:nvSpPr>
          <p:cNvPr id="3" name="Text 1"/>
          <p:cNvSpPr txBox="1"/>
          <p:nvPr/>
        </p:nvSpPr>
        <p:spPr>
          <a:xfrm>
            <a:off x="731520" y="1051560"/>
            <a:ext cx="10515600" cy="822960"/>
          </a:xfrm>
          <a:prstGeom prst="rect">
            <a:avLst/>
          </a:prstGeom>
          <a:noFill/>
          <a:ln/>
        </p:spPr>
        <p:txBody>
          <a:bodyPr wrap="square" lIns="0" tIns="0" rIns="0" bIns="0" rtlCol="0" anchor="ctr"/>
          <a:lstStyle/>
          <a:p>
            <a:pPr marL="0" indent="0">
              <a:buNone/>
            </a:pPr>
            <a:r>
              <a:rPr lang="en-US" sz="3600" b="1" dirty="0">
                <a:solidFill>
                  <a:srgbClr val="F2EFE8"/>
                </a:solidFill>
                <a:latin typeface="Century Schoolbook" pitchFamily="34" charset="0"/>
                <a:ea typeface="Century Schoolbook" pitchFamily="34" charset="-122"/>
                <a:cs typeface="Century Schoolbook" pitchFamily="34" charset="-120"/>
              </a:rPr>
              <a:t>Tres ideas para llevarse</a:t>
            </a:r>
            <a:endParaRPr lang="en-US" sz="3600" dirty="0"/>
          </a:p>
        </p:txBody>
      </p:sp>
      <p:sp>
        <p:nvSpPr>
          <p:cNvPr id="4" name="Text 2"/>
          <p:cNvSpPr txBox="1"/>
          <p:nvPr/>
        </p:nvSpPr>
        <p:spPr>
          <a:xfrm>
            <a:off x="777240" y="2103120"/>
            <a:ext cx="1005840" cy="822960"/>
          </a:xfrm>
          <a:prstGeom prst="rect">
            <a:avLst/>
          </a:prstGeom>
          <a:noFill/>
          <a:ln/>
        </p:spPr>
        <p:txBody>
          <a:bodyPr wrap="square" lIns="0" tIns="0" rIns="0" bIns="0" rtlCol="0" anchor="ctr"/>
          <a:lstStyle/>
          <a:p>
            <a:pPr marL="0" indent="0">
              <a:buNone/>
            </a:pPr>
            <a:r>
              <a:rPr lang="en-US" sz="2600" b="1" dirty="0">
                <a:solidFill>
                  <a:srgbClr val="D9552F"/>
                </a:solidFill>
                <a:latin typeface="Courier New" pitchFamily="34" charset="0"/>
                <a:ea typeface="Courier New" pitchFamily="34" charset="-122"/>
                <a:cs typeface="Courier New" pitchFamily="34" charset="-120"/>
              </a:rPr>
              <a:t>01</a:t>
            </a:r>
            <a:endParaRPr lang="en-US" sz="2600" dirty="0"/>
          </a:p>
        </p:txBody>
      </p:sp>
      <p:sp>
        <p:nvSpPr>
          <p:cNvPr id="5" name="Text 3"/>
          <p:cNvSpPr txBox="1"/>
          <p:nvPr/>
        </p:nvSpPr>
        <p:spPr>
          <a:xfrm>
            <a:off x="1920240" y="2084832"/>
            <a:ext cx="9509760" cy="457200"/>
          </a:xfrm>
          <a:prstGeom prst="rect">
            <a:avLst/>
          </a:prstGeom>
          <a:noFill/>
          <a:ln/>
        </p:spPr>
        <p:txBody>
          <a:bodyPr wrap="square" lIns="0" tIns="0" rIns="0" bIns="0" rtlCol="0" anchor="ctr"/>
          <a:lstStyle/>
          <a:p>
            <a:pPr marL="0" indent="0">
              <a:buNone/>
            </a:pPr>
            <a:r>
              <a:rPr lang="en-US" sz="2000" b="1" dirty="0">
                <a:solidFill>
                  <a:srgbClr val="F2EFE8"/>
                </a:solidFill>
                <a:latin typeface="Century Schoolbook" pitchFamily="34" charset="0"/>
                <a:ea typeface="Century Schoolbook" pitchFamily="34" charset="-122"/>
                <a:cs typeface="Century Schoolbook" pitchFamily="34" charset="-120"/>
              </a:rPr>
              <a:t>El esfuerzo manda, no el perfil</a:t>
            </a:r>
            <a:endParaRPr lang="en-US" sz="2000" dirty="0"/>
          </a:p>
        </p:txBody>
      </p:sp>
      <p:sp>
        <p:nvSpPr>
          <p:cNvPr id="6" name="Text 4"/>
          <p:cNvSpPr txBox="1"/>
          <p:nvPr/>
        </p:nvSpPr>
        <p:spPr>
          <a:xfrm>
            <a:off x="1920240" y="2560320"/>
            <a:ext cx="9509760" cy="1005840"/>
          </a:xfrm>
          <a:prstGeom prst="rect">
            <a:avLst/>
          </a:prstGeom>
          <a:noFill/>
          <a:ln/>
        </p:spPr>
        <p:txBody>
          <a:bodyPr wrap="square" lIns="0" tIns="0" rIns="0" bIns="0" rtlCol="0" anchor="ctr"/>
          <a:lstStyle/>
          <a:p>
            <a:pPr marL="0" indent="0">
              <a:lnSpc>
                <a:spcPts val="1800"/>
              </a:lnSpc>
              <a:buNone/>
            </a:pPr>
            <a:r>
              <a:rPr lang="en-US" sz="1350" dirty="0">
                <a:solidFill>
                  <a:srgbClr val="C9C2B4"/>
                </a:solidFill>
                <a:latin typeface="Calibri" pitchFamily="34" charset="0"/>
                <a:ea typeface="Calibri" pitchFamily="34" charset="-122"/>
                <a:cs typeface="Calibri" pitchFamily="34" charset="-120"/>
              </a:rPr>
              <a:t>Las variables más ligadas a la nota son de esfuerzo académico (tareas, GPA previo, asistencia, estudio). La edad, el sueño o el programa casi no influyen.</a:t>
            </a:r>
            <a:endParaRPr lang="en-US" sz="1350" dirty="0"/>
          </a:p>
        </p:txBody>
      </p:sp>
      <p:sp>
        <p:nvSpPr>
          <p:cNvPr id="7" name="Text 5"/>
          <p:cNvSpPr txBox="1"/>
          <p:nvPr/>
        </p:nvSpPr>
        <p:spPr>
          <a:xfrm>
            <a:off x="777240" y="3593592"/>
            <a:ext cx="1005840" cy="822960"/>
          </a:xfrm>
          <a:prstGeom prst="rect">
            <a:avLst/>
          </a:prstGeom>
          <a:noFill/>
          <a:ln/>
        </p:spPr>
        <p:txBody>
          <a:bodyPr wrap="square" lIns="0" tIns="0" rIns="0" bIns="0" rtlCol="0" anchor="ctr"/>
          <a:lstStyle/>
          <a:p>
            <a:pPr marL="0" indent="0">
              <a:buNone/>
            </a:pPr>
            <a:r>
              <a:rPr lang="en-US" sz="2600" b="1" dirty="0">
                <a:solidFill>
                  <a:srgbClr val="D9552F"/>
                </a:solidFill>
                <a:latin typeface="Courier New" pitchFamily="34" charset="0"/>
                <a:ea typeface="Courier New" pitchFamily="34" charset="-122"/>
                <a:cs typeface="Courier New" pitchFamily="34" charset="-120"/>
              </a:rPr>
              <a:t>02</a:t>
            </a:r>
            <a:endParaRPr lang="en-US" sz="2600" dirty="0"/>
          </a:p>
        </p:txBody>
      </p:sp>
      <p:sp>
        <p:nvSpPr>
          <p:cNvPr id="8" name="Text 6"/>
          <p:cNvSpPr txBox="1"/>
          <p:nvPr/>
        </p:nvSpPr>
        <p:spPr>
          <a:xfrm>
            <a:off x="1920240" y="3575304"/>
            <a:ext cx="9509760" cy="457200"/>
          </a:xfrm>
          <a:prstGeom prst="rect">
            <a:avLst/>
          </a:prstGeom>
          <a:noFill/>
          <a:ln/>
        </p:spPr>
        <p:txBody>
          <a:bodyPr wrap="square" lIns="0" tIns="0" rIns="0" bIns="0" rtlCol="0" anchor="ctr"/>
          <a:lstStyle/>
          <a:p>
            <a:pPr marL="0" indent="0">
              <a:buNone/>
            </a:pPr>
            <a:r>
              <a:rPr lang="en-US" sz="2000" b="1" dirty="0">
                <a:solidFill>
                  <a:srgbClr val="F2EFE8"/>
                </a:solidFill>
                <a:latin typeface="Century Schoolbook" pitchFamily="34" charset="0"/>
                <a:ea typeface="Century Schoolbook" pitchFamily="34" charset="-122"/>
                <a:cs typeface="Century Schoolbook" pitchFamily="34" charset="-120"/>
              </a:rPr>
              <a:t>Sin calidad, no hay conclusión</a:t>
            </a:r>
            <a:endParaRPr lang="en-US" sz="2000" dirty="0"/>
          </a:p>
        </p:txBody>
      </p:sp>
      <p:sp>
        <p:nvSpPr>
          <p:cNvPr id="9" name="Text 7"/>
          <p:cNvSpPr txBox="1"/>
          <p:nvPr/>
        </p:nvSpPr>
        <p:spPr>
          <a:xfrm>
            <a:off x="1920240" y="4050792"/>
            <a:ext cx="9509760" cy="1005840"/>
          </a:xfrm>
          <a:prstGeom prst="rect">
            <a:avLst/>
          </a:prstGeom>
          <a:noFill/>
          <a:ln/>
        </p:spPr>
        <p:txBody>
          <a:bodyPr wrap="square" lIns="0" tIns="0" rIns="0" bIns="0" rtlCol="0" anchor="ctr"/>
          <a:lstStyle/>
          <a:p>
            <a:pPr marL="0" indent="0">
              <a:lnSpc>
                <a:spcPts val="1800"/>
              </a:lnSpc>
              <a:buNone/>
            </a:pPr>
            <a:r>
              <a:rPr lang="en-US" sz="1350" dirty="0">
                <a:solidFill>
                  <a:srgbClr val="C9C2B4"/>
                </a:solidFill>
                <a:latin typeface="Calibri" pitchFamily="34" charset="0"/>
                <a:ea typeface="Calibri" pitchFamily="34" charset="-122"/>
                <a:cs typeface="Calibri" pitchFamily="34" charset="-120"/>
              </a:rPr>
              <a:t>Los datos traían valores imposibles e inconsistencias que distorsionaban promedios y correlaciones. Corregirlos fue el paso previo obligatorio para poder confiar en cualquier resultado.</a:t>
            </a:r>
            <a:endParaRPr lang="en-US" sz="1350" dirty="0"/>
          </a:p>
        </p:txBody>
      </p:sp>
      <p:sp>
        <p:nvSpPr>
          <p:cNvPr id="10" name="Text 8"/>
          <p:cNvSpPr txBox="1"/>
          <p:nvPr/>
        </p:nvSpPr>
        <p:spPr>
          <a:xfrm>
            <a:off x="777240" y="5084064"/>
            <a:ext cx="1005840" cy="822960"/>
          </a:xfrm>
          <a:prstGeom prst="rect">
            <a:avLst/>
          </a:prstGeom>
          <a:noFill/>
          <a:ln/>
        </p:spPr>
        <p:txBody>
          <a:bodyPr wrap="square" lIns="0" tIns="0" rIns="0" bIns="0" rtlCol="0" anchor="ctr"/>
          <a:lstStyle/>
          <a:p>
            <a:pPr marL="0" indent="0">
              <a:buNone/>
            </a:pPr>
            <a:r>
              <a:rPr lang="en-US" sz="2600" b="1" dirty="0">
                <a:solidFill>
                  <a:srgbClr val="D9552F"/>
                </a:solidFill>
                <a:latin typeface="Courier New" pitchFamily="34" charset="0"/>
                <a:ea typeface="Courier New" pitchFamily="34" charset="-122"/>
                <a:cs typeface="Courier New" pitchFamily="34" charset="-120"/>
              </a:rPr>
              <a:t>03</a:t>
            </a:r>
            <a:endParaRPr lang="en-US" sz="2600" dirty="0"/>
          </a:p>
        </p:txBody>
      </p:sp>
      <p:sp>
        <p:nvSpPr>
          <p:cNvPr id="11" name="Text 9"/>
          <p:cNvSpPr txBox="1"/>
          <p:nvPr/>
        </p:nvSpPr>
        <p:spPr>
          <a:xfrm>
            <a:off x="1920240" y="5065776"/>
            <a:ext cx="9509760" cy="457200"/>
          </a:xfrm>
          <a:prstGeom prst="rect">
            <a:avLst/>
          </a:prstGeom>
          <a:noFill/>
          <a:ln/>
        </p:spPr>
        <p:txBody>
          <a:bodyPr wrap="square" lIns="0" tIns="0" rIns="0" bIns="0" rtlCol="0" anchor="ctr"/>
          <a:lstStyle/>
          <a:p>
            <a:pPr marL="0" indent="0">
              <a:buNone/>
            </a:pPr>
            <a:r>
              <a:rPr lang="en-US" sz="2000" b="1" dirty="0">
                <a:solidFill>
                  <a:srgbClr val="F2EFE8"/>
                </a:solidFill>
                <a:latin typeface="Century Schoolbook" pitchFamily="34" charset="0"/>
                <a:ea typeface="Century Schoolbook" pitchFamily="34" charset="-122"/>
                <a:cs typeface="Century Schoolbook" pitchFamily="34" charset="-120"/>
              </a:rPr>
              <a:t>El criterio va antes que el código</a:t>
            </a:r>
            <a:endParaRPr lang="en-US" sz="2000" dirty="0"/>
          </a:p>
        </p:txBody>
      </p:sp>
      <p:sp>
        <p:nvSpPr>
          <p:cNvPr id="12" name="Text 10"/>
          <p:cNvSpPr txBox="1"/>
          <p:nvPr/>
        </p:nvSpPr>
        <p:spPr>
          <a:xfrm>
            <a:off x="1920240" y="5541264"/>
            <a:ext cx="9509760" cy="1005840"/>
          </a:xfrm>
          <a:prstGeom prst="rect">
            <a:avLst/>
          </a:prstGeom>
          <a:noFill/>
          <a:ln/>
        </p:spPr>
        <p:txBody>
          <a:bodyPr wrap="square" lIns="0" tIns="0" rIns="0" bIns="0" rtlCol="0" anchor="ctr"/>
          <a:lstStyle/>
          <a:p>
            <a:pPr marL="0" indent="0">
              <a:lnSpc>
                <a:spcPts val="1800"/>
              </a:lnSpc>
              <a:buNone/>
            </a:pPr>
            <a:r>
              <a:rPr lang="en-US" sz="1350" dirty="0">
                <a:solidFill>
                  <a:srgbClr val="C9C2B4"/>
                </a:solidFill>
                <a:latin typeface="Calibri" pitchFamily="34" charset="0"/>
                <a:ea typeface="Calibri" pitchFamily="34" charset="-122"/>
                <a:cs typeface="Calibri" pitchFamily="34" charset="-120"/>
              </a:rPr>
              <a:t>No basta con aplicar transformaciones automáticas: decidimos qué imputar, qué eliminar y qué acotar según lo que mostró el diagnóstico. El pipeline solo automatiza y hace reproducible ese criterio; no lo </a:t>
            </a:r>
            <a:r>
              <a:rPr lang="en-US" sz="1350" dirty="0" err="1">
                <a:solidFill>
                  <a:srgbClr val="C9C2B4"/>
                </a:solidFill>
                <a:latin typeface="Calibri" pitchFamily="34" charset="0"/>
                <a:ea typeface="Calibri" pitchFamily="34" charset="-122"/>
                <a:cs typeface="Calibri" pitchFamily="34" charset="-120"/>
              </a:rPr>
              <a:t>reemplaza</a:t>
            </a:r>
            <a:r>
              <a:rPr lang="en-US" sz="1350" dirty="0">
                <a:solidFill>
                  <a:srgbClr val="C9C2B4"/>
                </a:solidFill>
                <a:latin typeface="Calibri" pitchFamily="34" charset="0"/>
                <a:ea typeface="Calibri" pitchFamily="34" charset="-122"/>
                <a:cs typeface="Calibri" pitchFamily="34" charset="-120"/>
              </a:rPr>
              <a:t>. </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939</Words>
  <Application>Microsoft Office PowerPoint</Application>
  <PresentationFormat>Panorámica</PresentationFormat>
  <Paragraphs>188</Paragraphs>
  <Slides>11</Slides>
  <Notes>11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Arial</vt:lpstr>
      <vt:lpstr>Calibri</vt:lpstr>
      <vt:lpstr>Century Schoolbook</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Gabriel Ascencio Valenzuela</cp:lastModifiedBy>
  <cp:revision>3</cp:revision>
  <dcterms:created xsi:type="dcterms:W3CDTF">2026-09-04T16:50:55Z</dcterms:created>
  <dcterms:modified xsi:type="dcterms:W3CDTF">2026-09-04T17:12:21Z</dcterms:modified>
</cp:coreProperties>
</file>